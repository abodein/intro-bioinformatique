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4" r:id="rId1"/>
    <p:sldMasterId id="2147483665" r:id="rId2"/>
  </p:sldMasterIdLst>
  <p:notesMasterIdLst>
    <p:notesMasterId r:id="rId4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302" r:id="rId41"/>
    <p:sldId id="294" r:id="rId42"/>
    <p:sldId id="295" r:id="rId43"/>
    <p:sldId id="296" r:id="rId44"/>
    <p:sldId id="297" r:id="rId45"/>
    <p:sldId id="298" r:id="rId46"/>
    <p:sldId id="299" r:id="rId47"/>
    <p:sldId id="300" r:id="rId48"/>
  </p:sldIdLst>
  <p:sldSz cx="9144000" cy="5143500" type="screen16x9"/>
  <p:notesSz cx="6858000" cy="9144000"/>
  <p:embeddedFontLst>
    <p:embeddedFont>
      <p:font typeface="Arial Narrow" panose="020B0604020202020204" pitchFamily="34" charset="0"/>
      <p:regular r:id="rId50"/>
      <p:bold r:id="rId51"/>
      <p:italic r:id="rId52"/>
      <p:boldItalic r:id="rId5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6FF00"/>
    <a:srgbClr val="F5D1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986AE7D-AF4A-4FAC-BD20-953C9C73A9C3}">
  <a:tblStyle styleId="{C986AE7D-AF4A-4FAC-BD20-953C9C73A9C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3B7DFEB-9B15-4894-83CC-29472E7CCF78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49"/>
    <p:restoredTop sz="94795"/>
  </p:normalViewPr>
  <p:slideViewPr>
    <p:cSldViewPr snapToGrid="0">
      <p:cViewPr>
        <p:scale>
          <a:sx n="169" d="100"/>
          <a:sy n="169" d="100"/>
        </p:scale>
        <p:origin x="464" y="-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font" Target="fonts/font1.fntdata"/><Relationship Id="rId55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font" Target="fonts/font4.fntdata"/><Relationship Id="rId58" Type="http://schemas.microsoft.com/office/2016/11/relationships/changesInfo" Target="changesInfos/changesInfo1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font" Target="fonts/font2.fntdata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notesMaster" Target="notesMasters/notesMaster1.xml"/><Relationship Id="rId57" Type="http://schemas.openxmlformats.org/officeDocument/2006/relationships/tableStyles" Target="tableStyle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font" Target="fonts/font3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oine Bodein" userId="cd558cd8-b809-4c4a-9caa-96d002bc3375" providerId="ADAL" clId="{FA24818F-0CBB-2E4B-A327-8907BC1A6B01}"/>
    <pc:docChg chg="sldOrd">
      <pc:chgData name="Antoine Bodein" userId="cd558cd8-b809-4c4a-9caa-96d002bc3375" providerId="ADAL" clId="{FA24818F-0CBB-2E4B-A327-8907BC1A6B01}" dt="2023-09-13T21:41:32.937" v="0" actId="20578"/>
      <pc:docMkLst>
        <pc:docMk/>
      </pc:docMkLst>
      <pc:sldChg chg="ord">
        <pc:chgData name="Antoine Bodein" userId="cd558cd8-b809-4c4a-9caa-96d002bc3375" providerId="ADAL" clId="{FA24818F-0CBB-2E4B-A327-8907BC1A6B01}" dt="2023-09-13T21:41:32.937" v="0" actId="20578"/>
        <pc:sldMkLst>
          <pc:docMk/>
          <pc:sldMk cId="4089926105" sldId="302"/>
        </pc:sldMkLst>
      </pc:sldChg>
    </pc:docChg>
  </pc:docChgLst>
  <pc:docChgLst>
    <pc:chgData name="Antoine Bodein" userId="cd558cd8-b809-4c4a-9caa-96d002bc3375" providerId="ADAL" clId="{199C2EAC-1B70-E64A-81CB-93EC27C846DB}"/>
    <pc:docChg chg="undo custSel addSld delSld modSld">
      <pc:chgData name="Antoine Bodein" userId="cd558cd8-b809-4c4a-9caa-96d002bc3375" providerId="ADAL" clId="{199C2EAC-1B70-E64A-81CB-93EC27C846DB}" dt="2022-09-15T16:00:34.224" v="1106" actId="20577"/>
      <pc:docMkLst>
        <pc:docMk/>
      </pc:docMkLst>
      <pc:sldChg chg="modSp mod">
        <pc:chgData name="Antoine Bodein" userId="cd558cd8-b809-4c4a-9caa-96d002bc3375" providerId="ADAL" clId="{199C2EAC-1B70-E64A-81CB-93EC27C846DB}" dt="2022-09-14T20:08:18.679" v="16" actId="113"/>
        <pc:sldMkLst>
          <pc:docMk/>
          <pc:sldMk cId="0" sldId="261"/>
        </pc:sldMkLst>
        <pc:spChg chg="mod">
          <ac:chgData name="Antoine Bodein" userId="cd558cd8-b809-4c4a-9caa-96d002bc3375" providerId="ADAL" clId="{199C2EAC-1B70-E64A-81CB-93EC27C846DB}" dt="2022-09-14T20:08:18.679" v="16" actId="113"/>
          <ac:spMkLst>
            <pc:docMk/>
            <pc:sldMk cId="0" sldId="261"/>
            <ac:spMk id="166" creationId="{00000000-0000-0000-0000-000000000000}"/>
          </ac:spMkLst>
        </pc:spChg>
      </pc:sldChg>
      <pc:sldChg chg="modSp mod">
        <pc:chgData name="Antoine Bodein" userId="cd558cd8-b809-4c4a-9caa-96d002bc3375" providerId="ADAL" clId="{199C2EAC-1B70-E64A-81CB-93EC27C846DB}" dt="2022-09-14T20:32:40.971" v="17" actId="114"/>
        <pc:sldMkLst>
          <pc:docMk/>
          <pc:sldMk cId="0" sldId="295"/>
        </pc:sldMkLst>
        <pc:spChg chg="mod">
          <ac:chgData name="Antoine Bodein" userId="cd558cd8-b809-4c4a-9caa-96d002bc3375" providerId="ADAL" clId="{199C2EAC-1B70-E64A-81CB-93EC27C846DB}" dt="2022-09-14T20:32:40.971" v="17" actId="114"/>
          <ac:spMkLst>
            <pc:docMk/>
            <pc:sldMk cId="0" sldId="295"/>
            <ac:spMk id="1297" creationId="{00000000-0000-0000-0000-000000000000}"/>
          </ac:spMkLst>
        </pc:spChg>
      </pc:sldChg>
      <pc:sldChg chg="addSp delSp modSp new del mod">
        <pc:chgData name="Antoine Bodein" userId="cd558cd8-b809-4c4a-9caa-96d002bc3375" providerId="ADAL" clId="{199C2EAC-1B70-E64A-81CB-93EC27C846DB}" dt="2022-09-14T20:36:15.500" v="55" actId="2696"/>
        <pc:sldMkLst>
          <pc:docMk/>
          <pc:sldMk cId="787698270" sldId="301"/>
        </pc:sldMkLst>
        <pc:spChg chg="del">
          <ac:chgData name="Antoine Bodein" userId="cd558cd8-b809-4c4a-9caa-96d002bc3375" providerId="ADAL" clId="{199C2EAC-1B70-E64A-81CB-93EC27C846DB}" dt="2022-09-14T20:34:48.159" v="19" actId="478"/>
          <ac:spMkLst>
            <pc:docMk/>
            <pc:sldMk cId="787698270" sldId="301"/>
            <ac:spMk id="2" creationId="{1BF6EC89-D3DE-454B-957C-8195EFF744D1}"/>
          </ac:spMkLst>
        </pc:spChg>
        <pc:spChg chg="del">
          <ac:chgData name="Antoine Bodein" userId="cd558cd8-b809-4c4a-9caa-96d002bc3375" providerId="ADAL" clId="{199C2EAC-1B70-E64A-81CB-93EC27C846DB}" dt="2022-09-14T20:34:48.159" v="19" actId="478"/>
          <ac:spMkLst>
            <pc:docMk/>
            <pc:sldMk cId="787698270" sldId="301"/>
            <ac:spMk id="3" creationId="{4C6D691D-9AB0-1B47-AE14-12CF78B479D2}"/>
          </ac:spMkLst>
        </pc:spChg>
        <pc:spChg chg="add mod">
          <ac:chgData name="Antoine Bodein" userId="cd558cd8-b809-4c4a-9caa-96d002bc3375" providerId="ADAL" clId="{199C2EAC-1B70-E64A-81CB-93EC27C846DB}" dt="2022-09-14T20:35:01.554" v="54" actId="20577"/>
          <ac:spMkLst>
            <pc:docMk/>
            <pc:sldMk cId="787698270" sldId="301"/>
            <ac:spMk id="5" creationId="{AAD94E50-586C-1140-8199-5821DAE4DA1A}"/>
          </ac:spMkLst>
        </pc:spChg>
      </pc:sldChg>
      <pc:sldChg chg="addSp delSp modSp new del mod setBg">
        <pc:chgData name="Antoine Bodein" userId="cd558cd8-b809-4c4a-9caa-96d002bc3375" providerId="ADAL" clId="{199C2EAC-1B70-E64A-81CB-93EC27C846DB}" dt="2022-09-14T20:44:12.717" v="325" actId="2696"/>
        <pc:sldMkLst>
          <pc:docMk/>
          <pc:sldMk cId="2520948106" sldId="301"/>
        </pc:sldMkLst>
        <pc:spChg chg="mod">
          <ac:chgData name="Antoine Bodein" userId="cd558cd8-b809-4c4a-9caa-96d002bc3375" providerId="ADAL" clId="{199C2EAC-1B70-E64A-81CB-93EC27C846DB}" dt="2022-09-14T20:39:13.010" v="75" actId="20577"/>
          <ac:spMkLst>
            <pc:docMk/>
            <pc:sldMk cId="2520948106" sldId="301"/>
            <ac:spMk id="2" creationId="{0C0F8CEA-1383-634F-8C03-9DBAFB494AC1}"/>
          </ac:spMkLst>
        </pc:spChg>
        <pc:spChg chg="mod">
          <ac:chgData name="Antoine Bodein" userId="cd558cd8-b809-4c4a-9caa-96d002bc3375" providerId="ADAL" clId="{199C2EAC-1B70-E64A-81CB-93EC27C846DB}" dt="2022-09-14T20:43:52.301" v="324" actId="20577"/>
          <ac:spMkLst>
            <pc:docMk/>
            <pc:sldMk cId="2520948106" sldId="301"/>
            <ac:spMk id="3" creationId="{00FC8224-100B-B04D-A0FD-BEAF2785B241}"/>
          </ac:spMkLst>
        </pc:spChg>
        <pc:spChg chg="add del mod">
          <ac:chgData name="Antoine Bodein" userId="cd558cd8-b809-4c4a-9caa-96d002bc3375" providerId="ADAL" clId="{199C2EAC-1B70-E64A-81CB-93EC27C846DB}" dt="2022-09-14T20:37:40.619" v="59"/>
          <ac:spMkLst>
            <pc:docMk/>
            <pc:sldMk cId="2520948106" sldId="301"/>
            <ac:spMk id="5" creationId="{0E818684-AE53-7549-8F71-CB62AD52E6EB}"/>
          </ac:spMkLst>
        </pc:spChg>
      </pc:sldChg>
      <pc:sldChg chg="new del">
        <pc:chgData name="Antoine Bodein" userId="cd558cd8-b809-4c4a-9caa-96d002bc3375" providerId="ADAL" clId="{199C2EAC-1B70-E64A-81CB-93EC27C846DB}" dt="2022-09-14T20:44:48.300" v="330" actId="2696"/>
        <pc:sldMkLst>
          <pc:docMk/>
          <pc:sldMk cId="2879705784" sldId="301"/>
        </pc:sldMkLst>
      </pc:sldChg>
      <pc:sldChg chg="new del">
        <pc:chgData name="Antoine Bodein" userId="cd558cd8-b809-4c4a-9caa-96d002bc3375" providerId="ADAL" clId="{199C2EAC-1B70-E64A-81CB-93EC27C846DB}" dt="2022-09-14T20:44:31.825" v="327" actId="2696"/>
        <pc:sldMkLst>
          <pc:docMk/>
          <pc:sldMk cId="4025416605" sldId="301"/>
        </pc:sldMkLst>
      </pc:sldChg>
      <pc:sldChg chg="modSp add mod setBg">
        <pc:chgData name="Antoine Bodein" userId="cd558cd8-b809-4c4a-9caa-96d002bc3375" providerId="ADAL" clId="{199C2EAC-1B70-E64A-81CB-93EC27C846DB}" dt="2022-09-15T16:00:34.224" v="1106" actId="20577"/>
        <pc:sldMkLst>
          <pc:docMk/>
          <pc:sldMk cId="4089926105" sldId="302"/>
        </pc:sldMkLst>
        <pc:spChg chg="mod">
          <ac:chgData name="Antoine Bodein" userId="cd558cd8-b809-4c4a-9caa-96d002bc3375" providerId="ADAL" clId="{199C2EAC-1B70-E64A-81CB-93EC27C846DB}" dt="2022-09-15T16:00:34.224" v="1106" actId="20577"/>
          <ac:spMkLst>
            <pc:docMk/>
            <pc:sldMk cId="4089926105" sldId="302"/>
            <ac:spMk id="3" creationId="{00FC8224-100B-B04D-A0FD-BEAF2785B24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5f37cc9a56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7" name="Google Shape;77;g5f37cc9a5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608f9e3249_0_3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608f9e3249_0_3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41d01694db_0_6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41d01694db_0_6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608f9e3249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608f9e3249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608f9e3249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608f9e3249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41b809695e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41b809695e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608f9e3249_0_5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608f9e3249_0_5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608f9e3249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608f9e3249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608f9e3249_0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608f9e3249_0_2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41b809695e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41b809695e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41b809695e_0_10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41b809695e_0_10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41b809695e_0_1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41b809695e_0_1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41b809695e_0_1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41b809695e_0_1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41b809695e_0_1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41b809695e_0_1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41d01694db_0_3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41d01694db_0_3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41d01694db_0_3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41d01694db_0_3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41d01694db_0_3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41d01694db_0_3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41d01694db_0_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41d01694db_0_2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41d01694db_0_4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41d01694db_0_4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41d01694db_0_5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8" name="Google Shape;678;g41d01694db_0_5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41d01694db_0_5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6" name="Google Shape;686;g41d01694db_0_5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41d01694db_0_7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5" name="Google Shape;695;g41d01694db_0_7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g608f9e3249_0_5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3" name="Google Shape;703;g608f9e3249_0_5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41b809695e_0_10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8" name="Google Shape;738;g41b809695e_0_10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41b809695e_0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0" name="Google Shape;760;g41b809695e_0_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g41b809695e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3" name="Google Shape;793;g41b809695e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41b809695e_0_2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5" name="Google Shape;805;g41b809695e_0_2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g41b809695e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9" name="Google Shape;829;g41b809695e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41b809695e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6" name="Google Shape;856;g41b809695e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g41b809695e_0_2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9" name="Google Shape;869;g41b809695e_0_2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g41b809695e_0_5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5" name="Google Shape;1085;g41b809695e_0_5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g41b809695e_0_14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8" name="Google Shape;1118;g41b809695e_0_14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g41b809695e_0_14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9" name="Google Shape;1129;g41b809695e_0_14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g41b809695e_0_15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1" name="Google Shape;1181;g41b809695e_0_15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g41b809695e_0_12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0" name="Google Shape;1190;g41b809695e_0_12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g41b809695e_0_13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3" name="Google Shape;1213;g41b809695e_0_13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g41b809695e_0_13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7" name="Google Shape;1237;g41b809695e_0_13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g41b809695e_0_15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1" name="Google Shape;1271;g41b809695e_0_15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g41b809695e_0_15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2" name="Google Shape;1282;g41b809695e_0_15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g41b809695e_0_15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2" name="Google Shape;1292;g41b809695e_0_15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Google Shape;1303;g608f9e3249_0_5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4" name="Google Shape;1304;g608f9e3249_0_5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Google Shape;1337;g41d01694db_0_5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8" name="Google Shape;1338;g41d01694db_0_5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Google Shape;1355;g41b809695e_0_1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6" name="Google Shape;1356;g41b809695e_0_1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Google Shape;1376;g60b1ab3ac2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7" name="Google Shape;1377;g60b1ab3ac2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" name="Google Shape;1384;g601da83fd4_3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5" name="Google Shape;1385;g601da83fd4_3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625000" y="4939350"/>
            <a:ext cx="519000" cy="2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 sz="900">
                <a:solidFill>
                  <a:srgbClr val="000000"/>
                </a:solidFill>
              </a:defRPr>
            </a:lvl1pPr>
            <a:lvl2pPr lvl="1">
              <a:buNone/>
              <a:defRPr sz="900">
                <a:solidFill>
                  <a:srgbClr val="000000"/>
                </a:solidFill>
              </a:defRPr>
            </a:lvl2pPr>
            <a:lvl3pPr lvl="2">
              <a:buNone/>
              <a:defRPr sz="900">
                <a:solidFill>
                  <a:srgbClr val="000000"/>
                </a:solidFill>
              </a:defRPr>
            </a:lvl3pPr>
            <a:lvl4pPr lvl="3">
              <a:buNone/>
              <a:defRPr sz="900">
                <a:solidFill>
                  <a:srgbClr val="000000"/>
                </a:solidFill>
              </a:defRPr>
            </a:lvl4pPr>
            <a:lvl5pPr lvl="4">
              <a:buNone/>
              <a:defRPr sz="900">
                <a:solidFill>
                  <a:srgbClr val="000000"/>
                </a:solidFill>
              </a:defRPr>
            </a:lvl5pPr>
            <a:lvl6pPr lvl="5">
              <a:buNone/>
              <a:defRPr sz="900">
                <a:solidFill>
                  <a:srgbClr val="000000"/>
                </a:solidFill>
              </a:defRPr>
            </a:lvl6pPr>
            <a:lvl7pPr lvl="6">
              <a:buNone/>
              <a:defRPr sz="900">
                <a:solidFill>
                  <a:srgbClr val="000000"/>
                </a:solidFill>
              </a:defRPr>
            </a:lvl7pPr>
            <a:lvl8pPr lvl="7">
              <a:buNone/>
              <a:defRPr sz="900">
                <a:solidFill>
                  <a:srgbClr val="000000"/>
                </a:solidFill>
              </a:defRPr>
            </a:lvl8pPr>
            <a:lvl9pPr lvl="8">
              <a:buNone/>
              <a:defRPr sz="900">
                <a:solidFill>
                  <a:srgbClr val="000000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ge titre" type="tx">
  <p:cSld name="TITLE_AND_BOD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body" idx="1"/>
          </p:nvPr>
        </p:nvSpPr>
        <p:spPr>
          <a:xfrm>
            <a:off x="1041400" y="1966441"/>
            <a:ext cx="7594500" cy="23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body" idx="2"/>
          </p:nvPr>
        </p:nvSpPr>
        <p:spPr>
          <a:xfrm>
            <a:off x="1041400" y="466726"/>
            <a:ext cx="7594500" cy="9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»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ldNum" idx="12"/>
          </p:nvPr>
        </p:nvSpPr>
        <p:spPr>
          <a:xfrm>
            <a:off x="7010400" y="4867050"/>
            <a:ext cx="2133600" cy="2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CD092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CD092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CD092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CD092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CD092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CD092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CD092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CD092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CD092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mage avec légende">
  <p:cSld name="Image avec légende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>
            <a:spLocks noGrp="1"/>
          </p:cNvSpPr>
          <p:nvPr>
            <p:ph type="pic" idx="2"/>
          </p:nvPr>
        </p:nvSpPr>
        <p:spPr>
          <a:xfrm>
            <a:off x="804336" y="1792111"/>
            <a:ext cx="7653300" cy="2589300"/>
          </a:xfrm>
          <a:prstGeom prst="rect">
            <a:avLst/>
          </a:prstGeom>
          <a:noFill/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»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804338" y="597684"/>
            <a:ext cx="749310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D0920"/>
              </a:buClr>
              <a:buSzPts val="1400"/>
              <a:buFont typeface="Calibri"/>
              <a:buNone/>
              <a:defRPr sz="4000" b="0" i="0" u="none" strike="noStrike" cap="none">
                <a:solidFill>
                  <a:srgbClr val="CD092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body" idx="1"/>
          </p:nvPr>
        </p:nvSpPr>
        <p:spPr>
          <a:xfrm>
            <a:off x="804338" y="1238362"/>
            <a:ext cx="7493100" cy="5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15"/>
          <p:cNvSpPr/>
          <p:nvPr/>
        </p:nvSpPr>
        <p:spPr>
          <a:xfrm>
            <a:off x="-100" y="4993200"/>
            <a:ext cx="9144000" cy="150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ldNum" idx="12"/>
          </p:nvPr>
        </p:nvSpPr>
        <p:spPr>
          <a:xfrm>
            <a:off x="8927575" y="4992950"/>
            <a:ext cx="216300" cy="1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re sur deux lignes et contenu">
  <p:cSld name="Titre sur deux lignes et contenu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804338" y="597683"/>
            <a:ext cx="7493100" cy="7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D0920"/>
              </a:buClr>
              <a:buSzPts val="1400"/>
              <a:buFont typeface="Calibri"/>
              <a:buNone/>
              <a:defRPr sz="4000" b="1" i="0" u="none" strike="noStrike" cap="none">
                <a:solidFill>
                  <a:srgbClr val="CD092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body" idx="1"/>
          </p:nvPr>
        </p:nvSpPr>
        <p:spPr>
          <a:xfrm>
            <a:off x="804338" y="2171587"/>
            <a:ext cx="7493100" cy="22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404040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rgbClr val="404040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404040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rgbClr val="404040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rgbClr val="404040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body" idx="2"/>
          </p:nvPr>
        </p:nvSpPr>
        <p:spPr>
          <a:xfrm>
            <a:off x="804338" y="1390136"/>
            <a:ext cx="7493100" cy="7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»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sldNum" idx="12"/>
          </p:nvPr>
        </p:nvSpPr>
        <p:spPr>
          <a:xfrm>
            <a:off x="7010400" y="4867050"/>
            <a:ext cx="2133600" cy="2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CD092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CD092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CD092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CD092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CD092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CD092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CD092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CD092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CD092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En-tête de section">
  <p:cSld name="1_En-tête de section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>
            <a:spLocks noGrp="1"/>
          </p:cNvSpPr>
          <p:nvPr>
            <p:ph type="title"/>
          </p:nvPr>
        </p:nvSpPr>
        <p:spPr>
          <a:xfrm>
            <a:off x="1745674" y="597684"/>
            <a:ext cx="6551700" cy="37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D0920"/>
              </a:buClr>
              <a:buSzPts val="1400"/>
              <a:buFont typeface="Calibri"/>
              <a:buNone/>
              <a:defRPr sz="7200" b="0" i="0" u="none" strike="noStrike" cap="none">
                <a:solidFill>
                  <a:srgbClr val="CD092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sldNum" idx="12"/>
          </p:nvPr>
        </p:nvSpPr>
        <p:spPr>
          <a:xfrm>
            <a:off x="7010400" y="4867050"/>
            <a:ext cx="2133600" cy="2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CD092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CD092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CD092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CD092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CD092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CD092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CD092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CD092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CD092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position personnalisée">
  <p:cSld name="Disposition personnalisée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8"/>
          <p:cNvSpPr txBox="1">
            <a:spLocks noGrp="1"/>
          </p:cNvSpPr>
          <p:nvPr>
            <p:ph type="sldNum" idx="12"/>
          </p:nvPr>
        </p:nvSpPr>
        <p:spPr>
          <a:xfrm>
            <a:off x="6929625" y="4804050"/>
            <a:ext cx="2133600" cy="2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CD092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CD092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CD092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CD092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CD092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CD092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CD092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CD092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CD092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7">
            <a:alphaModFix/>
          </a:blip>
          <a:stretch>
            <a:fillRect/>
          </a:stretch>
        </a:blip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 rotWithShape="1">
          <a:blip r:embed="rId8">
            <a:alphaModFix/>
          </a:blip>
          <a:srcRect b="16001"/>
          <a:stretch/>
        </p:blipFill>
        <p:spPr>
          <a:xfrm>
            <a:off x="0" y="0"/>
            <a:ext cx="9144000" cy="432054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457200" y="69055"/>
            <a:ext cx="8229600" cy="11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7010400" y="4867050"/>
            <a:ext cx="2133600" cy="2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" name="Google Shape;54;p13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39655" y="4365223"/>
            <a:ext cx="1565100" cy="643928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>
            <a:spLocks noGrp="1"/>
          </p:cNvSpPr>
          <p:nvPr>
            <p:ph type="body" idx="2"/>
          </p:nvPr>
        </p:nvSpPr>
        <p:spPr>
          <a:xfrm>
            <a:off x="1034100" y="783191"/>
            <a:ext cx="7594500" cy="9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Arial"/>
              <a:buNone/>
            </a:pPr>
            <a:r>
              <a:rPr lang="fr" sz="3600" b="1">
                <a:solidFill>
                  <a:srgbClr val="C00000"/>
                </a:solidFill>
              </a:rPr>
              <a:t>Linux Pratique</a:t>
            </a:r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sldNum" idx="12"/>
          </p:nvPr>
        </p:nvSpPr>
        <p:spPr>
          <a:xfrm>
            <a:off x="7010400" y="4867050"/>
            <a:ext cx="2133600" cy="2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fr"/>
              <a:t>1</a:t>
            </a:fld>
            <a:endParaRPr/>
          </a:p>
        </p:txBody>
      </p:sp>
      <p:sp>
        <p:nvSpPr>
          <p:cNvPr id="81" name="Google Shape;81;p19"/>
          <p:cNvSpPr/>
          <p:nvPr/>
        </p:nvSpPr>
        <p:spPr>
          <a:xfrm>
            <a:off x="8898950" y="4910975"/>
            <a:ext cx="245100" cy="23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9"/>
          <p:cNvSpPr txBox="1">
            <a:spLocks noGrp="1"/>
          </p:cNvSpPr>
          <p:nvPr>
            <p:ph type="body" idx="2"/>
          </p:nvPr>
        </p:nvSpPr>
        <p:spPr>
          <a:xfrm>
            <a:off x="1034100" y="1880452"/>
            <a:ext cx="7594500" cy="17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Arial"/>
              <a:buNone/>
            </a:pPr>
            <a:r>
              <a:rPr lang="fr" sz="1800" dirty="0" err="1"/>
              <a:t>Bioinformatique</a:t>
            </a:r>
            <a:r>
              <a:rPr lang="fr" sz="1800" dirty="0"/>
              <a:t> 1 (BIF-4004/BIF-7004)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Arial"/>
              <a:buNone/>
            </a:pPr>
            <a:endParaRPr sz="1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Arial"/>
              <a:buNone/>
            </a:pPr>
            <a:r>
              <a:rPr lang="fr" sz="1800" dirty="0"/>
              <a:t>Professeur responsable : Arnaud Droit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Arial"/>
              <a:buNone/>
            </a:pPr>
            <a:r>
              <a:rPr lang="fr" sz="1800" dirty="0"/>
              <a:t>Chargé de cours : </a:t>
            </a:r>
            <a:r>
              <a:rPr lang="fr" sz="1800" b="1" dirty="0"/>
              <a:t>Antoine </a:t>
            </a:r>
            <a:r>
              <a:rPr lang="fr" sz="1800" b="1" dirty="0" err="1"/>
              <a:t>Bodein</a:t>
            </a:r>
            <a:endParaRPr sz="180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Arial"/>
              <a:buNone/>
            </a:pPr>
            <a:endParaRPr sz="180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Arial"/>
              <a:buNone/>
            </a:pPr>
            <a:endParaRPr sz="180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Arial"/>
              <a:buNone/>
            </a:pPr>
            <a:endParaRPr sz="180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Arial"/>
              <a:buNone/>
            </a:pPr>
            <a:endParaRPr sz="1800" b="1" dirty="0"/>
          </a:p>
        </p:txBody>
      </p:sp>
      <p:sp>
        <p:nvSpPr>
          <p:cNvPr id="83" name="Google Shape;83;p19"/>
          <p:cNvSpPr txBox="1">
            <a:spLocks noGrp="1"/>
          </p:cNvSpPr>
          <p:nvPr>
            <p:ph type="body" idx="2"/>
          </p:nvPr>
        </p:nvSpPr>
        <p:spPr>
          <a:xfrm>
            <a:off x="1034100" y="4291155"/>
            <a:ext cx="75945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Arial"/>
              <a:buNone/>
            </a:pPr>
            <a:r>
              <a:rPr lang="fr" sz="1200" dirty="0"/>
              <a:t>© Faculté de Médecine, Université Laval, 2026</a:t>
            </a:r>
            <a:endParaRPr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CCCC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0"/>
          <p:cNvSpPr txBox="1">
            <a:spLocks noGrp="1"/>
          </p:cNvSpPr>
          <p:nvPr>
            <p:ph type="sldNum" idx="12"/>
          </p:nvPr>
        </p:nvSpPr>
        <p:spPr>
          <a:xfrm>
            <a:off x="8625000" y="4939350"/>
            <a:ext cx="519000" cy="2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</a:t>
            </a:fld>
            <a:endParaRPr/>
          </a:p>
        </p:txBody>
      </p:sp>
      <p:grpSp>
        <p:nvGrpSpPr>
          <p:cNvPr id="89" name="Google Shape;89;p20"/>
          <p:cNvGrpSpPr/>
          <p:nvPr/>
        </p:nvGrpSpPr>
        <p:grpSpPr>
          <a:xfrm>
            <a:off x="387862" y="220776"/>
            <a:ext cx="8328791" cy="968148"/>
            <a:chOff x="420923" y="155682"/>
            <a:chExt cx="8328791" cy="1131939"/>
          </a:xfrm>
        </p:grpSpPr>
        <p:grpSp>
          <p:nvGrpSpPr>
            <p:cNvPr id="90" name="Google Shape;90;p20"/>
            <p:cNvGrpSpPr/>
            <p:nvPr/>
          </p:nvGrpSpPr>
          <p:grpSpPr>
            <a:xfrm>
              <a:off x="3502704" y="228141"/>
              <a:ext cx="5247010" cy="987029"/>
              <a:chOff x="809518" y="2237179"/>
              <a:chExt cx="5859307" cy="1203400"/>
            </a:xfrm>
          </p:grpSpPr>
          <p:sp>
            <p:nvSpPr>
              <p:cNvPr id="91" name="Google Shape;91;p20"/>
              <p:cNvSpPr/>
              <p:nvPr/>
            </p:nvSpPr>
            <p:spPr>
              <a:xfrm>
                <a:off x="809518" y="2237279"/>
                <a:ext cx="5859300" cy="12033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19050" cap="flat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20"/>
              <p:cNvSpPr txBox="1"/>
              <p:nvPr/>
            </p:nvSpPr>
            <p:spPr>
              <a:xfrm>
                <a:off x="809526" y="2237179"/>
                <a:ext cx="5859300" cy="120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1260000" lvl="0" indent="-3175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SzPts val="1400"/>
                  <a:buAutoNum type="arabicPeriod"/>
                </a:pPr>
                <a:r>
                  <a:rPr lang="fr" dirty="0"/>
                  <a:t>GUI / CLI</a:t>
                </a:r>
                <a:endParaRPr dirty="0"/>
              </a:p>
              <a:p>
                <a:pPr marL="1260000" lvl="0" indent="-3175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SzPts val="1400"/>
                  <a:buAutoNum type="arabicPeriod"/>
                </a:pPr>
                <a:r>
                  <a:rPr lang="fr" dirty="0"/>
                  <a:t>Anatomie d’une ligne de commande et Astuces</a:t>
                </a:r>
                <a:endParaRPr dirty="0"/>
              </a:p>
              <a:p>
                <a:pPr marL="1260000" lvl="0" indent="-3175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SzPts val="1400"/>
                  <a:buAutoNum type="arabicPeriod"/>
                </a:pPr>
                <a:r>
                  <a:rPr lang="fr" dirty="0"/>
                  <a:t>Mise en route</a:t>
                </a:r>
                <a:endParaRPr dirty="0"/>
              </a:p>
            </p:txBody>
          </p:sp>
        </p:grpSp>
        <p:grpSp>
          <p:nvGrpSpPr>
            <p:cNvPr id="93" name="Google Shape;93;p20"/>
            <p:cNvGrpSpPr/>
            <p:nvPr/>
          </p:nvGrpSpPr>
          <p:grpSpPr>
            <a:xfrm>
              <a:off x="420923" y="155682"/>
              <a:ext cx="3412503" cy="1131939"/>
              <a:chOff x="1081650" y="533375"/>
              <a:chExt cx="6885600" cy="694825"/>
            </a:xfrm>
          </p:grpSpPr>
          <p:sp>
            <p:nvSpPr>
              <p:cNvPr id="94" name="Google Shape;94;p20"/>
              <p:cNvSpPr/>
              <p:nvPr/>
            </p:nvSpPr>
            <p:spPr>
              <a:xfrm>
                <a:off x="1098450" y="533400"/>
                <a:ext cx="6852000" cy="694800"/>
              </a:xfrm>
              <a:prstGeom prst="roundRect">
                <a:avLst>
                  <a:gd name="adj" fmla="val 16667"/>
                </a:avLst>
              </a:prstGeom>
              <a:solidFill>
                <a:srgbClr val="C00000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95" name="Google Shape;95;p20"/>
              <p:cNvSpPr txBox="1"/>
              <p:nvPr/>
            </p:nvSpPr>
            <p:spPr>
              <a:xfrm>
                <a:off x="1081650" y="533375"/>
                <a:ext cx="6885600" cy="6948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" sz="2800" b="1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Introduction</a:t>
                </a:r>
                <a:endParaRPr sz="28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6" name="Google Shape;96;p20"/>
          <p:cNvGrpSpPr/>
          <p:nvPr/>
        </p:nvGrpSpPr>
        <p:grpSpPr>
          <a:xfrm>
            <a:off x="387862" y="1465376"/>
            <a:ext cx="8328791" cy="968148"/>
            <a:chOff x="420923" y="155682"/>
            <a:chExt cx="8328791" cy="1131939"/>
          </a:xfrm>
        </p:grpSpPr>
        <p:grpSp>
          <p:nvGrpSpPr>
            <p:cNvPr id="97" name="Google Shape;97;p20"/>
            <p:cNvGrpSpPr/>
            <p:nvPr/>
          </p:nvGrpSpPr>
          <p:grpSpPr>
            <a:xfrm>
              <a:off x="3502704" y="228141"/>
              <a:ext cx="5247010" cy="987029"/>
              <a:chOff x="809518" y="2237179"/>
              <a:chExt cx="5859308" cy="1203400"/>
            </a:xfrm>
          </p:grpSpPr>
          <p:sp>
            <p:nvSpPr>
              <p:cNvPr id="98" name="Google Shape;98;p20"/>
              <p:cNvSpPr/>
              <p:nvPr/>
            </p:nvSpPr>
            <p:spPr>
              <a:xfrm>
                <a:off x="809518" y="2237279"/>
                <a:ext cx="5859300" cy="12033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19050" cap="flat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9;p20"/>
              <p:cNvSpPr txBox="1"/>
              <p:nvPr/>
            </p:nvSpPr>
            <p:spPr>
              <a:xfrm>
                <a:off x="809526" y="2237179"/>
                <a:ext cx="5859300" cy="120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1260000" marR="0" lvl="0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Pts val="1200"/>
                  <a:buAutoNum type="arabicPeriod"/>
                </a:pPr>
                <a:r>
                  <a:rPr lang="fr" sz="1200" dirty="0"/>
                  <a:t>Structure de l’arborescence</a:t>
                </a:r>
                <a:endParaRPr sz="1200" dirty="0"/>
              </a:p>
              <a:p>
                <a:pPr marL="1260000" marR="0" lvl="0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Pts val="1200"/>
                  <a:buAutoNum type="arabicPeriod"/>
                </a:pPr>
                <a:r>
                  <a:rPr lang="fr" sz="1200" dirty="0"/>
                  <a:t>Chemins relatifs et absolus</a:t>
                </a:r>
                <a:endParaRPr sz="1200" dirty="0"/>
              </a:p>
              <a:p>
                <a:pPr marL="1260000" marR="0" lvl="0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Pts val="1200"/>
                  <a:buAutoNum type="arabicPeriod"/>
                </a:pPr>
                <a:r>
                  <a:rPr lang="fr" sz="1200" dirty="0"/>
                  <a:t>Commandes utiles : Déplacement             </a:t>
                </a:r>
                <a:r>
                  <a:rPr lang="fr" sz="1200" b="1" dirty="0">
                    <a:solidFill>
                      <a:srgbClr val="C00000"/>
                    </a:solidFill>
                  </a:rPr>
                  <a:t>Exercice 1</a:t>
                </a:r>
                <a:endParaRPr sz="1200" b="1" dirty="0">
                  <a:solidFill>
                    <a:srgbClr val="C00000"/>
                  </a:solidFill>
                </a:endParaRPr>
              </a:p>
              <a:p>
                <a:pPr marL="1260000" marR="0" lvl="0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Pts val="1200"/>
                  <a:buAutoNum type="arabicPeriod"/>
                </a:pPr>
                <a:r>
                  <a:rPr lang="fr" sz="1200" dirty="0" err="1"/>
                  <a:t>Métacaractères</a:t>
                </a:r>
                <a:r>
                  <a:rPr lang="fr" sz="1200" dirty="0"/>
                  <a:t>		          </a:t>
                </a:r>
                <a:r>
                  <a:rPr lang="fr" sz="1200" b="1" dirty="0">
                    <a:solidFill>
                      <a:srgbClr val="C00000"/>
                    </a:solidFill>
                  </a:rPr>
                  <a:t>Exercice 2</a:t>
                </a:r>
                <a:endParaRPr sz="1200" b="1" dirty="0">
                  <a:solidFill>
                    <a:srgbClr val="C00000"/>
                  </a:solidFill>
                </a:endParaRPr>
              </a:p>
            </p:txBody>
          </p:sp>
        </p:grpSp>
        <p:grpSp>
          <p:nvGrpSpPr>
            <p:cNvPr id="100" name="Google Shape;100;p20"/>
            <p:cNvGrpSpPr/>
            <p:nvPr/>
          </p:nvGrpSpPr>
          <p:grpSpPr>
            <a:xfrm>
              <a:off x="420923" y="155682"/>
              <a:ext cx="3412503" cy="1131939"/>
              <a:chOff x="1081650" y="533375"/>
              <a:chExt cx="6885600" cy="694825"/>
            </a:xfrm>
          </p:grpSpPr>
          <p:sp>
            <p:nvSpPr>
              <p:cNvPr id="101" name="Google Shape;101;p20"/>
              <p:cNvSpPr/>
              <p:nvPr/>
            </p:nvSpPr>
            <p:spPr>
              <a:xfrm>
                <a:off x="1098450" y="533400"/>
                <a:ext cx="6852000" cy="694800"/>
              </a:xfrm>
              <a:prstGeom prst="roundRect">
                <a:avLst>
                  <a:gd name="adj" fmla="val 16667"/>
                </a:avLst>
              </a:prstGeom>
              <a:solidFill>
                <a:srgbClr val="C00000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102" name="Google Shape;102;p20"/>
              <p:cNvSpPr txBox="1"/>
              <p:nvPr/>
            </p:nvSpPr>
            <p:spPr>
              <a:xfrm>
                <a:off x="1081650" y="533375"/>
                <a:ext cx="6885600" cy="6948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" sz="2800" b="1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I. Système de fichier</a:t>
                </a:r>
                <a:endParaRPr sz="28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3" name="Google Shape;103;p20"/>
          <p:cNvGrpSpPr/>
          <p:nvPr/>
        </p:nvGrpSpPr>
        <p:grpSpPr>
          <a:xfrm>
            <a:off x="387862" y="2709976"/>
            <a:ext cx="8368283" cy="968148"/>
            <a:chOff x="420923" y="155682"/>
            <a:chExt cx="8368283" cy="1131939"/>
          </a:xfrm>
        </p:grpSpPr>
        <p:grpSp>
          <p:nvGrpSpPr>
            <p:cNvPr id="104" name="Google Shape;104;p20"/>
            <p:cNvGrpSpPr/>
            <p:nvPr/>
          </p:nvGrpSpPr>
          <p:grpSpPr>
            <a:xfrm>
              <a:off x="3502704" y="228141"/>
              <a:ext cx="5286501" cy="987029"/>
              <a:chOff x="809518" y="2237179"/>
              <a:chExt cx="5903408" cy="1203400"/>
            </a:xfrm>
          </p:grpSpPr>
          <p:sp>
            <p:nvSpPr>
              <p:cNvPr id="105" name="Google Shape;105;p20"/>
              <p:cNvSpPr/>
              <p:nvPr/>
            </p:nvSpPr>
            <p:spPr>
              <a:xfrm>
                <a:off x="809518" y="2237279"/>
                <a:ext cx="5903400" cy="12033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19050" cap="flat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20"/>
              <p:cNvSpPr txBox="1"/>
              <p:nvPr/>
            </p:nvSpPr>
            <p:spPr>
              <a:xfrm>
                <a:off x="809526" y="2237179"/>
                <a:ext cx="5903400" cy="120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1260000" marR="0" lvl="0" indent="-3175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SzPts val="1400"/>
                  <a:buAutoNum type="arabicPeriod"/>
                </a:pPr>
                <a:r>
                  <a:rPr lang="fr" dirty="0"/>
                  <a:t>Commandes utiles	 : Manipulation  </a:t>
                </a:r>
                <a:r>
                  <a:rPr lang="fr" sz="1200" b="1" dirty="0">
                    <a:solidFill>
                      <a:srgbClr val="C00000"/>
                    </a:solidFill>
                  </a:rPr>
                  <a:t>Exercice 3</a:t>
                </a:r>
                <a:endParaRPr sz="1200" dirty="0">
                  <a:solidFill>
                    <a:srgbClr val="C00000"/>
                  </a:solidFill>
                </a:endParaRPr>
              </a:p>
              <a:p>
                <a:pPr marL="1260000" marR="0" lvl="0" indent="-3175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SzPts val="1400"/>
                  <a:buAutoNum type="arabicPeriod"/>
                </a:pPr>
                <a:r>
                  <a:rPr lang="fr" dirty="0"/>
                  <a:t>Gestion des flux		       </a:t>
                </a:r>
                <a:r>
                  <a:rPr lang="fr" sz="1200" b="1" dirty="0">
                    <a:solidFill>
                      <a:srgbClr val="C00000"/>
                    </a:solidFill>
                  </a:rPr>
                  <a:t>Exercice 4 		                             Exercice 5</a:t>
                </a:r>
                <a:endParaRPr sz="1200" b="1" dirty="0">
                  <a:solidFill>
                    <a:srgbClr val="C00000"/>
                  </a:solidFill>
                </a:endParaRPr>
              </a:p>
            </p:txBody>
          </p:sp>
        </p:grpSp>
        <p:grpSp>
          <p:nvGrpSpPr>
            <p:cNvPr id="107" name="Google Shape;107;p20"/>
            <p:cNvGrpSpPr/>
            <p:nvPr/>
          </p:nvGrpSpPr>
          <p:grpSpPr>
            <a:xfrm>
              <a:off x="420923" y="155682"/>
              <a:ext cx="3412503" cy="1131939"/>
              <a:chOff x="1081650" y="533375"/>
              <a:chExt cx="6885600" cy="694825"/>
            </a:xfrm>
          </p:grpSpPr>
          <p:sp>
            <p:nvSpPr>
              <p:cNvPr id="108" name="Google Shape;108;p20"/>
              <p:cNvSpPr/>
              <p:nvPr/>
            </p:nvSpPr>
            <p:spPr>
              <a:xfrm>
                <a:off x="1098450" y="533400"/>
                <a:ext cx="6852000" cy="694800"/>
              </a:xfrm>
              <a:prstGeom prst="roundRect">
                <a:avLst>
                  <a:gd name="adj" fmla="val 16667"/>
                </a:avLst>
              </a:prstGeom>
              <a:solidFill>
                <a:srgbClr val="C00000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109" name="Google Shape;109;p20"/>
              <p:cNvSpPr txBox="1"/>
              <p:nvPr/>
            </p:nvSpPr>
            <p:spPr>
              <a:xfrm>
                <a:off x="1081650" y="533375"/>
                <a:ext cx="6885600" cy="6948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" sz="2300" b="1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II. Manipulation de fichier</a:t>
                </a:r>
                <a:endParaRPr sz="23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0" name="Google Shape;110;p20"/>
          <p:cNvGrpSpPr/>
          <p:nvPr/>
        </p:nvGrpSpPr>
        <p:grpSpPr>
          <a:xfrm>
            <a:off x="387862" y="3954576"/>
            <a:ext cx="8328791" cy="968148"/>
            <a:chOff x="420923" y="155682"/>
            <a:chExt cx="8328791" cy="1131939"/>
          </a:xfrm>
        </p:grpSpPr>
        <p:grpSp>
          <p:nvGrpSpPr>
            <p:cNvPr id="111" name="Google Shape;111;p20"/>
            <p:cNvGrpSpPr/>
            <p:nvPr/>
          </p:nvGrpSpPr>
          <p:grpSpPr>
            <a:xfrm>
              <a:off x="3502704" y="228141"/>
              <a:ext cx="5247010" cy="987029"/>
              <a:chOff x="809518" y="2237179"/>
              <a:chExt cx="5859307" cy="1203400"/>
            </a:xfrm>
          </p:grpSpPr>
          <p:sp>
            <p:nvSpPr>
              <p:cNvPr id="112" name="Google Shape;112;p20"/>
              <p:cNvSpPr/>
              <p:nvPr/>
            </p:nvSpPr>
            <p:spPr>
              <a:xfrm>
                <a:off x="809518" y="2237279"/>
                <a:ext cx="5859300" cy="12033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19050" cap="flat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3;p20"/>
              <p:cNvSpPr txBox="1"/>
              <p:nvPr/>
            </p:nvSpPr>
            <p:spPr>
              <a:xfrm>
                <a:off x="809526" y="2237179"/>
                <a:ext cx="5859300" cy="120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1260000" marR="0" lvl="0" indent="-3175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SzPts val="1400"/>
                  <a:buAutoNum type="arabicPeriod"/>
                </a:pPr>
                <a:r>
                  <a:rPr lang="fr" dirty="0"/>
                  <a:t>Structure d’un script		</a:t>
                </a:r>
                <a:endParaRPr sz="1200" b="1" dirty="0"/>
              </a:p>
              <a:p>
                <a:pPr marL="1260000" marR="0" lvl="0" indent="-3175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SzPts val="1400"/>
                  <a:buAutoNum type="arabicPeriod"/>
                </a:pPr>
                <a:r>
                  <a:rPr lang="fr" dirty="0"/>
                  <a:t>Exécuter un script		      </a:t>
                </a:r>
                <a:r>
                  <a:rPr lang="fr" sz="1200" b="1" dirty="0">
                    <a:solidFill>
                      <a:srgbClr val="C00000"/>
                    </a:solidFill>
                  </a:rPr>
                  <a:t>Exercice 6</a:t>
                </a:r>
                <a:endParaRPr sz="1200" b="1" dirty="0">
                  <a:solidFill>
                    <a:srgbClr val="C00000"/>
                  </a:solidFill>
                </a:endParaRPr>
              </a:p>
            </p:txBody>
          </p:sp>
        </p:grpSp>
        <p:grpSp>
          <p:nvGrpSpPr>
            <p:cNvPr id="114" name="Google Shape;114;p20"/>
            <p:cNvGrpSpPr/>
            <p:nvPr/>
          </p:nvGrpSpPr>
          <p:grpSpPr>
            <a:xfrm>
              <a:off x="420923" y="155682"/>
              <a:ext cx="3412503" cy="1131939"/>
              <a:chOff x="1081650" y="533375"/>
              <a:chExt cx="6885600" cy="694825"/>
            </a:xfrm>
          </p:grpSpPr>
          <p:sp>
            <p:nvSpPr>
              <p:cNvPr id="115" name="Google Shape;115;p20"/>
              <p:cNvSpPr/>
              <p:nvPr/>
            </p:nvSpPr>
            <p:spPr>
              <a:xfrm>
                <a:off x="1098450" y="533400"/>
                <a:ext cx="6852000" cy="694800"/>
              </a:xfrm>
              <a:prstGeom prst="roundRect">
                <a:avLst>
                  <a:gd name="adj" fmla="val 16667"/>
                </a:avLst>
              </a:prstGeom>
              <a:solidFill>
                <a:srgbClr val="C00000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116" name="Google Shape;116;p20"/>
              <p:cNvSpPr txBox="1"/>
              <p:nvPr/>
            </p:nvSpPr>
            <p:spPr>
              <a:xfrm>
                <a:off x="1081650" y="533375"/>
                <a:ext cx="6885600" cy="6948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" sz="2800" b="1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III.	Scripts</a:t>
                </a:r>
                <a:endParaRPr sz="28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8300" y="1235325"/>
            <a:ext cx="4560442" cy="291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3150" y="1235325"/>
            <a:ext cx="3893624" cy="2916416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1"/>
          <p:cNvSpPr txBox="1">
            <a:spLocks noGrp="1"/>
          </p:cNvSpPr>
          <p:nvPr>
            <p:ph type="title"/>
          </p:nvPr>
        </p:nvSpPr>
        <p:spPr>
          <a:xfrm>
            <a:off x="0" y="-11925"/>
            <a:ext cx="9143700" cy="7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40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GUI / CLI</a:t>
            </a:r>
            <a:endParaRPr sz="4000" b="1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1"/>
          <p:cNvSpPr/>
          <p:nvPr/>
        </p:nvSpPr>
        <p:spPr>
          <a:xfrm>
            <a:off x="0" y="665225"/>
            <a:ext cx="9143700" cy="41400"/>
          </a:xfrm>
          <a:prstGeom prst="rect">
            <a:avLst/>
          </a:prstGeom>
          <a:gradFill>
            <a:gsLst>
              <a:gs pos="0">
                <a:srgbClr val="CD0920"/>
              </a:gs>
              <a:gs pos="9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1"/>
          <p:cNvSpPr txBox="1">
            <a:spLocks noGrp="1"/>
          </p:cNvSpPr>
          <p:nvPr>
            <p:ph type="sldNum" idx="12"/>
          </p:nvPr>
        </p:nvSpPr>
        <p:spPr>
          <a:xfrm>
            <a:off x="8625000" y="4939350"/>
            <a:ext cx="519000" cy="2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3</a:t>
            </a:fld>
            <a:endParaRPr/>
          </a:p>
        </p:txBody>
      </p:sp>
      <p:sp>
        <p:nvSpPr>
          <p:cNvPr id="126" name="Google Shape;126;p21"/>
          <p:cNvSpPr txBox="1"/>
          <p:nvPr/>
        </p:nvSpPr>
        <p:spPr>
          <a:xfrm>
            <a:off x="1012212" y="835700"/>
            <a:ext cx="2155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Interface Graphique</a:t>
            </a:r>
            <a:endParaRPr/>
          </a:p>
        </p:txBody>
      </p:sp>
      <p:sp>
        <p:nvSpPr>
          <p:cNvPr id="127" name="Google Shape;127;p21"/>
          <p:cNvSpPr txBox="1"/>
          <p:nvPr/>
        </p:nvSpPr>
        <p:spPr>
          <a:xfrm>
            <a:off x="5205121" y="835700"/>
            <a:ext cx="30468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Interface par Ligne de Commande</a:t>
            </a:r>
            <a:endParaRPr/>
          </a:p>
        </p:txBody>
      </p:sp>
      <p:pic>
        <p:nvPicPr>
          <p:cNvPr id="128" name="Google Shape;128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69125" y="4321975"/>
            <a:ext cx="1574235" cy="663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2"/>
          <p:cNvSpPr txBox="1">
            <a:spLocks noGrp="1"/>
          </p:cNvSpPr>
          <p:nvPr>
            <p:ph type="title"/>
          </p:nvPr>
        </p:nvSpPr>
        <p:spPr>
          <a:xfrm>
            <a:off x="0" y="-11925"/>
            <a:ext cx="9143700" cy="7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40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Anatomie d’une ligne de commande</a:t>
            </a:r>
            <a:endParaRPr sz="4000" b="1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2"/>
          <p:cNvSpPr/>
          <p:nvPr/>
        </p:nvSpPr>
        <p:spPr>
          <a:xfrm>
            <a:off x="0" y="665225"/>
            <a:ext cx="9143700" cy="41400"/>
          </a:xfrm>
          <a:prstGeom prst="rect">
            <a:avLst/>
          </a:prstGeom>
          <a:gradFill>
            <a:gsLst>
              <a:gs pos="0">
                <a:srgbClr val="CD0920"/>
              </a:gs>
              <a:gs pos="9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22"/>
          <p:cNvSpPr txBox="1">
            <a:spLocks noGrp="1"/>
          </p:cNvSpPr>
          <p:nvPr>
            <p:ph type="sldNum" idx="12"/>
          </p:nvPr>
        </p:nvSpPr>
        <p:spPr>
          <a:xfrm>
            <a:off x="8625000" y="4939350"/>
            <a:ext cx="519000" cy="2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4</a:t>
            </a:fld>
            <a:endParaRPr/>
          </a:p>
        </p:txBody>
      </p:sp>
      <p:pic>
        <p:nvPicPr>
          <p:cNvPr id="136" name="Google Shape;13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24750" y="787950"/>
            <a:ext cx="1574235" cy="663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2"/>
          <p:cNvPicPr preferRelativeResize="0"/>
          <p:nvPr/>
        </p:nvPicPr>
        <p:blipFill rotWithShape="1">
          <a:blip r:embed="rId4">
            <a:alphaModFix/>
          </a:blip>
          <a:srcRect r="59613" b="73173"/>
          <a:stretch/>
        </p:blipFill>
        <p:spPr>
          <a:xfrm>
            <a:off x="3079888" y="963937"/>
            <a:ext cx="3428699" cy="145647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2"/>
          <p:cNvSpPr/>
          <p:nvPr/>
        </p:nvSpPr>
        <p:spPr>
          <a:xfrm>
            <a:off x="2982463" y="1196825"/>
            <a:ext cx="2253300" cy="5715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22"/>
          <p:cNvSpPr txBox="1"/>
          <p:nvPr/>
        </p:nvSpPr>
        <p:spPr>
          <a:xfrm>
            <a:off x="413063" y="1532875"/>
            <a:ext cx="2382300" cy="4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/>
              <a:t>Prompt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i="1"/>
              <a:t>(ou invite de commande)</a:t>
            </a:r>
            <a:endParaRPr i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$ : utilisateur standard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# : super utilisateur</a:t>
            </a:r>
            <a:endParaRPr/>
          </a:p>
        </p:txBody>
      </p:sp>
      <p:cxnSp>
        <p:nvCxnSpPr>
          <p:cNvPr id="140" name="Google Shape;140;p22"/>
          <p:cNvCxnSpPr>
            <a:endCxn id="138" idx="1"/>
          </p:cNvCxnSpPr>
          <p:nvPr/>
        </p:nvCxnSpPr>
        <p:spPr>
          <a:xfrm rot="10800000" flipH="1">
            <a:off x="1285063" y="1482575"/>
            <a:ext cx="1697400" cy="276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41" name="Google Shape;141;p22"/>
          <p:cNvSpPr txBox="1"/>
          <p:nvPr/>
        </p:nvSpPr>
        <p:spPr>
          <a:xfrm>
            <a:off x="447600" y="2928975"/>
            <a:ext cx="8248800" cy="43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COMMANDE -option(s) argument(s)</a:t>
            </a:r>
            <a:endParaRPr b="1">
              <a:solidFill>
                <a:srgbClr val="00FF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2" name="Google Shape;142;p22"/>
          <p:cNvSpPr txBox="1"/>
          <p:nvPr/>
        </p:nvSpPr>
        <p:spPr>
          <a:xfrm>
            <a:off x="6663800" y="1532875"/>
            <a:ext cx="2382300" cy="4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/>
              <a:t>Terminal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(ou émulateur de terminal)</a:t>
            </a:r>
            <a:endParaRPr/>
          </a:p>
        </p:txBody>
      </p:sp>
      <p:sp>
        <p:nvSpPr>
          <p:cNvPr id="143" name="Google Shape;143;p22"/>
          <p:cNvSpPr/>
          <p:nvPr/>
        </p:nvSpPr>
        <p:spPr>
          <a:xfrm>
            <a:off x="6587850" y="888775"/>
            <a:ext cx="101700" cy="1606800"/>
          </a:xfrm>
          <a:prstGeom prst="rightBracket">
            <a:avLst>
              <a:gd name="adj" fmla="val 8333"/>
            </a:avLst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22"/>
          <p:cNvSpPr txBox="1"/>
          <p:nvPr/>
        </p:nvSpPr>
        <p:spPr>
          <a:xfrm>
            <a:off x="447600" y="3482850"/>
            <a:ext cx="8248800" cy="1456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200" b="1" dirty="0" err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ls</a:t>
            </a:r>
            <a:r>
              <a:rPr lang="fr" sz="1200" b="1" dirty="0">
                <a:solidFill>
                  <a:srgbClr val="00FF00"/>
                </a:solidFill>
              </a:rPr>
              <a:t>               				</a:t>
            </a:r>
            <a:r>
              <a:rPr lang="fr" sz="1200" dirty="0">
                <a:solidFill>
                  <a:srgbClr val="00FF00"/>
                </a:solidFill>
              </a:rPr>
              <a:t># la commande: liste les fichiers sur répertoire courant</a:t>
            </a:r>
            <a:endParaRPr sz="1200" dirty="0">
              <a:solidFill>
                <a:srgbClr val="00FF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200" b="1" dirty="0" err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ls</a:t>
            </a:r>
            <a:r>
              <a:rPr lang="fr" sz="1200" b="1" dirty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 -l </a:t>
            </a:r>
            <a:r>
              <a:rPr lang="fr" sz="1200" b="1" dirty="0">
                <a:solidFill>
                  <a:srgbClr val="00FF00"/>
                </a:solidFill>
              </a:rPr>
              <a:t>           			</a:t>
            </a:r>
            <a:r>
              <a:rPr lang="fr" sz="1200" dirty="0">
                <a:solidFill>
                  <a:srgbClr val="00FF00"/>
                </a:solidFill>
              </a:rPr>
              <a:t># avec option (flag) '-l' pour afficher les métadonnées des fichiers</a:t>
            </a:r>
            <a:endParaRPr sz="1200" dirty="0">
              <a:solidFill>
                <a:srgbClr val="00FF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200" b="1" dirty="0" err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ls</a:t>
            </a:r>
            <a:r>
              <a:rPr lang="fr" sz="1200" b="1" dirty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 ./Dossier</a:t>
            </a:r>
            <a:r>
              <a:rPr lang="fr" sz="1200" b="1" dirty="0">
                <a:solidFill>
                  <a:srgbClr val="00FF00"/>
                </a:solidFill>
              </a:rPr>
              <a:t>     			</a:t>
            </a:r>
            <a:r>
              <a:rPr lang="fr" sz="1200" dirty="0">
                <a:solidFill>
                  <a:srgbClr val="00FF00"/>
                </a:solidFill>
              </a:rPr>
              <a:t># affiche les fichiers du répertoire './Dossier'</a:t>
            </a:r>
            <a:endParaRPr sz="1200" dirty="0">
              <a:solidFill>
                <a:srgbClr val="00FF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200" b="1" dirty="0" err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ls</a:t>
            </a:r>
            <a:r>
              <a:rPr lang="fr" sz="1200" b="1" dirty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 -l -h ./Dossier</a:t>
            </a:r>
            <a:r>
              <a:rPr lang="fr" sz="1200" b="1" dirty="0">
                <a:solidFill>
                  <a:srgbClr val="00FF00"/>
                </a:solidFill>
              </a:rPr>
              <a:t>   			</a:t>
            </a:r>
            <a:r>
              <a:rPr lang="fr" sz="1200" dirty="0">
                <a:solidFill>
                  <a:srgbClr val="00FF00"/>
                </a:solidFill>
              </a:rPr>
              <a:t># affiche les métadonnées dans un format plus lisible</a:t>
            </a:r>
            <a:endParaRPr sz="1200" dirty="0">
              <a:solidFill>
                <a:srgbClr val="00FF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200" b="1" dirty="0" err="1">
                <a:solidFill>
                  <a:srgbClr val="00FF00"/>
                </a:solidFill>
              </a:rPr>
              <a:t>l</a:t>
            </a:r>
            <a:r>
              <a:rPr lang="fr" sz="1200" b="1" dirty="0" err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lang="fr" sz="1200" b="1" dirty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 -</a:t>
            </a:r>
            <a:r>
              <a:rPr lang="fr" sz="1200" b="1" dirty="0" err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lh</a:t>
            </a:r>
            <a:r>
              <a:rPr lang="fr" sz="1200" b="1" dirty="0">
                <a:solidFill>
                  <a:srgbClr val="00FF00"/>
                </a:solidFill>
              </a:rPr>
              <a:t>          			</a:t>
            </a:r>
            <a:r>
              <a:rPr lang="fr" sz="1200" dirty="0">
                <a:solidFill>
                  <a:srgbClr val="00FF00"/>
                </a:solidFill>
              </a:rPr>
              <a:t>#</a:t>
            </a:r>
            <a:r>
              <a:rPr lang="fr" sz="1200" b="1" dirty="0">
                <a:solidFill>
                  <a:srgbClr val="00FF00"/>
                </a:solidFill>
              </a:rPr>
              <a:t> </a:t>
            </a:r>
            <a:r>
              <a:rPr lang="fr" sz="1200" dirty="0">
                <a:solidFill>
                  <a:srgbClr val="00FF00"/>
                </a:solidFill>
              </a:rPr>
              <a:t>équivalent à `</a:t>
            </a:r>
            <a:r>
              <a:rPr lang="fr" sz="1200" dirty="0" err="1">
                <a:solidFill>
                  <a:srgbClr val="00FF00"/>
                </a:solidFill>
              </a:rPr>
              <a:t>ls</a:t>
            </a:r>
            <a:r>
              <a:rPr lang="fr" sz="1200" dirty="0">
                <a:solidFill>
                  <a:srgbClr val="00FF00"/>
                </a:solidFill>
              </a:rPr>
              <a:t> -l -h`</a:t>
            </a:r>
            <a:endParaRPr sz="1200" dirty="0">
              <a:solidFill>
                <a:srgbClr val="00FF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 b="1" dirty="0" err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ls</a:t>
            </a:r>
            <a:r>
              <a:rPr lang="fr" sz="1200" b="1" dirty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 --format=single-</a:t>
            </a:r>
            <a:r>
              <a:rPr lang="fr" sz="1200" b="1" dirty="0" err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column</a:t>
            </a:r>
            <a:r>
              <a:rPr lang="fr" sz="1200" b="1" dirty="0">
                <a:solidFill>
                  <a:srgbClr val="00FF00"/>
                </a:solidFill>
              </a:rPr>
              <a:t>		</a:t>
            </a:r>
            <a:r>
              <a:rPr lang="fr" sz="1200" dirty="0">
                <a:solidFill>
                  <a:srgbClr val="00FF00"/>
                </a:solidFill>
              </a:rPr>
              <a:t># option avec argument</a:t>
            </a:r>
            <a:endParaRPr sz="1200" dirty="0">
              <a:solidFill>
                <a:srgbClr val="00FF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/>
          <p:nvPr/>
        </p:nvSpPr>
        <p:spPr>
          <a:xfrm>
            <a:off x="0" y="655825"/>
            <a:ext cx="8797800" cy="38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" dirty="0" err="1"/>
              <a:t>Auto-completion</a:t>
            </a:r>
            <a:r>
              <a:rPr lang="fr" dirty="0"/>
              <a:t>  Tab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" b="1" dirty="0"/>
              <a:t>Votre répertoire home</a:t>
            </a:r>
            <a:r>
              <a:rPr lang="fr" dirty="0"/>
              <a:t> = “</a:t>
            </a:r>
            <a:r>
              <a:rPr lang="fr" b="1" dirty="0"/>
              <a:t>~</a:t>
            </a:r>
            <a:r>
              <a:rPr lang="fr" dirty="0"/>
              <a:t>”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" dirty="0"/>
              <a:t>Eviter les espaces et les </a:t>
            </a:r>
            <a:r>
              <a:rPr lang="fr" b="1" dirty="0"/>
              <a:t>caractères spéciaux (&amp;, @, ~, “, ‘, etc...)</a:t>
            </a:r>
            <a:r>
              <a:rPr lang="fr" dirty="0"/>
              <a:t> pour nommer vos fichiers </a:t>
            </a:r>
            <a:br>
              <a:rPr lang="fr" dirty="0"/>
            </a:br>
            <a:r>
              <a:rPr lang="fr" dirty="0"/>
              <a:t>mais plutôt des </a:t>
            </a:r>
            <a:r>
              <a:rPr lang="fr" b="1" dirty="0"/>
              <a:t>Lettres, Chiffres, Points (.), Tirets bas (_)</a:t>
            </a:r>
            <a:br>
              <a:rPr lang="fr" dirty="0"/>
            </a:br>
            <a:br>
              <a:rPr lang="fr" dirty="0"/>
            </a:br>
            <a:br>
              <a:rPr lang="fr" dirty="0"/>
            </a:br>
            <a:br>
              <a:rPr lang="fr" dirty="0"/>
            </a:br>
            <a:br>
              <a:rPr lang="fr" dirty="0"/>
            </a:b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0" name="Google Shape;150;p23"/>
          <p:cNvSpPr txBox="1"/>
          <p:nvPr/>
        </p:nvSpPr>
        <p:spPr>
          <a:xfrm>
            <a:off x="4847550" y="805600"/>
            <a:ext cx="4296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">
                <a:solidFill>
                  <a:schemeClr val="dk1"/>
                </a:solidFill>
              </a:rPr>
              <a:t>Dossier = Dossier/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">
                <a:solidFill>
                  <a:schemeClr val="dk1"/>
                </a:solidFill>
              </a:rPr>
              <a:t>Avoir de l’aide à propos d’une commande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1" name="Google Shape;151;p23"/>
          <p:cNvSpPr txBox="1">
            <a:spLocks noGrp="1"/>
          </p:cNvSpPr>
          <p:nvPr>
            <p:ph type="title"/>
          </p:nvPr>
        </p:nvSpPr>
        <p:spPr>
          <a:xfrm>
            <a:off x="0" y="-11925"/>
            <a:ext cx="9143700" cy="7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4000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Astuces</a:t>
            </a:r>
            <a:endParaRPr sz="4000" b="1" dirty="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3"/>
          <p:cNvSpPr/>
          <p:nvPr/>
        </p:nvSpPr>
        <p:spPr>
          <a:xfrm>
            <a:off x="0" y="665225"/>
            <a:ext cx="9143700" cy="41400"/>
          </a:xfrm>
          <a:prstGeom prst="rect">
            <a:avLst/>
          </a:prstGeom>
          <a:gradFill>
            <a:gsLst>
              <a:gs pos="0">
                <a:srgbClr val="CD0920"/>
              </a:gs>
              <a:gs pos="9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23"/>
          <p:cNvSpPr txBox="1">
            <a:spLocks noGrp="1"/>
          </p:cNvSpPr>
          <p:nvPr>
            <p:ph type="sldNum" idx="12"/>
          </p:nvPr>
        </p:nvSpPr>
        <p:spPr>
          <a:xfrm>
            <a:off x="8625000" y="4939350"/>
            <a:ext cx="519000" cy="2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5</a:t>
            </a:fld>
            <a:endParaRPr/>
          </a:p>
        </p:txBody>
      </p:sp>
      <p:sp>
        <p:nvSpPr>
          <p:cNvPr id="154" name="Google Shape;154;p23"/>
          <p:cNvSpPr txBox="1"/>
          <p:nvPr/>
        </p:nvSpPr>
        <p:spPr>
          <a:xfrm>
            <a:off x="5575625" y="1433250"/>
            <a:ext cx="3118800" cy="80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man ma_commande</a:t>
            </a:r>
            <a:endParaRPr b="1">
              <a:solidFill>
                <a:srgbClr val="00FF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ma_commande -h</a:t>
            </a:r>
            <a:endParaRPr b="1">
              <a:solidFill>
                <a:srgbClr val="00FF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ma_commande --help</a:t>
            </a:r>
            <a:endParaRPr b="1">
              <a:solidFill>
                <a:srgbClr val="00FF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5" name="Google Shape;155;p23"/>
          <p:cNvSpPr txBox="1"/>
          <p:nvPr/>
        </p:nvSpPr>
        <p:spPr>
          <a:xfrm>
            <a:off x="506000" y="1433250"/>
            <a:ext cx="3619800" cy="718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cd /home/bif/dossier</a:t>
            </a:r>
            <a:endParaRPr b="1">
              <a:solidFill>
                <a:srgbClr val="00FF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cd ~/dossier</a:t>
            </a:r>
            <a:endParaRPr b="1">
              <a:solidFill>
                <a:srgbClr val="00FF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cd ~/dossier/</a:t>
            </a:r>
            <a:endParaRPr b="1">
              <a:solidFill>
                <a:srgbClr val="00FF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6" name="Google Shape;156;p23"/>
          <p:cNvSpPr txBox="1"/>
          <p:nvPr/>
        </p:nvSpPr>
        <p:spPr>
          <a:xfrm>
            <a:off x="506000" y="3605075"/>
            <a:ext cx="3619800" cy="640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nom de fichier.txt</a:t>
            </a:r>
            <a:endParaRPr b="1">
              <a:solidFill>
                <a:srgbClr val="00FF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nom_de_fichier%$&amp;.txt</a:t>
            </a:r>
            <a:endParaRPr b="1">
              <a:solidFill>
                <a:srgbClr val="00FF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7" name="Google Shape;157;p23"/>
          <p:cNvSpPr txBox="1"/>
          <p:nvPr/>
        </p:nvSpPr>
        <p:spPr>
          <a:xfrm>
            <a:off x="5575625" y="3605075"/>
            <a:ext cx="3118800" cy="88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nom_de_fichier.txt</a:t>
            </a:r>
            <a:endParaRPr b="1">
              <a:solidFill>
                <a:srgbClr val="00FF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nom_de_fichier_2.txt</a:t>
            </a:r>
            <a:endParaRPr b="1">
              <a:solidFill>
                <a:srgbClr val="00FF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NomDeFichier.txt</a:t>
            </a:r>
            <a:endParaRPr b="1">
              <a:solidFill>
                <a:srgbClr val="00FF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Nom.De.Fichier.txt</a:t>
            </a:r>
            <a:endParaRPr b="1">
              <a:solidFill>
                <a:srgbClr val="00FF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8" name="Google Shape;158;p23"/>
          <p:cNvSpPr/>
          <p:nvPr/>
        </p:nvSpPr>
        <p:spPr>
          <a:xfrm>
            <a:off x="5114694" y="3806675"/>
            <a:ext cx="479400" cy="479400"/>
          </a:xfrm>
          <a:prstGeom prst="smileyFace">
            <a:avLst>
              <a:gd name="adj" fmla="val 4653"/>
            </a:avLst>
          </a:prstGeom>
          <a:solidFill>
            <a:srgbClr val="FFD966"/>
          </a:solidFill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9900"/>
              </a:solidFill>
            </a:endParaRPr>
          </a:p>
        </p:txBody>
      </p:sp>
      <p:sp>
        <p:nvSpPr>
          <p:cNvPr id="159" name="Google Shape;159;p23"/>
          <p:cNvSpPr/>
          <p:nvPr/>
        </p:nvSpPr>
        <p:spPr>
          <a:xfrm>
            <a:off x="72759" y="3685484"/>
            <a:ext cx="479400" cy="479400"/>
          </a:xfrm>
          <a:prstGeom prst="smileyFace">
            <a:avLst>
              <a:gd name="adj" fmla="val -4653"/>
            </a:avLst>
          </a:prstGeom>
          <a:solidFill>
            <a:srgbClr val="FFD966"/>
          </a:solidFill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9900"/>
              </a:solidFill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7B6DC8A8-D58B-9B1B-B213-EC97033655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3" t="26674" r="77971" b="32943"/>
          <a:stretch/>
        </p:blipFill>
        <p:spPr bwMode="auto">
          <a:xfrm>
            <a:off x="3011957" y="18481"/>
            <a:ext cx="1559893" cy="1376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4"/>
          <p:cNvSpPr txBox="1">
            <a:spLocks noGrp="1"/>
          </p:cNvSpPr>
          <p:nvPr>
            <p:ph type="title"/>
          </p:nvPr>
        </p:nvSpPr>
        <p:spPr>
          <a:xfrm>
            <a:off x="0" y="-11925"/>
            <a:ext cx="9143700" cy="7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40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Connexion</a:t>
            </a:r>
            <a:endParaRPr sz="4000" b="1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4"/>
          <p:cNvSpPr/>
          <p:nvPr/>
        </p:nvSpPr>
        <p:spPr>
          <a:xfrm>
            <a:off x="0" y="665225"/>
            <a:ext cx="9143700" cy="41400"/>
          </a:xfrm>
          <a:prstGeom prst="rect">
            <a:avLst/>
          </a:prstGeom>
          <a:gradFill>
            <a:gsLst>
              <a:gs pos="0">
                <a:srgbClr val="CD0920"/>
              </a:gs>
              <a:gs pos="9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24"/>
          <p:cNvSpPr txBox="1"/>
          <p:nvPr/>
        </p:nvSpPr>
        <p:spPr>
          <a:xfrm>
            <a:off x="897175" y="906200"/>
            <a:ext cx="7497888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fr" sz="1800" dirty="0"/>
              <a:t>Se connecter au portail </a:t>
            </a:r>
            <a:r>
              <a:rPr lang="fr-CA" sz="1800" b="1" dirty="0"/>
              <a:t>https://bif-</a:t>
            </a:r>
            <a:r>
              <a:rPr lang="fr-CA" sz="1800" b="1" dirty="0" err="1"/>
              <a:t>jupyterhub.compbio.ulaval.ca</a:t>
            </a:r>
            <a:r>
              <a:rPr lang="fr-CA" sz="1800" b="1" dirty="0"/>
              <a:t>/</a:t>
            </a:r>
            <a:endParaRPr sz="1800" b="1" dirty="0"/>
          </a:p>
        </p:txBody>
      </p:sp>
      <p:pic>
        <p:nvPicPr>
          <p:cNvPr id="167" name="Google Shape;16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575" y="1509750"/>
            <a:ext cx="2516722" cy="180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4"/>
          <p:cNvPicPr preferRelativeResize="0"/>
          <p:nvPr/>
        </p:nvPicPr>
        <p:blipFill rotWithShape="1">
          <a:blip r:embed="rId4">
            <a:alphaModFix/>
          </a:blip>
          <a:srcRect t="12975" r="1931" b="58657"/>
          <a:stretch/>
        </p:blipFill>
        <p:spPr>
          <a:xfrm>
            <a:off x="46675" y="3712175"/>
            <a:ext cx="8967526" cy="131127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4"/>
          <p:cNvSpPr txBox="1"/>
          <p:nvPr/>
        </p:nvSpPr>
        <p:spPr>
          <a:xfrm>
            <a:off x="278575" y="900438"/>
            <a:ext cx="618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 b="1">
                <a:solidFill>
                  <a:srgbClr val="FF0000"/>
                </a:solidFill>
              </a:rPr>
              <a:t>1)</a:t>
            </a:r>
            <a:endParaRPr sz="1800" b="1">
              <a:solidFill>
                <a:srgbClr val="FF0000"/>
              </a:solidFill>
            </a:endParaRPr>
          </a:p>
        </p:txBody>
      </p:sp>
      <p:sp>
        <p:nvSpPr>
          <p:cNvPr id="170" name="Google Shape;170;p24"/>
          <p:cNvSpPr txBox="1"/>
          <p:nvPr/>
        </p:nvSpPr>
        <p:spPr>
          <a:xfrm>
            <a:off x="2841125" y="1509738"/>
            <a:ext cx="618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 b="1">
                <a:solidFill>
                  <a:srgbClr val="FF0000"/>
                </a:solidFill>
              </a:rPr>
              <a:t>2)</a:t>
            </a:r>
            <a:endParaRPr sz="1800" b="1">
              <a:solidFill>
                <a:srgbClr val="FF0000"/>
              </a:solidFill>
            </a:endParaRPr>
          </a:p>
        </p:txBody>
      </p:sp>
      <p:sp>
        <p:nvSpPr>
          <p:cNvPr id="171" name="Google Shape;171;p24"/>
          <p:cNvSpPr txBox="1"/>
          <p:nvPr/>
        </p:nvSpPr>
        <p:spPr>
          <a:xfrm>
            <a:off x="278575" y="3273863"/>
            <a:ext cx="618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 b="1">
                <a:solidFill>
                  <a:srgbClr val="FF0000"/>
                </a:solidFill>
              </a:rPr>
              <a:t>3)</a:t>
            </a:r>
            <a:endParaRPr sz="1800" b="1">
              <a:solidFill>
                <a:srgbClr val="FF0000"/>
              </a:solidFill>
            </a:endParaRPr>
          </a:p>
        </p:txBody>
      </p:sp>
      <p:sp>
        <p:nvSpPr>
          <p:cNvPr id="172" name="Google Shape;172;p24"/>
          <p:cNvSpPr txBox="1">
            <a:spLocks noGrp="1"/>
          </p:cNvSpPr>
          <p:nvPr>
            <p:ph type="sldNum" idx="12"/>
          </p:nvPr>
        </p:nvSpPr>
        <p:spPr>
          <a:xfrm>
            <a:off x="8625000" y="4939350"/>
            <a:ext cx="519000" cy="2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6</a:t>
            </a:fld>
            <a:endParaRPr/>
          </a:p>
        </p:txBody>
      </p:sp>
      <p:pic>
        <p:nvPicPr>
          <p:cNvPr id="173" name="Google Shape;173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64525" y="1467950"/>
            <a:ext cx="4359524" cy="206161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4"/>
          <p:cNvSpPr/>
          <p:nvPr/>
        </p:nvSpPr>
        <p:spPr>
          <a:xfrm>
            <a:off x="6660000" y="2075966"/>
            <a:ext cx="1408800" cy="1938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Picture 2" descr="Project Jupyter - Wikipedia">
            <a:extLst>
              <a:ext uri="{FF2B5EF4-FFF2-40B4-BE49-F238E27FC236}">
                <a16:creationId xmlns:a16="http://schemas.microsoft.com/office/drawing/2014/main" id="{131480BE-257A-3147-238E-02A9B4DC2E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6537" y="53196"/>
            <a:ext cx="899378" cy="1042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CCCC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5"/>
          <p:cNvSpPr txBox="1">
            <a:spLocks noGrp="1"/>
          </p:cNvSpPr>
          <p:nvPr>
            <p:ph type="sldNum" idx="12"/>
          </p:nvPr>
        </p:nvSpPr>
        <p:spPr>
          <a:xfrm>
            <a:off x="8625000" y="4939350"/>
            <a:ext cx="519000" cy="2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7</a:t>
            </a:fld>
            <a:endParaRPr/>
          </a:p>
        </p:txBody>
      </p:sp>
      <p:grpSp>
        <p:nvGrpSpPr>
          <p:cNvPr id="180" name="Google Shape;180;p25"/>
          <p:cNvGrpSpPr/>
          <p:nvPr/>
        </p:nvGrpSpPr>
        <p:grpSpPr>
          <a:xfrm>
            <a:off x="387862" y="220776"/>
            <a:ext cx="8328784" cy="968148"/>
            <a:chOff x="420923" y="155682"/>
            <a:chExt cx="8328784" cy="1131939"/>
          </a:xfrm>
        </p:grpSpPr>
        <p:grpSp>
          <p:nvGrpSpPr>
            <p:cNvPr id="181" name="Google Shape;181;p25"/>
            <p:cNvGrpSpPr/>
            <p:nvPr/>
          </p:nvGrpSpPr>
          <p:grpSpPr>
            <a:xfrm>
              <a:off x="3502704" y="228136"/>
              <a:ext cx="5247003" cy="987034"/>
              <a:chOff x="809518" y="2237172"/>
              <a:chExt cx="5859300" cy="1203407"/>
            </a:xfrm>
          </p:grpSpPr>
          <p:sp>
            <p:nvSpPr>
              <p:cNvPr id="182" name="Google Shape;182;p25"/>
              <p:cNvSpPr/>
              <p:nvPr/>
            </p:nvSpPr>
            <p:spPr>
              <a:xfrm>
                <a:off x="809518" y="2237279"/>
                <a:ext cx="5859300" cy="12033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19050" cap="flat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25"/>
              <p:cNvSpPr txBox="1"/>
              <p:nvPr/>
            </p:nvSpPr>
            <p:spPr>
              <a:xfrm>
                <a:off x="809518" y="2237172"/>
                <a:ext cx="5859300" cy="120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1260000" lvl="0" indent="-3175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SzPts val="1400"/>
                  <a:buAutoNum type="arabicPeriod"/>
                </a:pPr>
                <a:r>
                  <a:rPr lang="fr"/>
                  <a:t>GUI / CLI</a:t>
                </a:r>
                <a:endParaRPr/>
              </a:p>
              <a:p>
                <a:pPr marL="1260000" lvl="0" indent="-3175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SzPts val="1400"/>
                  <a:buAutoNum type="arabicPeriod"/>
                </a:pPr>
                <a:r>
                  <a:rPr lang="fr"/>
                  <a:t>Anatomie d’une ligne de commande et Astuces</a:t>
                </a:r>
                <a:endParaRPr/>
              </a:p>
              <a:p>
                <a:pPr marL="1260000" lvl="0" indent="-3175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SzPts val="1400"/>
                  <a:buAutoNum type="arabicPeriod"/>
                </a:pPr>
                <a:r>
                  <a:rPr lang="fr"/>
                  <a:t>Mise en route</a:t>
                </a:r>
                <a:endParaRPr/>
              </a:p>
            </p:txBody>
          </p:sp>
        </p:grpSp>
        <p:grpSp>
          <p:nvGrpSpPr>
            <p:cNvPr id="184" name="Google Shape;184;p25"/>
            <p:cNvGrpSpPr/>
            <p:nvPr/>
          </p:nvGrpSpPr>
          <p:grpSpPr>
            <a:xfrm>
              <a:off x="420923" y="155682"/>
              <a:ext cx="3412503" cy="1131939"/>
              <a:chOff x="1081650" y="533375"/>
              <a:chExt cx="6885600" cy="694825"/>
            </a:xfrm>
          </p:grpSpPr>
          <p:sp>
            <p:nvSpPr>
              <p:cNvPr id="185" name="Google Shape;185;p25"/>
              <p:cNvSpPr/>
              <p:nvPr/>
            </p:nvSpPr>
            <p:spPr>
              <a:xfrm>
                <a:off x="1098450" y="533400"/>
                <a:ext cx="6852000" cy="694800"/>
              </a:xfrm>
              <a:prstGeom prst="roundRect">
                <a:avLst>
                  <a:gd name="adj" fmla="val 16667"/>
                </a:avLst>
              </a:prstGeom>
              <a:solidFill>
                <a:srgbClr val="C00000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186" name="Google Shape;186;p25"/>
              <p:cNvSpPr txBox="1"/>
              <p:nvPr/>
            </p:nvSpPr>
            <p:spPr>
              <a:xfrm>
                <a:off x="1081650" y="533375"/>
                <a:ext cx="6885600" cy="6948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" sz="2800" b="1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Introduction</a:t>
                </a:r>
                <a:endParaRPr sz="28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87" name="Google Shape;187;p25"/>
          <p:cNvGrpSpPr/>
          <p:nvPr/>
        </p:nvGrpSpPr>
        <p:grpSpPr>
          <a:xfrm>
            <a:off x="387862" y="1465376"/>
            <a:ext cx="8328791" cy="968148"/>
            <a:chOff x="420923" y="155682"/>
            <a:chExt cx="8328791" cy="1131939"/>
          </a:xfrm>
        </p:grpSpPr>
        <p:grpSp>
          <p:nvGrpSpPr>
            <p:cNvPr id="188" name="Google Shape;188;p25"/>
            <p:cNvGrpSpPr/>
            <p:nvPr/>
          </p:nvGrpSpPr>
          <p:grpSpPr>
            <a:xfrm>
              <a:off x="3502704" y="228141"/>
              <a:ext cx="5247010" cy="987029"/>
              <a:chOff x="809518" y="2237179"/>
              <a:chExt cx="5859308" cy="1203400"/>
            </a:xfrm>
          </p:grpSpPr>
          <p:sp>
            <p:nvSpPr>
              <p:cNvPr id="189" name="Google Shape;189;p25"/>
              <p:cNvSpPr/>
              <p:nvPr/>
            </p:nvSpPr>
            <p:spPr>
              <a:xfrm>
                <a:off x="809518" y="2237279"/>
                <a:ext cx="5859300" cy="12033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19050" cap="flat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Google Shape;190;p25"/>
              <p:cNvSpPr txBox="1"/>
              <p:nvPr/>
            </p:nvSpPr>
            <p:spPr>
              <a:xfrm>
                <a:off x="809526" y="2237179"/>
                <a:ext cx="5859300" cy="120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1260000" lvl="0" indent="-304800">
                  <a:buSzPts val="1200"/>
                  <a:buAutoNum type="arabicPeriod"/>
                </a:pPr>
                <a:r>
                  <a:rPr lang="fr-CA" sz="1200" dirty="0"/>
                  <a:t>Structure de l’arborescence</a:t>
                </a:r>
              </a:p>
              <a:p>
                <a:pPr marL="1260000" lvl="0" indent="-304800">
                  <a:buSzPts val="1200"/>
                  <a:buAutoNum type="arabicPeriod"/>
                </a:pPr>
                <a:r>
                  <a:rPr lang="fr-CA" sz="1200" dirty="0"/>
                  <a:t>Chemins relatifs et absolus</a:t>
                </a:r>
              </a:p>
              <a:p>
                <a:pPr marL="1260000" lvl="0" indent="-304800">
                  <a:buSzPts val="1200"/>
                  <a:buAutoNum type="arabicPeriod"/>
                </a:pPr>
                <a:r>
                  <a:rPr lang="fr-CA" sz="1200" dirty="0"/>
                  <a:t>Commandes utiles : Déplacement             </a:t>
                </a:r>
                <a:r>
                  <a:rPr lang="fr-CA" sz="1200" b="1" dirty="0">
                    <a:solidFill>
                      <a:srgbClr val="C00000"/>
                    </a:solidFill>
                  </a:rPr>
                  <a:t>Exercice 1</a:t>
                </a:r>
              </a:p>
              <a:p>
                <a:pPr marL="1260000" lvl="0" indent="-304800">
                  <a:buSzPts val="1200"/>
                  <a:buAutoNum type="arabicPeriod"/>
                </a:pPr>
                <a:r>
                  <a:rPr lang="fr-CA" sz="1200" dirty="0" err="1"/>
                  <a:t>Métacaractères</a:t>
                </a:r>
                <a:r>
                  <a:rPr lang="fr-CA" sz="1200" dirty="0"/>
                  <a:t>		          </a:t>
                </a:r>
                <a:r>
                  <a:rPr lang="fr-CA" sz="1200" b="1" dirty="0">
                    <a:solidFill>
                      <a:srgbClr val="C00000"/>
                    </a:solidFill>
                  </a:rPr>
                  <a:t>Exercice 2</a:t>
                </a:r>
              </a:p>
            </p:txBody>
          </p:sp>
        </p:grpSp>
        <p:grpSp>
          <p:nvGrpSpPr>
            <p:cNvPr id="191" name="Google Shape;191;p25"/>
            <p:cNvGrpSpPr/>
            <p:nvPr/>
          </p:nvGrpSpPr>
          <p:grpSpPr>
            <a:xfrm>
              <a:off x="420923" y="155682"/>
              <a:ext cx="3412503" cy="1131939"/>
              <a:chOff x="1081650" y="533375"/>
              <a:chExt cx="6885600" cy="694825"/>
            </a:xfrm>
          </p:grpSpPr>
          <p:sp>
            <p:nvSpPr>
              <p:cNvPr id="192" name="Google Shape;192;p25"/>
              <p:cNvSpPr/>
              <p:nvPr/>
            </p:nvSpPr>
            <p:spPr>
              <a:xfrm>
                <a:off x="1098450" y="533400"/>
                <a:ext cx="6852000" cy="694800"/>
              </a:xfrm>
              <a:prstGeom prst="roundRect">
                <a:avLst>
                  <a:gd name="adj" fmla="val 16667"/>
                </a:avLst>
              </a:prstGeom>
              <a:solidFill>
                <a:srgbClr val="C00000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193" name="Google Shape;193;p25"/>
              <p:cNvSpPr txBox="1"/>
              <p:nvPr/>
            </p:nvSpPr>
            <p:spPr>
              <a:xfrm>
                <a:off x="1081650" y="533375"/>
                <a:ext cx="6885600" cy="6948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" sz="2800" b="1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I. Système de fichier</a:t>
                </a:r>
                <a:endParaRPr sz="28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94" name="Google Shape;194;p25"/>
          <p:cNvGrpSpPr/>
          <p:nvPr/>
        </p:nvGrpSpPr>
        <p:grpSpPr>
          <a:xfrm>
            <a:off x="387862" y="2709976"/>
            <a:ext cx="8368276" cy="968148"/>
            <a:chOff x="420923" y="155682"/>
            <a:chExt cx="8368276" cy="1131939"/>
          </a:xfrm>
        </p:grpSpPr>
        <p:grpSp>
          <p:nvGrpSpPr>
            <p:cNvPr id="195" name="Google Shape;195;p25"/>
            <p:cNvGrpSpPr/>
            <p:nvPr/>
          </p:nvGrpSpPr>
          <p:grpSpPr>
            <a:xfrm>
              <a:off x="3502704" y="228136"/>
              <a:ext cx="5286495" cy="987034"/>
              <a:chOff x="809518" y="2237172"/>
              <a:chExt cx="5903400" cy="1203407"/>
            </a:xfrm>
          </p:grpSpPr>
          <p:sp>
            <p:nvSpPr>
              <p:cNvPr id="196" name="Google Shape;196;p25"/>
              <p:cNvSpPr/>
              <p:nvPr/>
            </p:nvSpPr>
            <p:spPr>
              <a:xfrm>
                <a:off x="809518" y="2237279"/>
                <a:ext cx="5903400" cy="12033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19050" cap="flat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25"/>
              <p:cNvSpPr txBox="1"/>
              <p:nvPr/>
            </p:nvSpPr>
            <p:spPr>
              <a:xfrm>
                <a:off x="809518" y="2237172"/>
                <a:ext cx="5859300" cy="120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1260000" lvl="0" indent="-317500">
                  <a:lnSpc>
                    <a:spcPct val="115000"/>
                  </a:lnSpc>
                  <a:buSzPts val="1400"/>
                  <a:buAutoNum type="arabicPeriod"/>
                </a:pPr>
                <a:r>
                  <a:rPr lang="fr-CA" sz="1200" dirty="0"/>
                  <a:t>Commandes utiles	 : Manipulation  </a:t>
                </a:r>
                <a:r>
                  <a:rPr lang="fr-CA" sz="1200" b="1" dirty="0">
                    <a:solidFill>
                      <a:srgbClr val="C00000"/>
                    </a:solidFill>
                  </a:rPr>
                  <a:t>Exercice 3</a:t>
                </a:r>
                <a:endParaRPr lang="fr-CA" sz="1200" dirty="0">
                  <a:solidFill>
                    <a:srgbClr val="C00000"/>
                  </a:solidFill>
                </a:endParaRPr>
              </a:p>
              <a:p>
                <a:pPr marL="1260000" lvl="0" indent="-317500">
                  <a:lnSpc>
                    <a:spcPct val="115000"/>
                  </a:lnSpc>
                  <a:buSzPts val="1400"/>
                  <a:buAutoNum type="arabicPeriod"/>
                </a:pPr>
                <a:r>
                  <a:rPr lang="fr-CA" sz="1200" dirty="0"/>
                  <a:t>Gestion des flux		       </a:t>
                </a:r>
                <a:r>
                  <a:rPr lang="fr-CA" sz="1200" b="1" dirty="0">
                    <a:solidFill>
                      <a:srgbClr val="C00000"/>
                    </a:solidFill>
                  </a:rPr>
                  <a:t>Exercice 4 		                             Exercice 5</a:t>
                </a:r>
              </a:p>
            </p:txBody>
          </p:sp>
        </p:grpSp>
        <p:grpSp>
          <p:nvGrpSpPr>
            <p:cNvPr id="198" name="Google Shape;198;p25"/>
            <p:cNvGrpSpPr/>
            <p:nvPr/>
          </p:nvGrpSpPr>
          <p:grpSpPr>
            <a:xfrm>
              <a:off x="420923" y="155682"/>
              <a:ext cx="3412503" cy="1131939"/>
              <a:chOff x="1081650" y="533375"/>
              <a:chExt cx="6885600" cy="694825"/>
            </a:xfrm>
          </p:grpSpPr>
          <p:sp>
            <p:nvSpPr>
              <p:cNvPr id="199" name="Google Shape;199;p25"/>
              <p:cNvSpPr/>
              <p:nvPr/>
            </p:nvSpPr>
            <p:spPr>
              <a:xfrm>
                <a:off x="1098450" y="533400"/>
                <a:ext cx="6852000" cy="694800"/>
              </a:xfrm>
              <a:prstGeom prst="roundRect">
                <a:avLst>
                  <a:gd name="adj" fmla="val 16667"/>
                </a:avLst>
              </a:prstGeom>
              <a:solidFill>
                <a:srgbClr val="C00000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200" name="Google Shape;200;p25"/>
              <p:cNvSpPr txBox="1"/>
              <p:nvPr/>
            </p:nvSpPr>
            <p:spPr>
              <a:xfrm>
                <a:off x="1081650" y="533375"/>
                <a:ext cx="6885600" cy="6948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" sz="2300" b="1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II. Manipulation de fichier</a:t>
                </a:r>
                <a:endParaRPr sz="23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01" name="Google Shape;201;p25"/>
          <p:cNvGrpSpPr/>
          <p:nvPr/>
        </p:nvGrpSpPr>
        <p:grpSpPr>
          <a:xfrm>
            <a:off x="387862" y="3954576"/>
            <a:ext cx="8368276" cy="968148"/>
            <a:chOff x="420923" y="155682"/>
            <a:chExt cx="8368276" cy="1131939"/>
          </a:xfrm>
        </p:grpSpPr>
        <p:grpSp>
          <p:nvGrpSpPr>
            <p:cNvPr id="202" name="Google Shape;202;p25"/>
            <p:cNvGrpSpPr/>
            <p:nvPr/>
          </p:nvGrpSpPr>
          <p:grpSpPr>
            <a:xfrm>
              <a:off x="3502704" y="228136"/>
              <a:ext cx="5286495" cy="987034"/>
              <a:chOff x="809518" y="2237172"/>
              <a:chExt cx="5903400" cy="1203407"/>
            </a:xfrm>
          </p:grpSpPr>
          <p:sp>
            <p:nvSpPr>
              <p:cNvPr id="203" name="Google Shape;203;p25"/>
              <p:cNvSpPr/>
              <p:nvPr/>
            </p:nvSpPr>
            <p:spPr>
              <a:xfrm>
                <a:off x="809518" y="2237279"/>
                <a:ext cx="5859300" cy="12033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19050" cap="flat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204;p25"/>
              <p:cNvSpPr txBox="1"/>
              <p:nvPr/>
            </p:nvSpPr>
            <p:spPr>
              <a:xfrm>
                <a:off x="809518" y="2237172"/>
                <a:ext cx="5903400" cy="120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1260000" lvl="0" indent="-317500">
                  <a:lnSpc>
                    <a:spcPct val="115000"/>
                  </a:lnSpc>
                  <a:buSzPts val="1400"/>
                  <a:buAutoNum type="arabicPeriod"/>
                </a:pPr>
                <a:r>
                  <a:rPr lang="fr-CA" sz="1200" dirty="0"/>
                  <a:t>Structure d’un script		</a:t>
                </a:r>
                <a:endParaRPr lang="fr-CA" sz="1100" b="1" dirty="0"/>
              </a:p>
              <a:p>
                <a:pPr marL="1260000" lvl="0" indent="-317500">
                  <a:lnSpc>
                    <a:spcPct val="115000"/>
                  </a:lnSpc>
                  <a:buSzPts val="1400"/>
                  <a:buAutoNum type="arabicPeriod"/>
                </a:pPr>
                <a:r>
                  <a:rPr lang="fr-CA" sz="1200" dirty="0"/>
                  <a:t>Exécuter un script		      </a:t>
                </a:r>
                <a:r>
                  <a:rPr lang="fr-CA" sz="1100" b="1" dirty="0">
                    <a:solidFill>
                      <a:srgbClr val="C00000"/>
                    </a:solidFill>
                  </a:rPr>
                  <a:t>Exercice 6</a:t>
                </a:r>
              </a:p>
            </p:txBody>
          </p:sp>
        </p:grpSp>
        <p:grpSp>
          <p:nvGrpSpPr>
            <p:cNvPr id="205" name="Google Shape;205;p25"/>
            <p:cNvGrpSpPr/>
            <p:nvPr/>
          </p:nvGrpSpPr>
          <p:grpSpPr>
            <a:xfrm>
              <a:off x="420923" y="155682"/>
              <a:ext cx="3412503" cy="1131939"/>
              <a:chOff x="1081650" y="533375"/>
              <a:chExt cx="6885600" cy="694825"/>
            </a:xfrm>
          </p:grpSpPr>
          <p:sp>
            <p:nvSpPr>
              <p:cNvPr id="206" name="Google Shape;206;p25"/>
              <p:cNvSpPr/>
              <p:nvPr/>
            </p:nvSpPr>
            <p:spPr>
              <a:xfrm>
                <a:off x="1098450" y="533400"/>
                <a:ext cx="6852000" cy="694800"/>
              </a:xfrm>
              <a:prstGeom prst="roundRect">
                <a:avLst>
                  <a:gd name="adj" fmla="val 16667"/>
                </a:avLst>
              </a:prstGeom>
              <a:solidFill>
                <a:srgbClr val="C00000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207" name="Google Shape;207;p25"/>
              <p:cNvSpPr txBox="1"/>
              <p:nvPr/>
            </p:nvSpPr>
            <p:spPr>
              <a:xfrm>
                <a:off x="1081650" y="533375"/>
                <a:ext cx="6885600" cy="6948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" sz="2800" b="1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III.	Scripts</a:t>
                </a:r>
                <a:endParaRPr sz="28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08" name="Google Shape;208;p25"/>
          <p:cNvSpPr/>
          <p:nvPr/>
        </p:nvSpPr>
        <p:spPr>
          <a:xfrm>
            <a:off x="148050" y="2557244"/>
            <a:ext cx="8847900" cy="2471100"/>
          </a:xfrm>
          <a:prstGeom prst="roundRect">
            <a:avLst>
              <a:gd name="adj" fmla="val 6945"/>
            </a:avLst>
          </a:prstGeom>
          <a:solidFill>
            <a:srgbClr val="F4CCCC">
              <a:alpha val="893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25"/>
          <p:cNvSpPr/>
          <p:nvPr/>
        </p:nvSpPr>
        <p:spPr>
          <a:xfrm>
            <a:off x="0" y="129107"/>
            <a:ext cx="8847900" cy="1221600"/>
          </a:xfrm>
          <a:prstGeom prst="roundRect">
            <a:avLst>
              <a:gd name="adj" fmla="val 6945"/>
            </a:avLst>
          </a:prstGeom>
          <a:solidFill>
            <a:srgbClr val="F4CCCC">
              <a:alpha val="893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6"/>
          <p:cNvSpPr txBox="1">
            <a:spLocks noGrp="1"/>
          </p:cNvSpPr>
          <p:nvPr>
            <p:ph type="title"/>
          </p:nvPr>
        </p:nvSpPr>
        <p:spPr>
          <a:xfrm>
            <a:off x="0" y="-11925"/>
            <a:ext cx="9143700" cy="7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40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Arborescence</a:t>
            </a:r>
            <a:endParaRPr sz="4000" b="1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6"/>
          <p:cNvSpPr/>
          <p:nvPr/>
        </p:nvSpPr>
        <p:spPr>
          <a:xfrm>
            <a:off x="0" y="665225"/>
            <a:ext cx="9143700" cy="41400"/>
          </a:xfrm>
          <a:prstGeom prst="rect">
            <a:avLst/>
          </a:prstGeom>
          <a:gradFill>
            <a:gsLst>
              <a:gs pos="0">
                <a:srgbClr val="CD0920"/>
              </a:gs>
              <a:gs pos="9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26"/>
          <p:cNvSpPr txBox="1"/>
          <p:nvPr/>
        </p:nvSpPr>
        <p:spPr>
          <a:xfrm>
            <a:off x="383250" y="787225"/>
            <a:ext cx="5121900" cy="3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Plusieurs types de fichiers (tout est fichier !)</a:t>
            </a:r>
            <a:endParaRPr/>
          </a:p>
        </p:txBody>
      </p:sp>
      <p:sp>
        <p:nvSpPr>
          <p:cNvPr id="217" name="Google Shape;217;p26"/>
          <p:cNvSpPr txBox="1"/>
          <p:nvPr/>
        </p:nvSpPr>
        <p:spPr>
          <a:xfrm>
            <a:off x="383250" y="2616025"/>
            <a:ext cx="7267500" cy="7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Tout fichier est accessible par un chemin (</a:t>
            </a:r>
            <a:r>
              <a:rPr lang="fr" i="1"/>
              <a:t>path</a:t>
            </a:r>
            <a:r>
              <a:rPr lang="fr"/>
              <a:t>) </a:t>
            </a:r>
            <a:endParaRPr/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dont le point d’origine est la racine (</a:t>
            </a:r>
            <a:r>
              <a:rPr lang="fr" b="1"/>
              <a:t>/</a:t>
            </a:r>
            <a:r>
              <a:rPr lang="fr"/>
              <a:t>, barre oblique, slash, </a:t>
            </a:r>
            <a:r>
              <a:rPr lang="fr" i="1"/>
              <a:t>root</a:t>
            </a:r>
            <a:r>
              <a:rPr lang="fr"/>
              <a:t>)</a:t>
            </a:r>
            <a:endParaRPr/>
          </a:p>
        </p:txBody>
      </p:sp>
      <p:pic>
        <p:nvPicPr>
          <p:cNvPr id="218" name="Google Shape;218;p26"/>
          <p:cNvPicPr preferRelativeResize="0"/>
          <p:nvPr/>
        </p:nvPicPr>
        <p:blipFill rotWithShape="1">
          <a:blip r:embed="rId3">
            <a:alphaModFix/>
          </a:blip>
          <a:srcRect r="30250"/>
          <a:stretch/>
        </p:blipFill>
        <p:spPr>
          <a:xfrm>
            <a:off x="1058300" y="1195150"/>
            <a:ext cx="7027398" cy="12784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6"/>
          <p:cNvPicPr preferRelativeResize="0"/>
          <p:nvPr/>
        </p:nvPicPr>
        <p:blipFill rotWithShape="1">
          <a:blip r:embed="rId4">
            <a:alphaModFix/>
          </a:blip>
          <a:srcRect r="25738" b="13449"/>
          <a:stretch/>
        </p:blipFill>
        <p:spPr>
          <a:xfrm>
            <a:off x="1058300" y="3256650"/>
            <a:ext cx="7027399" cy="173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6"/>
          <p:cNvPicPr preferRelativeResize="0"/>
          <p:nvPr/>
        </p:nvPicPr>
        <p:blipFill rotWithShape="1">
          <a:blip r:embed="rId5">
            <a:alphaModFix/>
          </a:blip>
          <a:srcRect r="6620"/>
          <a:stretch/>
        </p:blipFill>
        <p:spPr>
          <a:xfrm>
            <a:off x="6876550" y="3106825"/>
            <a:ext cx="2000600" cy="194642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21" name="Google Shape;221;p26"/>
          <p:cNvSpPr txBox="1">
            <a:spLocks noGrp="1"/>
          </p:cNvSpPr>
          <p:nvPr>
            <p:ph type="sldNum" idx="12"/>
          </p:nvPr>
        </p:nvSpPr>
        <p:spPr>
          <a:xfrm>
            <a:off x="8625000" y="4939350"/>
            <a:ext cx="519000" cy="2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7"/>
          <p:cNvSpPr txBox="1">
            <a:spLocks noGrp="1"/>
          </p:cNvSpPr>
          <p:nvPr>
            <p:ph type="title"/>
          </p:nvPr>
        </p:nvSpPr>
        <p:spPr>
          <a:xfrm>
            <a:off x="0" y="-11925"/>
            <a:ext cx="9143700" cy="7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40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Chemin absolu et relatif</a:t>
            </a:r>
            <a:endParaRPr sz="4000" b="1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7"/>
          <p:cNvSpPr/>
          <p:nvPr/>
        </p:nvSpPr>
        <p:spPr>
          <a:xfrm>
            <a:off x="0" y="665225"/>
            <a:ext cx="9143700" cy="41400"/>
          </a:xfrm>
          <a:prstGeom prst="rect">
            <a:avLst/>
          </a:prstGeom>
          <a:gradFill>
            <a:gsLst>
              <a:gs pos="0">
                <a:srgbClr val="CD0920"/>
              </a:gs>
              <a:gs pos="9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27"/>
          <p:cNvSpPr txBox="1">
            <a:spLocks noGrp="1"/>
          </p:cNvSpPr>
          <p:nvPr>
            <p:ph type="sldNum" idx="12"/>
          </p:nvPr>
        </p:nvSpPr>
        <p:spPr>
          <a:xfrm>
            <a:off x="8625000" y="4939350"/>
            <a:ext cx="519000" cy="2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9</a:t>
            </a:fld>
            <a:endParaRPr/>
          </a:p>
        </p:txBody>
      </p:sp>
      <p:cxnSp>
        <p:nvCxnSpPr>
          <p:cNvPr id="229" name="Google Shape;229;p27"/>
          <p:cNvCxnSpPr>
            <a:stCxn id="230" idx="2"/>
            <a:endCxn id="231" idx="0"/>
          </p:cNvCxnSpPr>
          <p:nvPr/>
        </p:nvCxnSpPr>
        <p:spPr>
          <a:xfrm flipH="1">
            <a:off x="5638000" y="1807000"/>
            <a:ext cx="11067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2" name="Google Shape;232;p27"/>
          <p:cNvCxnSpPr>
            <a:stCxn id="230" idx="2"/>
            <a:endCxn id="233" idx="0"/>
          </p:cNvCxnSpPr>
          <p:nvPr/>
        </p:nvCxnSpPr>
        <p:spPr>
          <a:xfrm flipH="1">
            <a:off x="6511000" y="1807000"/>
            <a:ext cx="2337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4" name="Google Shape;234;p27"/>
          <p:cNvCxnSpPr>
            <a:stCxn id="230" idx="2"/>
            <a:endCxn id="235" idx="0"/>
          </p:cNvCxnSpPr>
          <p:nvPr/>
        </p:nvCxnSpPr>
        <p:spPr>
          <a:xfrm>
            <a:off x="6744700" y="1807000"/>
            <a:ext cx="5631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6" name="Google Shape;236;p27"/>
          <p:cNvCxnSpPr>
            <a:stCxn id="230" idx="2"/>
            <a:endCxn id="237" idx="0"/>
          </p:cNvCxnSpPr>
          <p:nvPr/>
        </p:nvCxnSpPr>
        <p:spPr>
          <a:xfrm>
            <a:off x="6744700" y="1807000"/>
            <a:ext cx="13602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0" name="Google Shape;230;p27"/>
          <p:cNvSpPr/>
          <p:nvPr/>
        </p:nvSpPr>
        <p:spPr>
          <a:xfrm>
            <a:off x="6596950" y="1492900"/>
            <a:ext cx="2955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>
                <a:solidFill>
                  <a:srgbClr val="FFFFFF"/>
                </a:solidFill>
              </a:rPr>
              <a:t>/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33" name="Google Shape;233;p27"/>
          <p:cNvSpPr/>
          <p:nvPr/>
        </p:nvSpPr>
        <p:spPr>
          <a:xfrm>
            <a:off x="6159442" y="2117300"/>
            <a:ext cx="7032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home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35" name="Google Shape;235;p27"/>
          <p:cNvSpPr/>
          <p:nvPr/>
        </p:nvSpPr>
        <p:spPr>
          <a:xfrm>
            <a:off x="7032508" y="2117300"/>
            <a:ext cx="5508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bin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37" name="Google Shape;237;p27"/>
          <p:cNvSpPr/>
          <p:nvPr/>
        </p:nvSpPr>
        <p:spPr>
          <a:xfrm>
            <a:off x="7753175" y="2117300"/>
            <a:ext cx="7032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media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31" name="Google Shape;231;p27"/>
          <p:cNvSpPr/>
          <p:nvPr/>
        </p:nvSpPr>
        <p:spPr>
          <a:xfrm>
            <a:off x="5286375" y="2117300"/>
            <a:ext cx="7032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etc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38" name="Google Shape;238;p27"/>
          <p:cNvSpPr/>
          <p:nvPr/>
        </p:nvSpPr>
        <p:spPr>
          <a:xfrm>
            <a:off x="5964750" y="2741700"/>
            <a:ext cx="4830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bif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39" name="Google Shape;239;p27"/>
          <p:cNvSpPr/>
          <p:nvPr/>
        </p:nvSpPr>
        <p:spPr>
          <a:xfrm>
            <a:off x="6651500" y="2741700"/>
            <a:ext cx="7032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user2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240" name="Google Shape;240;p27"/>
          <p:cNvCxnSpPr>
            <a:stCxn id="233" idx="2"/>
            <a:endCxn id="238" idx="0"/>
          </p:cNvCxnSpPr>
          <p:nvPr/>
        </p:nvCxnSpPr>
        <p:spPr>
          <a:xfrm flipH="1">
            <a:off x="6206242" y="2431400"/>
            <a:ext cx="3048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1" name="Google Shape;241;p27"/>
          <p:cNvCxnSpPr>
            <a:stCxn id="233" idx="2"/>
            <a:endCxn id="239" idx="0"/>
          </p:cNvCxnSpPr>
          <p:nvPr/>
        </p:nvCxnSpPr>
        <p:spPr>
          <a:xfrm>
            <a:off x="6511042" y="2431400"/>
            <a:ext cx="4920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2" name="Google Shape;242;p27"/>
          <p:cNvCxnSpPr>
            <a:stCxn id="238" idx="2"/>
            <a:endCxn id="243" idx="0"/>
          </p:cNvCxnSpPr>
          <p:nvPr/>
        </p:nvCxnSpPr>
        <p:spPr>
          <a:xfrm flipH="1">
            <a:off x="5873550" y="3055800"/>
            <a:ext cx="3327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4" name="Google Shape;244;p27"/>
          <p:cNvCxnSpPr>
            <a:stCxn id="238" idx="2"/>
            <a:endCxn id="245" idx="0"/>
          </p:cNvCxnSpPr>
          <p:nvPr/>
        </p:nvCxnSpPr>
        <p:spPr>
          <a:xfrm>
            <a:off x="6206250" y="3055800"/>
            <a:ext cx="4215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6" name="Google Shape;246;p27"/>
          <p:cNvCxnSpPr>
            <a:stCxn id="238" idx="2"/>
            <a:endCxn id="247" idx="0"/>
          </p:cNvCxnSpPr>
          <p:nvPr/>
        </p:nvCxnSpPr>
        <p:spPr>
          <a:xfrm>
            <a:off x="6206250" y="3055800"/>
            <a:ext cx="12186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8" name="Google Shape;248;p27"/>
          <p:cNvSpPr/>
          <p:nvPr/>
        </p:nvSpPr>
        <p:spPr>
          <a:xfrm>
            <a:off x="5785450" y="2751000"/>
            <a:ext cx="295500" cy="295500"/>
          </a:xfrm>
          <a:prstGeom prst="smileyFace">
            <a:avLst>
              <a:gd name="adj" fmla="val 4653"/>
            </a:avLst>
          </a:prstGeom>
          <a:solidFill>
            <a:srgbClr val="FFD966"/>
          </a:solidFill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9900"/>
              </a:solidFill>
            </a:endParaRPr>
          </a:p>
        </p:txBody>
      </p:sp>
      <p:cxnSp>
        <p:nvCxnSpPr>
          <p:cNvPr id="249" name="Google Shape;249;p27"/>
          <p:cNvCxnSpPr>
            <a:stCxn id="238" idx="2"/>
            <a:endCxn id="250" idx="0"/>
          </p:cNvCxnSpPr>
          <p:nvPr/>
        </p:nvCxnSpPr>
        <p:spPr>
          <a:xfrm flipH="1">
            <a:off x="4689450" y="3055800"/>
            <a:ext cx="15168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1" name="Google Shape;251;p27"/>
          <p:cNvCxnSpPr>
            <a:stCxn id="238" idx="2"/>
            <a:endCxn id="252" idx="0"/>
          </p:cNvCxnSpPr>
          <p:nvPr/>
        </p:nvCxnSpPr>
        <p:spPr>
          <a:xfrm flipH="1">
            <a:off x="5144850" y="3055800"/>
            <a:ext cx="10614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3" name="Google Shape;243;p27"/>
          <p:cNvSpPr/>
          <p:nvPr/>
        </p:nvSpPr>
        <p:spPr>
          <a:xfrm>
            <a:off x="5540700" y="3366100"/>
            <a:ext cx="665550" cy="355050"/>
          </a:xfrm>
          <a:prstGeom prst="flowChartDocument">
            <a:avLst/>
          </a:prstGeom>
          <a:gradFill>
            <a:gsLst>
              <a:gs pos="0">
                <a:srgbClr val="FFFFFF"/>
              </a:gs>
              <a:gs pos="100000">
                <a:srgbClr val="EFEFEF"/>
              </a:gs>
            </a:gsLst>
            <a:lin ang="10800025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a.txt</a:t>
            </a:r>
            <a:endParaRPr/>
          </a:p>
        </p:txBody>
      </p:sp>
      <p:sp>
        <p:nvSpPr>
          <p:cNvPr id="245" name="Google Shape;245;p27"/>
          <p:cNvSpPr/>
          <p:nvPr/>
        </p:nvSpPr>
        <p:spPr>
          <a:xfrm>
            <a:off x="6295075" y="3366100"/>
            <a:ext cx="665550" cy="355050"/>
          </a:xfrm>
          <a:prstGeom prst="flowChartDocument">
            <a:avLst/>
          </a:prstGeom>
          <a:gradFill>
            <a:gsLst>
              <a:gs pos="0">
                <a:srgbClr val="FFFFFF"/>
              </a:gs>
              <a:gs pos="100000">
                <a:srgbClr val="EFEFEF"/>
              </a:gs>
            </a:gsLst>
            <a:lin ang="10800025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b.txt</a:t>
            </a:r>
            <a:endParaRPr/>
          </a:p>
        </p:txBody>
      </p:sp>
      <p:sp>
        <p:nvSpPr>
          <p:cNvPr id="247" name="Google Shape;247;p27"/>
          <p:cNvSpPr/>
          <p:nvPr/>
        </p:nvSpPr>
        <p:spPr>
          <a:xfrm>
            <a:off x="7092025" y="3366100"/>
            <a:ext cx="665550" cy="355050"/>
          </a:xfrm>
          <a:prstGeom prst="flowChartDocument">
            <a:avLst/>
          </a:prstGeom>
          <a:gradFill>
            <a:gsLst>
              <a:gs pos="0">
                <a:srgbClr val="FFFFFF"/>
              </a:gs>
              <a:gs pos="100000">
                <a:srgbClr val="EFEFEF"/>
              </a:gs>
            </a:gsLst>
            <a:lin ang="10800025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c.csv</a:t>
            </a:r>
            <a:endParaRPr/>
          </a:p>
        </p:txBody>
      </p:sp>
      <p:sp>
        <p:nvSpPr>
          <p:cNvPr id="250" name="Google Shape;250;p27"/>
          <p:cNvSpPr/>
          <p:nvPr/>
        </p:nvSpPr>
        <p:spPr>
          <a:xfrm>
            <a:off x="4523250" y="3366000"/>
            <a:ext cx="3327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.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52" name="Google Shape;252;p27"/>
          <p:cNvSpPr/>
          <p:nvPr/>
        </p:nvSpPr>
        <p:spPr>
          <a:xfrm>
            <a:off x="4978600" y="3366000"/>
            <a:ext cx="3327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..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53" name="Google Shape;253;p27"/>
          <p:cNvSpPr/>
          <p:nvPr/>
        </p:nvSpPr>
        <p:spPr>
          <a:xfrm>
            <a:off x="7888975" y="3366000"/>
            <a:ext cx="8634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dossier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54" name="Google Shape;254;p27"/>
          <p:cNvSpPr/>
          <p:nvPr/>
        </p:nvSpPr>
        <p:spPr>
          <a:xfrm>
            <a:off x="7987900" y="3897950"/>
            <a:ext cx="665550" cy="355050"/>
          </a:xfrm>
          <a:prstGeom prst="flowChartDocument">
            <a:avLst/>
          </a:prstGeom>
          <a:gradFill>
            <a:gsLst>
              <a:gs pos="0">
                <a:srgbClr val="FFFFFF"/>
              </a:gs>
              <a:gs pos="100000">
                <a:srgbClr val="EFEFEF"/>
              </a:gs>
            </a:gsLst>
            <a:lin ang="10800025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d.tsv</a:t>
            </a:r>
            <a:endParaRPr/>
          </a:p>
        </p:txBody>
      </p:sp>
      <p:cxnSp>
        <p:nvCxnSpPr>
          <p:cNvPr id="255" name="Google Shape;255;p27"/>
          <p:cNvCxnSpPr>
            <a:stCxn id="253" idx="2"/>
            <a:endCxn id="254" idx="0"/>
          </p:cNvCxnSpPr>
          <p:nvPr/>
        </p:nvCxnSpPr>
        <p:spPr>
          <a:xfrm>
            <a:off x="8320675" y="3680100"/>
            <a:ext cx="0" cy="21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6" name="Google Shape;256;p27"/>
          <p:cNvCxnSpPr>
            <a:endCxn id="253" idx="0"/>
          </p:cNvCxnSpPr>
          <p:nvPr/>
        </p:nvCxnSpPr>
        <p:spPr>
          <a:xfrm>
            <a:off x="6206275" y="3055800"/>
            <a:ext cx="21144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7" name="Google Shape;257;p27"/>
          <p:cNvSpPr txBox="1"/>
          <p:nvPr/>
        </p:nvSpPr>
        <p:spPr>
          <a:xfrm>
            <a:off x="537125" y="969425"/>
            <a:ext cx="3352200" cy="15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" b="1"/>
              <a:t>Absolu</a:t>
            </a:r>
            <a:r>
              <a:rPr lang="fr"/>
              <a:t>: Commence par /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 </a:t>
            </a:r>
            <a:br>
              <a:rPr lang="fr"/>
            </a:br>
            <a:br>
              <a:rPr lang="fr"/>
            </a:br>
            <a:br>
              <a:rPr lang="fr"/>
            </a:br>
            <a:br>
              <a:rPr lang="fr"/>
            </a:b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" b="1"/>
              <a:t>Relatif</a:t>
            </a:r>
            <a:r>
              <a:rPr lang="fr"/>
              <a:t>: A partir d’un point</a:t>
            </a:r>
            <a:endParaRPr/>
          </a:p>
        </p:txBody>
      </p:sp>
      <p:sp>
        <p:nvSpPr>
          <p:cNvPr id="258" name="Google Shape;258;p27"/>
          <p:cNvSpPr txBox="1"/>
          <p:nvPr/>
        </p:nvSpPr>
        <p:spPr>
          <a:xfrm>
            <a:off x="516825" y="1335850"/>
            <a:ext cx="3836400" cy="718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/home/bif/a.txt</a:t>
            </a:r>
            <a:endParaRPr b="1">
              <a:solidFill>
                <a:srgbClr val="00FF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/home/bif/dossier/</a:t>
            </a:r>
            <a:endParaRPr b="1">
              <a:solidFill>
                <a:srgbClr val="00FF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/home/bif/dossier/d.tsv</a:t>
            </a:r>
            <a:endParaRPr b="1">
              <a:solidFill>
                <a:srgbClr val="00FF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9" name="Google Shape;259;p27"/>
          <p:cNvSpPr txBox="1"/>
          <p:nvPr/>
        </p:nvSpPr>
        <p:spPr>
          <a:xfrm>
            <a:off x="516825" y="2631250"/>
            <a:ext cx="3836400" cy="718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./b.txt</a:t>
            </a:r>
            <a:endParaRPr b="1">
              <a:solidFill>
                <a:srgbClr val="00FF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dossier/d.tsv</a:t>
            </a:r>
            <a:endParaRPr b="1">
              <a:solidFill>
                <a:srgbClr val="00FF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../../bin/</a:t>
            </a:r>
            <a:endParaRPr b="1">
              <a:solidFill>
                <a:srgbClr val="00FF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0" name="Google Shape;260;p27"/>
          <p:cNvSpPr/>
          <p:nvPr/>
        </p:nvSpPr>
        <p:spPr>
          <a:xfrm>
            <a:off x="3227275" y="2276250"/>
            <a:ext cx="295500" cy="295500"/>
          </a:xfrm>
          <a:prstGeom prst="smileyFace">
            <a:avLst>
              <a:gd name="adj" fmla="val 4653"/>
            </a:avLst>
          </a:prstGeom>
          <a:solidFill>
            <a:srgbClr val="FFD966"/>
          </a:solidFill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9900"/>
              </a:solidFill>
            </a:endParaRPr>
          </a:p>
        </p:txBody>
      </p:sp>
      <p:sp>
        <p:nvSpPr>
          <p:cNvPr id="261" name="Google Shape;261;p27"/>
          <p:cNvSpPr txBox="1"/>
          <p:nvPr/>
        </p:nvSpPr>
        <p:spPr>
          <a:xfrm>
            <a:off x="537125" y="3642925"/>
            <a:ext cx="3352200" cy="14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/>
              <a:t>Remarque</a:t>
            </a:r>
            <a:endParaRPr/>
          </a:p>
        </p:txBody>
      </p:sp>
      <p:sp>
        <p:nvSpPr>
          <p:cNvPr id="262" name="Google Shape;262;p27"/>
          <p:cNvSpPr txBox="1"/>
          <p:nvPr/>
        </p:nvSpPr>
        <p:spPr>
          <a:xfrm>
            <a:off x="516825" y="4079050"/>
            <a:ext cx="3836400" cy="718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 dirty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.	# Répertoire </a:t>
            </a:r>
            <a:r>
              <a:rPr lang="fr" b="1" u="sng" dirty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courant</a:t>
            </a:r>
            <a:endParaRPr b="1" u="sng" dirty="0">
              <a:solidFill>
                <a:srgbClr val="00FF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 dirty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..	# Répertoire </a:t>
            </a:r>
            <a:r>
              <a:rPr lang="fr" b="1" u="sng" dirty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parent</a:t>
            </a:r>
            <a:endParaRPr b="1" u="sng" dirty="0">
              <a:solidFill>
                <a:srgbClr val="00FF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8"/>
          <p:cNvSpPr txBox="1">
            <a:spLocks noGrp="1"/>
          </p:cNvSpPr>
          <p:nvPr>
            <p:ph type="title"/>
          </p:nvPr>
        </p:nvSpPr>
        <p:spPr>
          <a:xfrm>
            <a:off x="0" y="-11925"/>
            <a:ext cx="9143700" cy="7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40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Déplacement</a:t>
            </a:r>
            <a:endParaRPr sz="4000" b="1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8"/>
          <p:cNvSpPr/>
          <p:nvPr/>
        </p:nvSpPr>
        <p:spPr>
          <a:xfrm>
            <a:off x="0" y="665225"/>
            <a:ext cx="9143700" cy="41400"/>
          </a:xfrm>
          <a:prstGeom prst="rect">
            <a:avLst/>
          </a:prstGeom>
          <a:gradFill>
            <a:gsLst>
              <a:gs pos="0">
                <a:srgbClr val="CD0920"/>
              </a:gs>
              <a:gs pos="9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28"/>
          <p:cNvSpPr txBox="1"/>
          <p:nvPr/>
        </p:nvSpPr>
        <p:spPr>
          <a:xfrm>
            <a:off x="22175" y="666800"/>
            <a:ext cx="1662300" cy="7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000">
                <a:latin typeface="Courier New"/>
                <a:ea typeface="Courier New"/>
                <a:cs typeface="Courier New"/>
                <a:sym typeface="Courier New"/>
              </a:rPr>
              <a:t>pwd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70" name="Google Shape;270;p28"/>
          <p:cNvSpPr txBox="1"/>
          <p:nvPr/>
        </p:nvSpPr>
        <p:spPr>
          <a:xfrm>
            <a:off x="1684475" y="818300"/>
            <a:ext cx="58245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800"/>
              <a:t>Afficher le chemin absolu du répertoire courant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/>
              <a:t> </a:t>
            </a:r>
            <a:endParaRPr sz="1800"/>
          </a:p>
        </p:txBody>
      </p:sp>
      <p:sp>
        <p:nvSpPr>
          <p:cNvPr id="271" name="Google Shape;271;p28"/>
          <p:cNvSpPr txBox="1"/>
          <p:nvPr/>
        </p:nvSpPr>
        <p:spPr>
          <a:xfrm>
            <a:off x="320275" y="4610675"/>
            <a:ext cx="4335300" cy="284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pwd</a:t>
            </a:r>
            <a:endParaRPr b="1">
              <a:solidFill>
                <a:srgbClr val="00FF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272" name="Google Shape;272;p28"/>
          <p:cNvCxnSpPr>
            <a:stCxn id="273" idx="2"/>
            <a:endCxn id="274" idx="0"/>
          </p:cNvCxnSpPr>
          <p:nvPr/>
        </p:nvCxnSpPr>
        <p:spPr>
          <a:xfrm flipH="1">
            <a:off x="5638000" y="1807000"/>
            <a:ext cx="11067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5" name="Google Shape;275;p28"/>
          <p:cNvCxnSpPr>
            <a:stCxn id="273" idx="2"/>
            <a:endCxn id="276" idx="0"/>
          </p:cNvCxnSpPr>
          <p:nvPr/>
        </p:nvCxnSpPr>
        <p:spPr>
          <a:xfrm flipH="1">
            <a:off x="6511000" y="1807000"/>
            <a:ext cx="2337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7" name="Google Shape;277;p28"/>
          <p:cNvCxnSpPr>
            <a:stCxn id="273" idx="2"/>
            <a:endCxn id="278" idx="0"/>
          </p:cNvCxnSpPr>
          <p:nvPr/>
        </p:nvCxnSpPr>
        <p:spPr>
          <a:xfrm>
            <a:off x="6744700" y="1807000"/>
            <a:ext cx="5631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9" name="Google Shape;279;p28"/>
          <p:cNvCxnSpPr>
            <a:stCxn id="273" idx="2"/>
            <a:endCxn id="280" idx="0"/>
          </p:cNvCxnSpPr>
          <p:nvPr/>
        </p:nvCxnSpPr>
        <p:spPr>
          <a:xfrm>
            <a:off x="6744700" y="1807000"/>
            <a:ext cx="13602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3" name="Google Shape;273;p28"/>
          <p:cNvSpPr/>
          <p:nvPr/>
        </p:nvSpPr>
        <p:spPr>
          <a:xfrm>
            <a:off x="6596950" y="1492900"/>
            <a:ext cx="2955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>
                <a:solidFill>
                  <a:srgbClr val="FFFFFF"/>
                </a:solidFill>
              </a:rPr>
              <a:t>/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76" name="Google Shape;276;p28"/>
          <p:cNvSpPr/>
          <p:nvPr/>
        </p:nvSpPr>
        <p:spPr>
          <a:xfrm>
            <a:off x="6159442" y="2117300"/>
            <a:ext cx="7032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home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78" name="Google Shape;278;p28"/>
          <p:cNvSpPr/>
          <p:nvPr/>
        </p:nvSpPr>
        <p:spPr>
          <a:xfrm>
            <a:off x="7032508" y="2117300"/>
            <a:ext cx="5508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bin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80" name="Google Shape;280;p28"/>
          <p:cNvSpPr/>
          <p:nvPr/>
        </p:nvSpPr>
        <p:spPr>
          <a:xfrm>
            <a:off x="7753175" y="2117300"/>
            <a:ext cx="7032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media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74" name="Google Shape;274;p28"/>
          <p:cNvSpPr/>
          <p:nvPr/>
        </p:nvSpPr>
        <p:spPr>
          <a:xfrm>
            <a:off x="5286375" y="2117300"/>
            <a:ext cx="7032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etc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81" name="Google Shape;281;p28"/>
          <p:cNvSpPr/>
          <p:nvPr/>
        </p:nvSpPr>
        <p:spPr>
          <a:xfrm>
            <a:off x="5964750" y="2741700"/>
            <a:ext cx="4830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bif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82" name="Google Shape;282;p28"/>
          <p:cNvSpPr/>
          <p:nvPr/>
        </p:nvSpPr>
        <p:spPr>
          <a:xfrm>
            <a:off x="6651500" y="2741700"/>
            <a:ext cx="7032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user2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283" name="Google Shape;283;p28"/>
          <p:cNvCxnSpPr>
            <a:stCxn id="276" idx="2"/>
            <a:endCxn id="281" idx="0"/>
          </p:cNvCxnSpPr>
          <p:nvPr/>
        </p:nvCxnSpPr>
        <p:spPr>
          <a:xfrm flipH="1">
            <a:off x="6206242" y="2431400"/>
            <a:ext cx="3048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4" name="Google Shape;284;p28"/>
          <p:cNvCxnSpPr>
            <a:stCxn id="276" idx="2"/>
            <a:endCxn id="282" idx="0"/>
          </p:cNvCxnSpPr>
          <p:nvPr/>
        </p:nvCxnSpPr>
        <p:spPr>
          <a:xfrm>
            <a:off x="6511042" y="2431400"/>
            <a:ext cx="4920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5" name="Google Shape;285;p28"/>
          <p:cNvCxnSpPr>
            <a:stCxn id="281" idx="2"/>
            <a:endCxn id="286" idx="0"/>
          </p:cNvCxnSpPr>
          <p:nvPr/>
        </p:nvCxnSpPr>
        <p:spPr>
          <a:xfrm flipH="1">
            <a:off x="5873550" y="3055800"/>
            <a:ext cx="3327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7" name="Google Shape;287;p28"/>
          <p:cNvCxnSpPr>
            <a:stCxn id="281" idx="2"/>
            <a:endCxn id="288" idx="0"/>
          </p:cNvCxnSpPr>
          <p:nvPr/>
        </p:nvCxnSpPr>
        <p:spPr>
          <a:xfrm>
            <a:off x="6206250" y="3055800"/>
            <a:ext cx="4215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9" name="Google Shape;289;p28"/>
          <p:cNvCxnSpPr>
            <a:stCxn id="281" idx="2"/>
            <a:endCxn id="290" idx="0"/>
          </p:cNvCxnSpPr>
          <p:nvPr/>
        </p:nvCxnSpPr>
        <p:spPr>
          <a:xfrm>
            <a:off x="6206250" y="3055800"/>
            <a:ext cx="12186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1" name="Google Shape;291;p28"/>
          <p:cNvSpPr/>
          <p:nvPr/>
        </p:nvSpPr>
        <p:spPr>
          <a:xfrm>
            <a:off x="5785450" y="2751000"/>
            <a:ext cx="295500" cy="295500"/>
          </a:xfrm>
          <a:prstGeom prst="smileyFace">
            <a:avLst>
              <a:gd name="adj" fmla="val 4653"/>
            </a:avLst>
          </a:prstGeom>
          <a:solidFill>
            <a:srgbClr val="FFD966"/>
          </a:solidFill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9900"/>
              </a:solidFill>
            </a:endParaRPr>
          </a:p>
        </p:txBody>
      </p:sp>
      <p:cxnSp>
        <p:nvCxnSpPr>
          <p:cNvPr id="292" name="Google Shape;292;p28"/>
          <p:cNvCxnSpPr>
            <a:stCxn id="281" idx="2"/>
            <a:endCxn id="293" idx="0"/>
          </p:cNvCxnSpPr>
          <p:nvPr/>
        </p:nvCxnSpPr>
        <p:spPr>
          <a:xfrm flipH="1">
            <a:off x="4689450" y="3055800"/>
            <a:ext cx="15168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4" name="Google Shape;294;p28"/>
          <p:cNvCxnSpPr>
            <a:stCxn id="281" idx="2"/>
            <a:endCxn id="295" idx="0"/>
          </p:cNvCxnSpPr>
          <p:nvPr/>
        </p:nvCxnSpPr>
        <p:spPr>
          <a:xfrm flipH="1">
            <a:off x="5144850" y="3055800"/>
            <a:ext cx="10614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6" name="Google Shape;286;p28"/>
          <p:cNvSpPr/>
          <p:nvPr/>
        </p:nvSpPr>
        <p:spPr>
          <a:xfrm>
            <a:off x="5540700" y="3366100"/>
            <a:ext cx="665550" cy="355050"/>
          </a:xfrm>
          <a:prstGeom prst="flowChartDocument">
            <a:avLst/>
          </a:prstGeom>
          <a:gradFill>
            <a:gsLst>
              <a:gs pos="0">
                <a:srgbClr val="FFFFFF"/>
              </a:gs>
              <a:gs pos="100000">
                <a:srgbClr val="EFEFEF"/>
              </a:gs>
            </a:gsLst>
            <a:lin ang="10800025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a.txt</a:t>
            </a:r>
            <a:endParaRPr/>
          </a:p>
        </p:txBody>
      </p:sp>
      <p:sp>
        <p:nvSpPr>
          <p:cNvPr id="288" name="Google Shape;288;p28"/>
          <p:cNvSpPr/>
          <p:nvPr/>
        </p:nvSpPr>
        <p:spPr>
          <a:xfrm>
            <a:off x="6295075" y="3366100"/>
            <a:ext cx="665550" cy="355050"/>
          </a:xfrm>
          <a:prstGeom prst="flowChartDocument">
            <a:avLst/>
          </a:prstGeom>
          <a:gradFill>
            <a:gsLst>
              <a:gs pos="0">
                <a:srgbClr val="FFFFFF"/>
              </a:gs>
              <a:gs pos="100000">
                <a:srgbClr val="EFEFEF"/>
              </a:gs>
            </a:gsLst>
            <a:lin ang="10800025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b.txt</a:t>
            </a:r>
            <a:endParaRPr/>
          </a:p>
        </p:txBody>
      </p:sp>
      <p:sp>
        <p:nvSpPr>
          <p:cNvPr id="290" name="Google Shape;290;p28"/>
          <p:cNvSpPr/>
          <p:nvPr/>
        </p:nvSpPr>
        <p:spPr>
          <a:xfrm>
            <a:off x="7092025" y="3366100"/>
            <a:ext cx="665550" cy="355050"/>
          </a:xfrm>
          <a:prstGeom prst="flowChartDocument">
            <a:avLst/>
          </a:prstGeom>
          <a:gradFill>
            <a:gsLst>
              <a:gs pos="0">
                <a:srgbClr val="FFFFFF"/>
              </a:gs>
              <a:gs pos="100000">
                <a:srgbClr val="EFEFEF"/>
              </a:gs>
            </a:gsLst>
            <a:lin ang="10800025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c.csv</a:t>
            </a:r>
            <a:endParaRPr/>
          </a:p>
        </p:txBody>
      </p:sp>
      <p:sp>
        <p:nvSpPr>
          <p:cNvPr id="293" name="Google Shape;293;p28"/>
          <p:cNvSpPr/>
          <p:nvPr/>
        </p:nvSpPr>
        <p:spPr>
          <a:xfrm>
            <a:off x="4523250" y="3366000"/>
            <a:ext cx="3327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.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95" name="Google Shape;295;p28"/>
          <p:cNvSpPr/>
          <p:nvPr/>
        </p:nvSpPr>
        <p:spPr>
          <a:xfrm>
            <a:off x="4978600" y="3366000"/>
            <a:ext cx="3327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..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96" name="Google Shape;296;p28"/>
          <p:cNvSpPr/>
          <p:nvPr/>
        </p:nvSpPr>
        <p:spPr>
          <a:xfrm>
            <a:off x="7888975" y="3366000"/>
            <a:ext cx="8634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dossier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97" name="Google Shape;297;p28"/>
          <p:cNvSpPr/>
          <p:nvPr/>
        </p:nvSpPr>
        <p:spPr>
          <a:xfrm>
            <a:off x="7987900" y="3897950"/>
            <a:ext cx="665550" cy="355050"/>
          </a:xfrm>
          <a:prstGeom prst="flowChartDocument">
            <a:avLst/>
          </a:prstGeom>
          <a:gradFill>
            <a:gsLst>
              <a:gs pos="0">
                <a:srgbClr val="FFFFFF"/>
              </a:gs>
              <a:gs pos="100000">
                <a:srgbClr val="EFEFEF"/>
              </a:gs>
            </a:gsLst>
            <a:lin ang="10800025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d.tsv</a:t>
            </a:r>
            <a:endParaRPr/>
          </a:p>
        </p:txBody>
      </p:sp>
      <p:cxnSp>
        <p:nvCxnSpPr>
          <p:cNvPr id="298" name="Google Shape;298;p28"/>
          <p:cNvCxnSpPr>
            <a:stCxn id="296" idx="2"/>
            <a:endCxn id="297" idx="0"/>
          </p:cNvCxnSpPr>
          <p:nvPr/>
        </p:nvCxnSpPr>
        <p:spPr>
          <a:xfrm>
            <a:off x="8320675" y="3680100"/>
            <a:ext cx="0" cy="21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9" name="Google Shape;299;p28"/>
          <p:cNvCxnSpPr>
            <a:endCxn id="296" idx="0"/>
          </p:cNvCxnSpPr>
          <p:nvPr/>
        </p:nvCxnSpPr>
        <p:spPr>
          <a:xfrm>
            <a:off x="6206275" y="3055800"/>
            <a:ext cx="21144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0" name="Google Shape;300;p28"/>
          <p:cNvSpPr txBox="1">
            <a:spLocks noGrp="1"/>
          </p:cNvSpPr>
          <p:nvPr>
            <p:ph type="sldNum" idx="12"/>
          </p:nvPr>
        </p:nvSpPr>
        <p:spPr>
          <a:xfrm>
            <a:off x="8625000" y="4939350"/>
            <a:ext cx="519000" cy="2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9"/>
          <p:cNvSpPr txBox="1">
            <a:spLocks noGrp="1"/>
          </p:cNvSpPr>
          <p:nvPr>
            <p:ph type="title"/>
          </p:nvPr>
        </p:nvSpPr>
        <p:spPr>
          <a:xfrm>
            <a:off x="0" y="-11925"/>
            <a:ext cx="9143700" cy="7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40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Déplacement</a:t>
            </a:r>
            <a:endParaRPr sz="4000" b="1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9"/>
          <p:cNvSpPr/>
          <p:nvPr/>
        </p:nvSpPr>
        <p:spPr>
          <a:xfrm>
            <a:off x="0" y="665225"/>
            <a:ext cx="9143700" cy="41400"/>
          </a:xfrm>
          <a:prstGeom prst="rect">
            <a:avLst/>
          </a:prstGeom>
          <a:gradFill>
            <a:gsLst>
              <a:gs pos="0">
                <a:srgbClr val="CD0920"/>
              </a:gs>
              <a:gs pos="9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29"/>
          <p:cNvSpPr txBox="1"/>
          <p:nvPr/>
        </p:nvSpPr>
        <p:spPr>
          <a:xfrm>
            <a:off x="22175" y="666800"/>
            <a:ext cx="1662300" cy="7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000">
                <a:latin typeface="Courier New"/>
                <a:ea typeface="Courier New"/>
                <a:cs typeface="Courier New"/>
                <a:sym typeface="Courier New"/>
              </a:rPr>
              <a:t>ls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08" name="Google Shape;308;p29"/>
          <p:cNvSpPr txBox="1"/>
          <p:nvPr/>
        </p:nvSpPr>
        <p:spPr>
          <a:xfrm>
            <a:off x="1684475" y="818300"/>
            <a:ext cx="4707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/>
              <a:t>Afficher le contenu d’un répertoire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/>
              <a:t> </a:t>
            </a:r>
            <a:endParaRPr sz="1800"/>
          </a:p>
        </p:txBody>
      </p:sp>
      <p:sp>
        <p:nvSpPr>
          <p:cNvPr id="309" name="Google Shape;309;p29"/>
          <p:cNvSpPr txBox="1"/>
          <p:nvPr/>
        </p:nvSpPr>
        <p:spPr>
          <a:xfrm>
            <a:off x="320275" y="4610675"/>
            <a:ext cx="4335300" cy="284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ls -lha /home/user_2/</a:t>
            </a:r>
            <a:endParaRPr b="1">
              <a:solidFill>
                <a:srgbClr val="00FF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310" name="Google Shape;310;p29"/>
          <p:cNvGraphicFramePr/>
          <p:nvPr/>
        </p:nvGraphicFramePr>
        <p:xfrm>
          <a:off x="149100" y="1615875"/>
          <a:ext cx="4661450" cy="1981050"/>
        </p:xfrm>
        <a:graphic>
          <a:graphicData uri="http://schemas.openxmlformats.org/drawingml/2006/table">
            <a:tbl>
              <a:tblPr>
                <a:noFill/>
                <a:tableStyleId>{C986AE7D-AF4A-4FAC-BD20-953C9C73A9C3}</a:tableStyleId>
              </a:tblPr>
              <a:tblGrid>
                <a:gridCol w="104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b="1">
                          <a:solidFill>
                            <a:srgbClr val="C00000"/>
                          </a:solidFill>
                        </a:rPr>
                        <a:t>Option(s)</a:t>
                      </a:r>
                      <a:endParaRPr b="1">
                        <a:solidFill>
                          <a:srgbClr val="C00000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b="1">
                          <a:solidFill>
                            <a:srgbClr val="C00000"/>
                          </a:solidFill>
                        </a:rPr>
                        <a:t>Description</a:t>
                      </a:r>
                      <a:endParaRPr b="1">
                        <a:solidFill>
                          <a:srgbClr val="C00000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-l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/>
                        <a:t>Afficher les détails des fichiers</a:t>
                      </a:r>
                      <a:endParaRPr sz="12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-h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/>
                        <a:t>Afficher la taille des fichiers dans un format lisible</a:t>
                      </a:r>
                      <a:endParaRPr sz="12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-a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/>
                        <a:t>Afficher les fichiers cachés</a:t>
                      </a:r>
                      <a:endParaRPr sz="12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--color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/>
                        <a:t>Colore en fonction du type de fichier</a:t>
                      </a:r>
                      <a:endParaRPr sz="12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311" name="Google Shape;311;p29"/>
          <p:cNvCxnSpPr>
            <a:stCxn id="312" idx="2"/>
            <a:endCxn id="313" idx="0"/>
          </p:cNvCxnSpPr>
          <p:nvPr/>
        </p:nvCxnSpPr>
        <p:spPr>
          <a:xfrm flipH="1">
            <a:off x="5638000" y="1807000"/>
            <a:ext cx="11067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" name="Google Shape;314;p29"/>
          <p:cNvCxnSpPr>
            <a:stCxn id="312" idx="2"/>
            <a:endCxn id="315" idx="0"/>
          </p:cNvCxnSpPr>
          <p:nvPr/>
        </p:nvCxnSpPr>
        <p:spPr>
          <a:xfrm flipH="1">
            <a:off x="6511000" y="1807000"/>
            <a:ext cx="2337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6" name="Google Shape;316;p29"/>
          <p:cNvCxnSpPr>
            <a:stCxn id="312" idx="2"/>
            <a:endCxn id="317" idx="0"/>
          </p:cNvCxnSpPr>
          <p:nvPr/>
        </p:nvCxnSpPr>
        <p:spPr>
          <a:xfrm>
            <a:off x="6744700" y="1807000"/>
            <a:ext cx="5631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8" name="Google Shape;318;p29"/>
          <p:cNvCxnSpPr>
            <a:stCxn id="312" idx="2"/>
            <a:endCxn id="319" idx="0"/>
          </p:cNvCxnSpPr>
          <p:nvPr/>
        </p:nvCxnSpPr>
        <p:spPr>
          <a:xfrm>
            <a:off x="6744700" y="1807000"/>
            <a:ext cx="13602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2" name="Google Shape;312;p29"/>
          <p:cNvSpPr/>
          <p:nvPr/>
        </p:nvSpPr>
        <p:spPr>
          <a:xfrm>
            <a:off x="6596950" y="1492900"/>
            <a:ext cx="2955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>
                <a:solidFill>
                  <a:srgbClr val="FFFFFF"/>
                </a:solidFill>
              </a:rPr>
              <a:t>/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315" name="Google Shape;315;p29"/>
          <p:cNvSpPr/>
          <p:nvPr/>
        </p:nvSpPr>
        <p:spPr>
          <a:xfrm>
            <a:off x="6159442" y="2117300"/>
            <a:ext cx="7032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home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17" name="Google Shape;317;p29"/>
          <p:cNvSpPr/>
          <p:nvPr/>
        </p:nvSpPr>
        <p:spPr>
          <a:xfrm>
            <a:off x="7032508" y="2117300"/>
            <a:ext cx="5508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bin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19" name="Google Shape;319;p29"/>
          <p:cNvSpPr/>
          <p:nvPr/>
        </p:nvSpPr>
        <p:spPr>
          <a:xfrm>
            <a:off x="7753175" y="2117300"/>
            <a:ext cx="7032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media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13" name="Google Shape;313;p29"/>
          <p:cNvSpPr/>
          <p:nvPr/>
        </p:nvSpPr>
        <p:spPr>
          <a:xfrm>
            <a:off x="5286375" y="2117300"/>
            <a:ext cx="7032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etc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20" name="Google Shape;320;p29"/>
          <p:cNvSpPr/>
          <p:nvPr/>
        </p:nvSpPr>
        <p:spPr>
          <a:xfrm>
            <a:off x="5964750" y="2741700"/>
            <a:ext cx="4830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bif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21" name="Google Shape;321;p29"/>
          <p:cNvSpPr/>
          <p:nvPr/>
        </p:nvSpPr>
        <p:spPr>
          <a:xfrm>
            <a:off x="6651500" y="2741700"/>
            <a:ext cx="7032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user2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322" name="Google Shape;322;p29"/>
          <p:cNvCxnSpPr>
            <a:stCxn id="315" idx="2"/>
            <a:endCxn id="320" idx="0"/>
          </p:cNvCxnSpPr>
          <p:nvPr/>
        </p:nvCxnSpPr>
        <p:spPr>
          <a:xfrm flipH="1">
            <a:off x="6206242" y="2431400"/>
            <a:ext cx="3048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3" name="Google Shape;323;p29"/>
          <p:cNvCxnSpPr>
            <a:stCxn id="315" idx="2"/>
            <a:endCxn id="321" idx="0"/>
          </p:cNvCxnSpPr>
          <p:nvPr/>
        </p:nvCxnSpPr>
        <p:spPr>
          <a:xfrm>
            <a:off x="6511042" y="2431400"/>
            <a:ext cx="4920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4" name="Google Shape;324;p29"/>
          <p:cNvCxnSpPr>
            <a:stCxn id="320" idx="2"/>
            <a:endCxn id="325" idx="0"/>
          </p:cNvCxnSpPr>
          <p:nvPr/>
        </p:nvCxnSpPr>
        <p:spPr>
          <a:xfrm flipH="1">
            <a:off x="5873550" y="3055800"/>
            <a:ext cx="3327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6" name="Google Shape;326;p29"/>
          <p:cNvCxnSpPr>
            <a:stCxn id="320" idx="2"/>
            <a:endCxn id="327" idx="0"/>
          </p:cNvCxnSpPr>
          <p:nvPr/>
        </p:nvCxnSpPr>
        <p:spPr>
          <a:xfrm>
            <a:off x="6206250" y="3055800"/>
            <a:ext cx="4215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8" name="Google Shape;328;p29"/>
          <p:cNvCxnSpPr>
            <a:stCxn id="320" idx="2"/>
            <a:endCxn id="329" idx="0"/>
          </p:cNvCxnSpPr>
          <p:nvPr/>
        </p:nvCxnSpPr>
        <p:spPr>
          <a:xfrm>
            <a:off x="6206250" y="3055800"/>
            <a:ext cx="12186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0" name="Google Shape;330;p29"/>
          <p:cNvSpPr/>
          <p:nvPr/>
        </p:nvSpPr>
        <p:spPr>
          <a:xfrm>
            <a:off x="5785450" y="2751000"/>
            <a:ext cx="295500" cy="295500"/>
          </a:xfrm>
          <a:prstGeom prst="smileyFace">
            <a:avLst>
              <a:gd name="adj" fmla="val 4653"/>
            </a:avLst>
          </a:prstGeom>
          <a:solidFill>
            <a:srgbClr val="FFD966"/>
          </a:solidFill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9900"/>
              </a:solidFill>
            </a:endParaRPr>
          </a:p>
        </p:txBody>
      </p:sp>
      <p:cxnSp>
        <p:nvCxnSpPr>
          <p:cNvPr id="331" name="Google Shape;331;p29"/>
          <p:cNvCxnSpPr>
            <a:stCxn id="320" idx="2"/>
            <a:endCxn id="332" idx="0"/>
          </p:cNvCxnSpPr>
          <p:nvPr/>
        </p:nvCxnSpPr>
        <p:spPr>
          <a:xfrm flipH="1">
            <a:off x="4689450" y="3055800"/>
            <a:ext cx="15168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3" name="Google Shape;333;p29"/>
          <p:cNvCxnSpPr>
            <a:stCxn id="320" idx="2"/>
            <a:endCxn id="334" idx="0"/>
          </p:cNvCxnSpPr>
          <p:nvPr/>
        </p:nvCxnSpPr>
        <p:spPr>
          <a:xfrm flipH="1">
            <a:off x="5144850" y="3055800"/>
            <a:ext cx="10614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5" name="Google Shape;325;p29"/>
          <p:cNvSpPr/>
          <p:nvPr/>
        </p:nvSpPr>
        <p:spPr>
          <a:xfrm>
            <a:off x="5540700" y="3366100"/>
            <a:ext cx="665550" cy="355050"/>
          </a:xfrm>
          <a:prstGeom prst="flowChartDocument">
            <a:avLst/>
          </a:prstGeom>
          <a:gradFill>
            <a:gsLst>
              <a:gs pos="0">
                <a:srgbClr val="FFFFFF"/>
              </a:gs>
              <a:gs pos="100000">
                <a:srgbClr val="EFEFEF"/>
              </a:gs>
            </a:gsLst>
            <a:lin ang="10800025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a.txt</a:t>
            </a:r>
            <a:endParaRPr/>
          </a:p>
        </p:txBody>
      </p:sp>
      <p:sp>
        <p:nvSpPr>
          <p:cNvPr id="327" name="Google Shape;327;p29"/>
          <p:cNvSpPr/>
          <p:nvPr/>
        </p:nvSpPr>
        <p:spPr>
          <a:xfrm>
            <a:off x="6295075" y="3366100"/>
            <a:ext cx="665550" cy="355050"/>
          </a:xfrm>
          <a:prstGeom prst="flowChartDocument">
            <a:avLst/>
          </a:prstGeom>
          <a:gradFill>
            <a:gsLst>
              <a:gs pos="0">
                <a:srgbClr val="FFFFFF"/>
              </a:gs>
              <a:gs pos="100000">
                <a:srgbClr val="EFEFEF"/>
              </a:gs>
            </a:gsLst>
            <a:lin ang="10800025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b.txt</a:t>
            </a:r>
            <a:endParaRPr/>
          </a:p>
        </p:txBody>
      </p:sp>
      <p:sp>
        <p:nvSpPr>
          <p:cNvPr id="329" name="Google Shape;329;p29"/>
          <p:cNvSpPr/>
          <p:nvPr/>
        </p:nvSpPr>
        <p:spPr>
          <a:xfrm>
            <a:off x="7092025" y="3366100"/>
            <a:ext cx="665550" cy="355050"/>
          </a:xfrm>
          <a:prstGeom prst="flowChartDocument">
            <a:avLst/>
          </a:prstGeom>
          <a:gradFill>
            <a:gsLst>
              <a:gs pos="0">
                <a:srgbClr val="FFFFFF"/>
              </a:gs>
              <a:gs pos="100000">
                <a:srgbClr val="EFEFEF"/>
              </a:gs>
            </a:gsLst>
            <a:lin ang="10800025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c.csv</a:t>
            </a:r>
            <a:endParaRPr/>
          </a:p>
        </p:txBody>
      </p:sp>
      <p:sp>
        <p:nvSpPr>
          <p:cNvPr id="332" name="Google Shape;332;p29"/>
          <p:cNvSpPr/>
          <p:nvPr/>
        </p:nvSpPr>
        <p:spPr>
          <a:xfrm>
            <a:off x="4523250" y="3366000"/>
            <a:ext cx="3327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.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34" name="Google Shape;334;p29"/>
          <p:cNvSpPr/>
          <p:nvPr/>
        </p:nvSpPr>
        <p:spPr>
          <a:xfrm>
            <a:off x="4978600" y="3366000"/>
            <a:ext cx="3327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..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35" name="Google Shape;335;p29"/>
          <p:cNvSpPr/>
          <p:nvPr/>
        </p:nvSpPr>
        <p:spPr>
          <a:xfrm>
            <a:off x="7888975" y="3366000"/>
            <a:ext cx="8634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dossier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36" name="Google Shape;336;p29"/>
          <p:cNvSpPr/>
          <p:nvPr/>
        </p:nvSpPr>
        <p:spPr>
          <a:xfrm>
            <a:off x="7987900" y="3897950"/>
            <a:ext cx="665550" cy="355050"/>
          </a:xfrm>
          <a:prstGeom prst="flowChartDocument">
            <a:avLst/>
          </a:prstGeom>
          <a:gradFill>
            <a:gsLst>
              <a:gs pos="0">
                <a:srgbClr val="FFFFFF"/>
              </a:gs>
              <a:gs pos="100000">
                <a:srgbClr val="EFEFEF"/>
              </a:gs>
            </a:gsLst>
            <a:lin ang="10800025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d.tsv</a:t>
            </a:r>
            <a:endParaRPr/>
          </a:p>
        </p:txBody>
      </p:sp>
      <p:cxnSp>
        <p:nvCxnSpPr>
          <p:cNvPr id="337" name="Google Shape;337;p29"/>
          <p:cNvCxnSpPr>
            <a:stCxn id="335" idx="2"/>
            <a:endCxn id="336" idx="0"/>
          </p:cNvCxnSpPr>
          <p:nvPr/>
        </p:nvCxnSpPr>
        <p:spPr>
          <a:xfrm>
            <a:off x="8320675" y="3680100"/>
            <a:ext cx="0" cy="21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8" name="Google Shape;338;p29"/>
          <p:cNvCxnSpPr>
            <a:stCxn id="320" idx="2"/>
            <a:endCxn id="335" idx="0"/>
          </p:cNvCxnSpPr>
          <p:nvPr/>
        </p:nvCxnSpPr>
        <p:spPr>
          <a:xfrm>
            <a:off x="6206250" y="3055800"/>
            <a:ext cx="21144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9" name="Google Shape;339;p29"/>
          <p:cNvSpPr txBox="1">
            <a:spLocks noGrp="1"/>
          </p:cNvSpPr>
          <p:nvPr>
            <p:ph type="sldNum" idx="12"/>
          </p:nvPr>
        </p:nvSpPr>
        <p:spPr>
          <a:xfrm>
            <a:off x="8625000" y="4939350"/>
            <a:ext cx="519000" cy="2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5CD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0"/>
          <p:cNvSpPr txBox="1"/>
          <p:nvPr/>
        </p:nvSpPr>
        <p:spPr>
          <a:xfrm>
            <a:off x="223150" y="96950"/>
            <a:ext cx="8532600" cy="4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 b="1"/>
              <a:t>Métadonnées des fichiers</a:t>
            </a:r>
            <a:endParaRPr sz="2400"/>
          </a:p>
        </p:txBody>
      </p:sp>
      <p:sp>
        <p:nvSpPr>
          <p:cNvPr id="345" name="Google Shape;345;p30"/>
          <p:cNvSpPr txBox="1"/>
          <p:nvPr/>
        </p:nvSpPr>
        <p:spPr>
          <a:xfrm>
            <a:off x="22175" y="666800"/>
            <a:ext cx="1662300" cy="7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000">
                <a:latin typeface="Courier New"/>
                <a:ea typeface="Courier New"/>
                <a:cs typeface="Courier New"/>
                <a:sym typeface="Courier New"/>
              </a:rPr>
              <a:t>ls -l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346" name="Google Shape;346;p30"/>
          <p:cNvPicPr preferRelativeResize="0"/>
          <p:nvPr/>
        </p:nvPicPr>
        <p:blipFill rotWithShape="1">
          <a:blip r:embed="rId3">
            <a:alphaModFix/>
          </a:blip>
          <a:srcRect t="27083" r="84864" b="61137"/>
          <a:stretch/>
        </p:blipFill>
        <p:spPr>
          <a:xfrm>
            <a:off x="277850" y="3281624"/>
            <a:ext cx="2767173" cy="1286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30"/>
          <p:cNvPicPr preferRelativeResize="0"/>
          <p:nvPr/>
        </p:nvPicPr>
        <p:blipFill rotWithShape="1">
          <a:blip r:embed="rId3">
            <a:alphaModFix/>
          </a:blip>
          <a:srcRect t="19056" r="25434" b="61137"/>
          <a:stretch/>
        </p:blipFill>
        <p:spPr>
          <a:xfrm>
            <a:off x="3625925" y="625550"/>
            <a:ext cx="5352774" cy="849576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30"/>
          <p:cNvSpPr/>
          <p:nvPr/>
        </p:nvSpPr>
        <p:spPr>
          <a:xfrm>
            <a:off x="3632025" y="969900"/>
            <a:ext cx="1043400" cy="5052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30"/>
          <p:cNvSpPr/>
          <p:nvPr/>
        </p:nvSpPr>
        <p:spPr>
          <a:xfrm>
            <a:off x="4851225" y="969900"/>
            <a:ext cx="729300" cy="5052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30"/>
          <p:cNvSpPr/>
          <p:nvPr/>
        </p:nvSpPr>
        <p:spPr>
          <a:xfrm>
            <a:off x="5613225" y="969900"/>
            <a:ext cx="401100" cy="5052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30"/>
          <p:cNvSpPr/>
          <p:nvPr/>
        </p:nvSpPr>
        <p:spPr>
          <a:xfrm>
            <a:off x="6061191" y="969900"/>
            <a:ext cx="1098300" cy="5052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30"/>
          <p:cNvSpPr txBox="1"/>
          <p:nvPr/>
        </p:nvSpPr>
        <p:spPr>
          <a:xfrm>
            <a:off x="2528700" y="1630125"/>
            <a:ext cx="1662300" cy="4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Masque </a:t>
            </a:r>
            <a:br>
              <a:rPr lang="fr" sz="12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des permissions</a:t>
            </a:r>
            <a:br>
              <a:rPr lang="fr" sz="12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fr" sz="1200" b="1">
                <a:latin typeface="Courier New"/>
                <a:ea typeface="Courier New"/>
                <a:cs typeface="Courier New"/>
                <a:sym typeface="Courier New"/>
              </a:rPr>
              <a:t>(chmod)</a:t>
            </a:r>
            <a:endParaRPr sz="12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4329797" y="1630125"/>
            <a:ext cx="1786200" cy="4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Propriétaire </a:t>
            </a:r>
            <a:br>
              <a:rPr lang="fr" sz="12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et groupe</a:t>
            </a:r>
            <a:br>
              <a:rPr lang="fr" sz="12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fr" sz="1200" b="1">
                <a:latin typeface="Courier New"/>
                <a:ea typeface="Courier New"/>
                <a:cs typeface="Courier New"/>
                <a:sym typeface="Courier New"/>
              </a:rPr>
              <a:t>(chown)/(chgrp)</a:t>
            </a:r>
            <a:endParaRPr sz="12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54" name="Google Shape;354;p30"/>
          <p:cNvSpPr txBox="1"/>
          <p:nvPr/>
        </p:nvSpPr>
        <p:spPr>
          <a:xfrm>
            <a:off x="5576700" y="1630125"/>
            <a:ext cx="1662300" cy="4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Taille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55" name="Google Shape;355;p30"/>
          <p:cNvSpPr txBox="1"/>
          <p:nvPr/>
        </p:nvSpPr>
        <p:spPr>
          <a:xfrm>
            <a:off x="7481700" y="1630125"/>
            <a:ext cx="1662300" cy="4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Date de dernière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modification</a:t>
            </a:r>
            <a:br>
              <a:rPr lang="fr" sz="12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fr" sz="1200" b="1">
                <a:latin typeface="Courier New"/>
                <a:ea typeface="Courier New"/>
                <a:cs typeface="Courier New"/>
                <a:sym typeface="Courier New"/>
              </a:rPr>
              <a:t>(touch)</a:t>
            </a:r>
            <a:endParaRPr sz="12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356" name="Google Shape;356;p30"/>
          <p:cNvCxnSpPr>
            <a:stCxn id="349" idx="2"/>
            <a:endCxn id="353" idx="0"/>
          </p:cNvCxnSpPr>
          <p:nvPr/>
        </p:nvCxnSpPr>
        <p:spPr>
          <a:xfrm>
            <a:off x="5215875" y="1475100"/>
            <a:ext cx="6900" cy="155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7" name="Google Shape;357;p30"/>
          <p:cNvCxnSpPr>
            <a:stCxn id="348" idx="2"/>
            <a:endCxn id="352" idx="0"/>
          </p:cNvCxnSpPr>
          <p:nvPr/>
        </p:nvCxnSpPr>
        <p:spPr>
          <a:xfrm flipH="1">
            <a:off x="3359925" y="1475100"/>
            <a:ext cx="793800" cy="155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8" name="Google Shape;358;p30"/>
          <p:cNvCxnSpPr>
            <a:stCxn id="350" idx="2"/>
            <a:endCxn id="354" idx="0"/>
          </p:cNvCxnSpPr>
          <p:nvPr/>
        </p:nvCxnSpPr>
        <p:spPr>
          <a:xfrm>
            <a:off x="5813775" y="1475100"/>
            <a:ext cx="594000" cy="155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9" name="Google Shape;359;p30"/>
          <p:cNvCxnSpPr>
            <a:stCxn id="351" idx="2"/>
            <a:endCxn id="355" idx="0"/>
          </p:cNvCxnSpPr>
          <p:nvPr/>
        </p:nvCxnSpPr>
        <p:spPr>
          <a:xfrm>
            <a:off x="6610341" y="1475100"/>
            <a:ext cx="1702500" cy="155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60" name="Google Shape;360;p30"/>
          <p:cNvSpPr/>
          <p:nvPr/>
        </p:nvSpPr>
        <p:spPr>
          <a:xfrm>
            <a:off x="588675" y="3281625"/>
            <a:ext cx="685800" cy="12867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30"/>
          <p:cNvSpPr/>
          <p:nvPr/>
        </p:nvSpPr>
        <p:spPr>
          <a:xfrm>
            <a:off x="1283709" y="3281625"/>
            <a:ext cx="685800" cy="12867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30"/>
          <p:cNvSpPr/>
          <p:nvPr/>
        </p:nvSpPr>
        <p:spPr>
          <a:xfrm>
            <a:off x="1985475" y="3281625"/>
            <a:ext cx="625500" cy="12867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30"/>
          <p:cNvSpPr/>
          <p:nvPr/>
        </p:nvSpPr>
        <p:spPr>
          <a:xfrm rot="5400000" flipH="1">
            <a:off x="328025" y="2924775"/>
            <a:ext cx="474300" cy="239400"/>
          </a:xfrm>
          <a:prstGeom prst="bentUpArrow">
            <a:avLst>
              <a:gd name="adj1" fmla="val 0"/>
              <a:gd name="adj2" fmla="val 13183"/>
              <a:gd name="adj3" fmla="val 22002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64" name="Google Shape;364;p30"/>
          <p:cNvCxnSpPr/>
          <p:nvPr/>
        </p:nvCxnSpPr>
        <p:spPr>
          <a:xfrm>
            <a:off x="1052641" y="2504778"/>
            <a:ext cx="0" cy="6834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65" name="Google Shape;365;p30"/>
          <p:cNvSpPr txBox="1"/>
          <p:nvPr/>
        </p:nvSpPr>
        <p:spPr>
          <a:xfrm>
            <a:off x="775700" y="2458625"/>
            <a:ext cx="3426300" cy="8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d   Répertoire</a:t>
            </a:r>
            <a:br>
              <a:rPr lang="fr" sz="12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-   Fichier</a:t>
            </a:r>
            <a:br>
              <a:rPr lang="fr" sz="12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l   Lien Symbolique (raccourci)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66" name="Google Shape;366;p30"/>
          <p:cNvSpPr txBox="1"/>
          <p:nvPr/>
        </p:nvSpPr>
        <p:spPr>
          <a:xfrm>
            <a:off x="0" y="4801800"/>
            <a:ext cx="1441622" cy="3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Propriétaire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67" name="Google Shape;367;p30"/>
          <p:cNvSpPr txBox="1"/>
          <p:nvPr/>
        </p:nvSpPr>
        <p:spPr>
          <a:xfrm>
            <a:off x="1216525" y="4801800"/>
            <a:ext cx="831900" cy="3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Groupe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68" name="Google Shape;368;p30"/>
          <p:cNvSpPr txBox="1"/>
          <p:nvPr/>
        </p:nvSpPr>
        <p:spPr>
          <a:xfrm>
            <a:off x="2048425" y="4801800"/>
            <a:ext cx="904500" cy="3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Autres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369" name="Google Shape;369;p30"/>
          <p:cNvCxnSpPr>
            <a:cxnSpLocks/>
            <a:stCxn id="360" idx="2"/>
            <a:endCxn id="366" idx="0"/>
          </p:cNvCxnSpPr>
          <p:nvPr/>
        </p:nvCxnSpPr>
        <p:spPr>
          <a:xfrm flipH="1">
            <a:off x="720811" y="4568325"/>
            <a:ext cx="210764" cy="23347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0" name="Google Shape;370;p30"/>
          <p:cNvCxnSpPr>
            <a:stCxn id="361" idx="2"/>
            <a:endCxn id="367" idx="0"/>
          </p:cNvCxnSpPr>
          <p:nvPr/>
        </p:nvCxnSpPr>
        <p:spPr>
          <a:xfrm>
            <a:off x="1626609" y="4568325"/>
            <a:ext cx="6000" cy="233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1" name="Google Shape;371;p30"/>
          <p:cNvCxnSpPr>
            <a:stCxn id="362" idx="2"/>
            <a:endCxn id="368" idx="0"/>
          </p:cNvCxnSpPr>
          <p:nvPr/>
        </p:nvCxnSpPr>
        <p:spPr>
          <a:xfrm>
            <a:off x="2298225" y="4568325"/>
            <a:ext cx="202500" cy="233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72" name="Google Shape;372;p30"/>
          <p:cNvSpPr/>
          <p:nvPr/>
        </p:nvSpPr>
        <p:spPr>
          <a:xfrm>
            <a:off x="2911069" y="3887594"/>
            <a:ext cx="420300" cy="138600"/>
          </a:xfrm>
          <a:prstGeom prst="rightArrow">
            <a:avLst>
              <a:gd name="adj1" fmla="val 0"/>
              <a:gd name="adj2" fmla="val 84866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30"/>
          <p:cNvSpPr txBox="1"/>
          <p:nvPr/>
        </p:nvSpPr>
        <p:spPr>
          <a:xfrm>
            <a:off x="3359925" y="3640600"/>
            <a:ext cx="2520900" cy="6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-  standard 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latin typeface="Courier New"/>
                <a:ea typeface="Courier New"/>
                <a:cs typeface="Courier New"/>
                <a:sym typeface="Courier New"/>
              </a:rPr>
              <a:t>+  droits supplémentaires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374" name="Google Shape;374;p30"/>
          <p:cNvCxnSpPr/>
          <p:nvPr/>
        </p:nvCxnSpPr>
        <p:spPr>
          <a:xfrm>
            <a:off x="3632031" y="3793225"/>
            <a:ext cx="0" cy="304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375" name="Google Shape;375;p30"/>
          <p:cNvGraphicFramePr/>
          <p:nvPr/>
        </p:nvGraphicFramePr>
        <p:xfrm>
          <a:off x="6863000" y="3416775"/>
          <a:ext cx="1526050" cy="1143000"/>
        </p:xfrm>
        <a:graphic>
          <a:graphicData uri="http://schemas.openxmlformats.org/drawingml/2006/table">
            <a:tbl>
              <a:tblPr>
                <a:noFill/>
                <a:tableStyleId>{C986AE7D-AF4A-4FAC-BD20-953C9C73A9C3}</a:tableStyleId>
              </a:tblPr>
              <a:tblGrid>
                <a:gridCol w="54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 b="1" u="sng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</a:t>
                      </a:r>
                      <a:r>
                        <a:rPr lang="fr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ead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w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 b="1" u="sng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W</a:t>
                      </a:r>
                      <a:r>
                        <a:rPr lang="fr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rite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x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</a:t>
                      </a:r>
                      <a:r>
                        <a:rPr lang="fr" sz="1200" b="1" u="sng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X</a:t>
                      </a:r>
                      <a:r>
                        <a:rPr lang="fr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ecute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76" name="Google Shape;376;p30"/>
          <p:cNvSpPr txBox="1">
            <a:spLocks noGrp="1"/>
          </p:cNvSpPr>
          <p:nvPr>
            <p:ph type="sldNum" idx="12"/>
          </p:nvPr>
        </p:nvSpPr>
        <p:spPr>
          <a:xfrm>
            <a:off x="8625000" y="4939350"/>
            <a:ext cx="519000" cy="2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1"/>
          <p:cNvSpPr txBox="1">
            <a:spLocks noGrp="1"/>
          </p:cNvSpPr>
          <p:nvPr>
            <p:ph type="title"/>
          </p:nvPr>
        </p:nvSpPr>
        <p:spPr>
          <a:xfrm>
            <a:off x="0" y="-11925"/>
            <a:ext cx="9143700" cy="7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40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Déplacement</a:t>
            </a:r>
            <a:endParaRPr sz="4000" b="1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31"/>
          <p:cNvSpPr/>
          <p:nvPr/>
        </p:nvSpPr>
        <p:spPr>
          <a:xfrm>
            <a:off x="0" y="665225"/>
            <a:ext cx="9143700" cy="41400"/>
          </a:xfrm>
          <a:prstGeom prst="rect">
            <a:avLst/>
          </a:prstGeom>
          <a:gradFill>
            <a:gsLst>
              <a:gs pos="0">
                <a:srgbClr val="CD0920"/>
              </a:gs>
              <a:gs pos="9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31"/>
          <p:cNvSpPr txBox="1"/>
          <p:nvPr/>
        </p:nvSpPr>
        <p:spPr>
          <a:xfrm>
            <a:off x="22175" y="666800"/>
            <a:ext cx="1662300" cy="7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000">
                <a:latin typeface="Courier New"/>
                <a:ea typeface="Courier New"/>
                <a:cs typeface="Courier New"/>
                <a:sym typeface="Courier New"/>
              </a:rPr>
              <a:t>cd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84" name="Google Shape;384;p31"/>
          <p:cNvSpPr txBox="1"/>
          <p:nvPr/>
        </p:nvSpPr>
        <p:spPr>
          <a:xfrm>
            <a:off x="1684475" y="818300"/>
            <a:ext cx="4707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/>
              <a:t>Se déplacer à travers les répertoires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/>
              <a:t> </a:t>
            </a:r>
            <a:endParaRPr sz="1800"/>
          </a:p>
        </p:txBody>
      </p:sp>
      <p:sp>
        <p:nvSpPr>
          <p:cNvPr id="385" name="Google Shape;385;p31"/>
          <p:cNvSpPr txBox="1"/>
          <p:nvPr/>
        </p:nvSpPr>
        <p:spPr>
          <a:xfrm>
            <a:off x="320275" y="4298550"/>
            <a:ext cx="4335300" cy="596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cd dossier/</a:t>
            </a:r>
            <a:endParaRPr b="1">
              <a:solidFill>
                <a:srgbClr val="00FF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cd ../</a:t>
            </a:r>
            <a:endParaRPr b="1">
              <a:solidFill>
                <a:srgbClr val="00FF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386" name="Google Shape;386;p31"/>
          <p:cNvCxnSpPr>
            <a:stCxn id="387" idx="2"/>
            <a:endCxn id="388" idx="0"/>
          </p:cNvCxnSpPr>
          <p:nvPr/>
        </p:nvCxnSpPr>
        <p:spPr>
          <a:xfrm flipH="1">
            <a:off x="5638000" y="1807000"/>
            <a:ext cx="11067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9" name="Google Shape;389;p31"/>
          <p:cNvCxnSpPr>
            <a:stCxn id="387" idx="2"/>
            <a:endCxn id="390" idx="0"/>
          </p:cNvCxnSpPr>
          <p:nvPr/>
        </p:nvCxnSpPr>
        <p:spPr>
          <a:xfrm flipH="1">
            <a:off x="6511000" y="1807000"/>
            <a:ext cx="2337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1" name="Google Shape;391;p31"/>
          <p:cNvCxnSpPr>
            <a:stCxn id="387" idx="2"/>
            <a:endCxn id="392" idx="0"/>
          </p:cNvCxnSpPr>
          <p:nvPr/>
        </p:nvCxnSpPr>
        <p:spPr>
          <a:xfrm>
            <a:off x="6744700" y="1807000"/>
            <a:ext cx="5631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3" name="Google Shape;393;p31"/>
          <p:cNvCxnSpPr>
            <a:stCxn id="387" idx="2"/>
            <a:endCxn id="394" idx="0"/>
          </p:cNvCxnSpPr>
          <p:nvPr/>
        </p:nvCxnSpPr>
        <p:spPr>
          <a:xfrm>
            <a:off x="6744700" y="1807000"/>
            <a:ext cx="13602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7" name="Google Shape;387;p31"/>
          <p:cNvSpPr/>
          <p:nvPr/>
        </p:nvSpPr>
        <p:spPr>
          <a:xfrm>
            <a:off x="6596950" y="1492900"/>
            <a:ext cx="2955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>
                <a:solidFill>
                  <a:srgbClr val="FFFFFF"/>
                </a:solidFill>
              </a:rPr>
              <a:t>/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390" name="Google Shape;390;p31"/>
          <p:cNvSpPr/>
          <p:nvPr/>
        </p:nvSpPr>
        <p:spPr>
          <a:xfrm>
            <a:off x="6159442" y="2117300"/>
            <a:ext cx="7032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home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92" name="Google Shape;392;p31"/>
          <p:cNvSpPr/>
          <p:nvPr/>
        </p:nvSpPr>
        <p:spPr>
          <a:xfrm>
            <a:off x="7032508" y="2117300"/>
            <a:ext cx="5508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bin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94" name="Google Shape;394;p31"/>
          <p:cNvSpPr/>
          <p:nvPr/>
        </p:nvSpPr>
        <p:spPr>
          <a:xfrm>
            <a:off x="7753175" y="2117300"/>
            <a:ext cx="7032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media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88" name="Google Shape;388;p31"/>
          <p:cNvSpPr/>
          <p:nvPr/>
        </p:nvSpPr>
        <p:spPr>
          <a:xfrm>
            <a:off x="5286375" y="2117300"/>
            <a:ext cx="7032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etc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95" name="Google Shape;395;p31"/>
          <p:cNvSpPr/>
          <p:nvPr/>
        </p:nvSpPr>
        <p:spPr>
          <a:xfrm>
            <a:off x="6651500" y="2741700"/>
            <a:ext cx="7032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user2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396" name="Google Shape;396;p31"/>
          <p:cNvCxnSpPr>
            <a:stCxn id="390" idx="2"/>
            <a:endCxn id="397" idx="0"/>
          </p:cNvCxnSpPr>
          <p:nvPr/>
        </p:nvCxnSpPr>
        <p:spPr>
          <a:xfrm flipH="1">
            <a:off x="6206242" y="2431400"/>
            <a:ext cx="3048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8" name="Google Shape;398;p31"/>
          <p:cNvCxnSpPr>
            <a:stCxn id="390" idx="2"/>
            <a:endCxn id="395" idx="0"/>
          </p:cNvCxnSpPr>
          <p:nvPr/>
        </p:nvCxnSpPr>
        <p:spPr>
          <a:xfrm>
            <a:off x="6511042" y="2431400"/>
            <a:ext cx="4920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9" name="Google Shape;399;p31"/>
          <p:cNvCxnSpPr>
            <a:stCxn id="397" idx="2"/>
            <a:endCxn id="400" idx="0"/>
          </p:cNvCxnSpPr>
          <p:nvPr/>
        </p:nvCxnSpPr>
        <p:spPr>
          <a:xfrm flipH="1">
            <a:off x="5873550" y="3055800"/>
            <a:ext cx="3327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1" name="Google Shape;401;p31"/>
          <p:cNvCxnSpPr>
            <a:stCxn id="397" idx="2"/>
            <a:endCxn id="402" idx="0"/>
          </p:cNvCxnSpPr>
          <p:nvPr/>
        </p:nvCxnSpPr>
        <p:spPr>
          <a:xfrm>
            <a:off x="6206250" y="3055800"/>
            <a:ext cx="4215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3" name="Google Shape;403;p31"/>
          <p:cNvCxnSpPr>
            <a:stCxn id="397" idx="2"/>
            <a:endCxn id="404" idx="0"/>
          </p:cNvCxnSpPr>
          <p:nvPr/>
        </p:nvCxnSpPr>
        <p:spPr>
          <a:xfrm>
            <a:off x="6206250" y="3055800"/>
            <a:ext cx="12186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5" name="Google Shape;405;p31"/>
          <p:cNvCxnSpPr>
            <a:stCxn id="397" idx="2"/>
            <a:endCxn id="406" idx="0"/>
          </p:cNvCxnSpPr>
          <p:nvPr/>
        </p:nvCxnSpPr>
        <p:spPr>
          <a:xfrm flipH="1">
            <a:off x="4689450" y="3055800"/>
            <a:ext cx="15168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7" name="Google Shape;407;p31"/>
          <p:cNvCxnSpPr>
            <a:stCxn id="397" idx="2"/>
            <a:endCxn id="408" idx="0"/>
          </p:cNvCxnSpPr>
          <p:nvPr/>
        </p:nvCxnSpPr>
        <p:spPr>
          <a:xfrm flipH="1">
            <a:off x="5144850" y="3055800"/>
            <a:ext cx="10614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0" name="Google Shape;400;p31"/>
          <p:cNvSpPr/>
          <p:nvPr/>
        </p:nvSpPr>
        <p:spPr>
          <a:xfrm>
            <a:off x="5540700" y="3366100"/>
            <a:ext cx="665550" cy="355050"/>
          </a:xfrm>
          <a:prstGeom prst="flowChartDocument">
            <a:avLst/>
          </a:prstGeom>
          <a:gradFill>
            <a:gsLst>
              <a:gs pos="0">
                <a:srgbClr val="FFFFFF"/>
              </a:gs>
              <a:gs pos="100000">
                <a:srgbClr val="EFEFEF"/>
              </a:gs>
            </a:gsLst>
            <a:lin ang="10800025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a.txt</a:t>
            </a:r>
            <a:endParaRPr/>
          </a:p>
        </p:txBody>
      </p:sp>
      <p:sp>
        <p:nvSpPr>
          <p:cNvPr id="402" name="Google Shape;402;p31"/>
          <p:cNvSpPr/>
          <p:nvPr/>
        </p:nvSpPr>
        <p:spPr>
          <a:xfrm>
            <a:off x="6295075" y="3366100"/>
            <a:ext cx="665550" cy="355050"/>
          </a:xfrm>
          <a:prstGeom prst="flowChartDocument">
            <a:avLst/>
          </a:prstGeom>
          <a:gradFill>
            <a:gsLst>
              <a:gs pos="0">
                <a:srgbClr val="FFFFFF"/>
              </a:gs>
              <a:gs pos="100000">
                <a:srgbClr val="EFEFEF"/>
              </a:gs>
            </a:gsLst>
            <a:lin ang="10800025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b.txt</a:t>
            </a:r>
            <a:endParaRPr/>
          </a:p>
        </p:txBody>
      </p:sp>
      <p:sp>
        <p:nvSpPr>
          <p:cNvPr id="404" name="Google Shape;404;p31"/>
          <p:cNvSpPr/>
          <p:nvPr/>
        </p:nvSpPr>
        <p:spPr>
          <a:xfrm>
            <a:off x="7092025" y="3366100"/>
            <a:ext cx="665550" cy="355050"/>
          </a:xfrm>
          <a:prstGeom prst="flowChartDocument">
            <a:avLst/>
          </a:prstGeom>
          <a:gradFill>
            <a:gsLst>
              <a:gs pos="0">
                <a:srgbClr val="FFFFFF"/>
              </a:gs>
              <a:gs pos="100000">
                <a:srgbClr val="EFEFEF"/>
              </a:gs>
            </a:gsLst>
            <a:lin ang="10800025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c.csv</a:t>
            </a:r>
            <a:endParaRPr/>
          </a:p>
        </p:txBody>
      </p:sp>
      <p:sp>
        <p:nvSpPr>
          <p:cNvPr id="406" name="Google Shape;406;p31"/>
          <p:cNvSpPr/>
          <p:nvPr/>
        </p:nvSpPr>
        <p:spPr>
          <a:xfrm>
            <a:off x="4523250" y="3366000"/>
            <a:ext cx="3327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.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08" name="Google Shape;408;p31"/>
          <p:cNvSpPr/>
          <p:nvPr/>
        </p:nvSpPr>
        <p:spPr>
          <a:xfrm>
            <a:off x="4978600" y="3366000"/>
            <a:ext cx="3327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..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09" name="Google Shape;409;p31"/>
          <p:cNvSpPr/>
          <p:nvPr/>
        </p:nvSpPr>
        <p:spPr>
          <a:xfrm>
            <a:off x="7888975" y="3366000"/>
            <a:ext cx="8634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dossier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10" name="Google Shape;410;p31"/>
          <p:cNvSpPr/>
          <p:nvPr/>
        </p:nvSpPr>
        <p:spPr>
          <a:xfrm>
            <a:off x="7987900" y="3897950"/>
            <a:ext cx="665550" cy="355050"/>
          </a:xfrm>
          <a:prstGeom prst="flowChartDocument">
            <a:avLst/>
          </a:prstGeom>
          <a:gradFill>
            <a:gsLst>
              <a:gs pos="0">
                <a:srgbClr val="FFFFFF"/>
              </a:gs>
              <a:gs pos="100000">
                <a:srgbClr val="EFEFEF"/>
              </a:gs>
            </a:gsLst>
            <a:lin ang="10800025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d.tsv</a:t>
            </a:r>
            <a:endParaRPr/>
          </a:p>
        </p:txBody>
      </p:sp>
      <p:cxnSp>
        <p:nvCxnSpPr>
          <p:cNvPr id="411" name="Google Shape;411;p31"/>
          <p:cNvCxnSpPr>
            <a:stCxn id="409" idx="2"/>
            <a:endCxn id="410" idx="0"/>
          </p:cNvCxnSpPr>
          <p:nvPr/>
        </p:nvCxnSpPr>
        <p:spPr>
          <a:xfrm>
            <a:off x="8320675" y="3680100"/>
            <a:ext cx="0" cy="21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2" name="Google Shape;412;p31"/>
          <p:cNvCxnSpPr>
            <a:stCxn id="397" idx="2"/>
            <a:endCxn id="409" idx="0"/>
          </p:cNvCxnSpPr>
          <p:nvPr/>
        </p:nvCxnSpPr>
        <p:spPr>
          <a:xfrm>
            <a:off x="6206250" y="3055800"/>
            <a:ext cx="21144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13" name="Google Shape;413;p31"/>
          <p:cNvSpPr/>
          <p:nvPr/>
        </p:nvSpPr>
        <p:spPr>
          <a:xfrm rot="1222439">
            <a:off x="6339016" y="2659945"/>
            <a:ext cx="2254224" cy="512011"/>
          </a:xfrm>
          <a:prstGeom prst="curvedDownArrow">
            <a:avLst>
              <a:gd name="adj1" fmla="val 27390"/>
              <a:gd name="adj2" fmla="val 100176"/>
              <a:gd name="adj3" fmla="val 54141"/>
            </a:avLst>
          </a:prstGeom>
          <a:solidFill>
            <a:srgbClr val="00FF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31"/>
          <p:cNvSpPr/>
          <p:nvPr/>
        </p:nvSpPr>
        <p:spPr>
          <a:xfrm>
            <a:off x="5964750" y="2741700"/>
            <a:ext cx="4830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bif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14" name="Google Shape;414;p31"/>
          <p:cNvSpPr/>
          <p:nvPr/>
        </p:nvSpPr>
        <p:spPr>
          <a:xfrm>
            <a:off x="5785450" y="2751000"/>
            <a:ext cx="295500" cy="295500"/>
          </a:xfrm>
          <a:prstGeom prst="smileyFace">
            <a:avLst>
              <a:gd name="adj" fmla="val 4653"/>
            </a:avLst>
          </a:prstGeom>
          <a:solidFill>
            <a:srgbClr val="FFD966"/>
          </a:solidFill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9900"/>
              </a:solidFill>
            </a:endParaRPr>
          </a:p>
        </p:txBody>
      </p:sp>
      <p:sp>
        <p:nvSpPr>
          <p:cNvPr id="415" name="Google Shape;415;p31"/>
          <p:cNvSpPr txBox="1">
            <a:spLocks noGrp="1"/>
          </p:cNvSpPr>
          <p:nvPr>
            <p:ph type="sldNum" idx="12"/>
          </p:nvPr>
        </p:nvSpPr>
        <p:spPr>
          <a:xfrm>
            <a:off x="8625000" y="4939350"/>
            <a:ext cx="519000" cy="2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2"/>
          <p:cNvSpPr txBox="1">
            <a:spLocks noGrp="1"/>
          </p:cNvSpPr>
          <p:nvPr>
            <p:ph type="title"/>
          </p:nvPr>
        </p:nvSpPr>
        <p:spPr>
          <a:xfrm>
            <a:off x="0" y="-11925"/>
            <a:ext cx="9143700" cy="7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40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Déplacement</a:t>
            </a:r>
            <a:endParaRPr sz="4000" b="1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32"/>
          <p:cNvSpPr/>
          <p:nvPr/>
        </p:nvSpPr>
        <p:spPr>
          <a:xfrm>
            <a:off x="0" y="665225"/>
            <a:ext cx="9143700" cy="41400"/>
          </a:xfrm>
          <a:prstGeom prst="rect">
            <a:avLst/>
          </a:prstGeom>
          <a:gradFill>
            <a:gsLst>
              <a:gs pos="0">
                <a:srgbClr val="CD0920"/>
              </a:gs>
              <a:gs pos="9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32"/>
          <p:cNvSpPr txBox="1"/>
          <p:nvPr/>
        </p:nvSpPr>
        <p:spPr>
          <a:xfrm>
            <a:off x="22175" y="666800"/>
            <a:ext cx="1662300" cy="7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000">
                <a:latin typeface="Courier New"/>
                <a:ea typeface="Courier New"/>
                <a:cs typeface="Courier New"/>
                <a:sym typeface="Courier New"/>
              </a:rPr>
              <a:t>touch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23" name="Google Shape;423;p32"/>
          <p:cNvSpPr txBox="1"/>
          <p:nvPr/>
        </p:nvSpPr>
        <p:spPr>
          <a:xfrm>
            <a:off x="1684475" y="818300"/>
            <a:ext cx="4707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/>
              <a:t>Créer un fichier vide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/>
              <a:t> </a:t>
            </a:r>
            <a:endParaRPr sz="1800"/>
          </a:p>
        </p:txBody>
      </p:sp>
      <p:sp>
        <p:nvSpPr>
          <p:cNvPr id="424" name="Google Shape;424;p32"/>
          <p:cNvSpPr txBox="1"/>
          <p:nvPr/>
        </p:nvSpPr>
        <p:spPr>
          <a:xfrm>
            <a:off x="320275" y="4599750"/>
            <a:ext cx="4335300" cy="295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touch ./fichier_vide</a:t>
            </a:r>
            <a:endParaRPr b="1">
              <a:solidFill>
                <a:srgbClr val="00FF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425" name="Google Shape;425;p32"/>
          <p:cNvCxnSpPr>
            <a:stCxn id="426" idx="2"/>
            <a:endCxn id="427" idx="0"/>
          </p:cNvCxnSpPr>
          <p:nvPr/>
        </p:nvCxnSpPr>
        <p:spPr>
          <a:xfrm flipH="1">
            <a:off x="5638000" y="1807000"/>
            <a:ext cx="11067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8" name="Google Shape;428;p32"/>
          <p:cNvCxnSpPr>
            <a:stCxn id="426" idx="2"/>
            <a:endCxn id="429" idx="0"/>
          </p:cNvCxnSpPr>
          <p:nvPr/>
        </p:nvCxnSpPr>
        <p:spPr>
          <a:xfrm flipH="1">
            <a:off x="6511000" y="1807000"/>
            <a:ext cx="2337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0" name="Google Shape;430;p32"/>
          <p:cNvCxnSpPr>
            <a:stCxn id="426" idx="2"/>
            <a:endCxn id="431" idx="0"/>
          </p:cNvCxnSpPr>
          <p:nvPr/>
        </p:nvCxnSpPr>
        <p:spPr>
          <a:xfrm>
            <a:off x="6744700" y="1807000"/>
            <a:ext cx="5631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2" name="Google Shape;432;p32"/>
          <p:cNvCxnSpPr>
            <a:stCxn id="426" idx="2"/>
            <a:endCxn id="433" idx="0"/>
          </p:cNvCxnSpPr>
          <p:nvPr/>
        </p:nvCxnSpPr>
        <p:spPr>
          <a:xfrm>
            <a:off x="6744700" y="1807000"/>
            <a:ext cx="13602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6" name="Google Shape;426;p32"/>
          <p:cNvSpPr/>
          <p:nvPr/>
        </p:nvSpPr>
        <p:spPr>
          <a:xfrm>
            <a:off x="6596950" y="1492900"/>
            <a:ext cx="2955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>
                <a:solidFill>
                  <a:srgbClr val="FFFFFF"/>
                </a:solidFill>
              </a:rPr>
              <a:t>/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429" name="Google Shape;429;p32"/>
          <p:cNvSpPr/>
          <p:nvPr/>
        </p:nvSpPr>
        <p:spPr>
          <a:xfrm>
            <a:off x="6159442" y="2117300"/>
            <a:ext cx="7032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home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31" name="Google Shape;431;p32"/>
          <p:cNvSpPr/>
          <p:nvPr/>
        </p:nvSpPr>
        <p:spPr>
          <a:xfrm>
            <a:off x="7032508" y="2117300"/>
            <a:ext cx="5508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bin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33" name="Google Shape;433;p32"/>
          <p:cNvSpPr/>
          <p:nvPr/>
        </p:nvSpPr>
        <p:spPr>
          <a:xfrm>
            <a:off x="7753175" y="2117300"/>
            <a:ext cx="7032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media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27" name="Google Shape;427;p32"/>
          <p:cNvSpPr/>
          <p:nvPr/>
        </p:nvSpPr>
        <p:spPr>
          <a:xfrm>
            <a:off x="5286375" y="2117300"/>
            <a:ext cx="7032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etc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34" name="Google Shape;434;p32"/>
          <p:cNvSpPr/>
          <p:nvPr/>
        </p:nvSpPr>
        <p:spPr>
          <a:xfrm>
            <a:off x="6651500" y="2741700"/>
            <a:ext cx="7032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user2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435" name="Google Shape;435;p32"/>
          <p:cNvCxnSpPr>
            <a:stCxn id="429" idx="2"/>
            <a:endCxn id="436" idx="0"/>
          </p:cNvCxnSpPr>
          <p:nvPr/>
        </p:nvCxnSpPr>
        <p:spPr>
          <a:xfrm flipH="1">
            <a:off x="6206242" y="2431400"/>
            <a:ext cx="3048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7" name="Google Shape;437;p32"/>
          <p:cNvCxnSpPr>
            <a:stCxn id="429" idx="2"/>
            <a:endCxn id="434" idx="0"/>
          </p:cNvCxnSpPr>
          <p:nvPr/>
        </p:nvCxnSpPr>
        <p:spPr>
          <a:xfrm>
            <a:off x="6511042" y="2431400"/>
            <a:ext cx="4920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8" name="Google Shape;438;p32"/>
          <p:cNvCxnSpPr>
            <a:stCxn id="436" idx="2"/>
            <a:endCxn id="439" idx="0"/>
          </p:cNvCxnSpPr>
          <p:nvPr/>
        </p:nvCxnSpPr>
        <p:spPr>
          <a:xfrm flipH="1">
            <a:off x="5873550" y="3055800"/>
            <a:ext cx="3327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0" name="Google Shape;440;p32"/>
          <p:cNvCxnSpPr>
            <a:stCxn id="436" idx="2"/>
            <a:endCxn id="441" idx="0"/>
          </p:cNvCxnSpPr>
          <p:nvPr/>
        </p:nvCxnSpPr>
        <p:spPr>
          <a:xfrm>
            <a:off x="6206250" y="3055800"/>
            <a:ext cx="4215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2" name="Google Shape;442;p32"/>
          <p:cNvCxnSpPr>
            <a:stCxn id="436" idx="2"/>
            <a:endCxn id="443" idx="0"/>
          </p:cNvCxnSpPr>
          <p:nvPr/>
        </p:nvCxnSpPr>
        <p:spPr>
          <a:xfrm>
            <a:off x="6206250" y="3055800"/>
            <a:ext cx="12186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4" name="Google Shape;444;p32"/>
          <p:cNvCxnSpPr>
            <a:stCxn id="436" idx="2"/>
            <a:endCxn id="445" idx="0"/>
          </p:cNvCxnSpPr>
          <p:nvPr/>
        </p:nvCxnSpPr>
        <p:spPr>
          <a:xfrm flipH="1">
            <a:off x="4689450" y="3055800"/>
            <a:ext cx="15168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6" name="Google Shape;446;p32"/>
          <p:cNvCxnSpPr>
            <a:stCxn id="436" idx="2"/>
            <a:endCxn id="447" idx="0"/>
          </p:cNvCxnSpPr>
          <p:nvPr/>
        </p:nvCxnSpPr>
        <p:spPr>
          <a:xfrm flipH="1">
            <a:off x="5144850" y="3055800"/>
            <a:ext cx="10614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39" name="Google Shape;439;p32"/>
          <p:cNvSpPr/>
          <p:nvPr/>
        </p:nvSpPr>
        <p:spPr>
          <a:xfrm>
            <a:off x="5540700" y="3366100"/>
            <a:ext cx="665550" cy="355050"/>
          </a:xfrm>
          <a:prstGeom prst="flowChartDocument">
            <a:avLst/>
          </a:prstGeom>
          <a:gradFill>
            <a:gsLst>
              <a:gs pos="0">
                <a:srgbClr val="FFFFFF"/>
              </a:gs>
              <a:gs pos="100000">
                <a:srgbClr val="EFEFEF"/>
              </a:gs>
            </a:gsLst>
            <a:lin ang="10800025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a.txt</a:t>
            </a:r>
            <a:endParaRPr/>
          </a:p>
        </p:txBody>
      </p:sp>
      <p:sp>
        <p:nvSpPr>
          <p:cNvPr id="441" name="Google Shape;441;p32"/>
          <p:cNvSpPr/>
          <p:nvPr/>
        </p:nvSpPr>
        <p:spPr>
          <a:xfrm>
            <a:off x="6295075" y="3366100"/>
            <a:ext cx="665550" cy="355050"/>
          </a:xfrm>
          <a:prstGeom prst="flowChartDocument">
            <a:avLst/>
          </a:prstGeom>
          <a:gradFill>
            <a:gsLst>
              <a:gs pos="0">
                <a:srgbClr val="FFFFFF"/>
              </a:gs>
              <a:gs pos="100000">
                <a:srgbClr val="EFEFEF"/>
              </a:gs>
            </a:gsLst>
            <a:lin ang="10800025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b.txt</a:t>
            </a:r>
            <a:endParaRPr/>
          </a:p>
        </p:txBody>
      </p:sp>
      <p:sp>
        <p:nvSpPr>
          <p:cNvPr id="443" name="Google Shape;443;p32"/>
          <p:cNvSpPr/>
          <p:nvPr/>
        </p:nvSpPr>
        <p:spPr>
          <a:xfrm>
            <a:off x="7092025" y="3366100"/>
            <a:ext cx="665550" cy="355050"/>
          </a:xfrm>
          <a:prstGeom prst="flowChartDocument">
            <a:avLst/>
          </a:prstGeom>
          <a:gradFill>
            <a:gsLst>
              <a:gs pos="0">
                <a:srgbClr val="FFFFFF"/>
              </a:gs>
              <a:gs pos="100000">
                <a:srgbClr val="EFEFEF"/>
              </a:gs>
            </a:gsLst>
            <a:lin ang="10800025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c.csv</a:t>
            </a:r>
            <a:endParaRPr/>
          </a:p>
        </p:txBody>
      </p:sp>
      <p:sp>
        <p:nvSpPr>
          <p:cNvPr id="445" name="Google Shape;445;p32"/>
          <p:cNvSpPr/>
          <p:nvPr/>
        </p:nvSpPr>
        <p:spPr>
          <a:xfrm>
            <a:off x="4523250" y="3366000"/>
            <a:ext cx="3327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.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47" name="Google Shape;447;p32"/>
          <p:cNvSpPr/>
          <p:nvPr/>
        </p:nvSpPr>
        <p:spPr>
          <a:xfrm>
            <a:off x="4978600" y="3366000"/>
            <a:ext cx="3327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..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48" name="Google Shape;448;p32"/>
          <p:cNvSpPr/>
          <p:nvPr/>
        </p:nvSpPr>
        <p:spPr>
          <a:xfrm>
            <a:off x="7987900" y="3897950"/>
            <a:ext cx="665550" cy="355050"/>
          </a:xfrm>
          <a:prstGeom prst="flowChartDocument">
            <a:avLst/>
          </a:prstGeom>
          <a:gradFill>
            <a:gsLst>
              <a:gs pos="0">
                <a:srgbClr val="FFFFFF"/>
              </a:gs>
              <a:gs pos="100000">
                <a:srgbClr val="EFEFEF"/>
              </a:gs>
            </a:gsLst>
            <a:lin ang="10800025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d.tsv</a:t>
            </a:r>
            <a:endParaRPr/>
          </a:p>
        </p:txBody>
      </p:sp>
      <p:cxnSp>
        <p:nvCxnSpPr>
          <p:cNvPr id="449" name="Google Shape;449;p32"/>
          <p:cNvCxnSpPr>
            <a:stCxn id="450" idx="2"/>
            <a:endCxn id="448" idx="0"/>
          </p:cNvCxnSpPr>
          <p:nvPr/>
        </p:nvCxnSpPr>
        <p:spPr>
          <a:xfrm>
            <a:off x="8320675" y="3680100"/>
            <a:ext cx="0" cy="21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36" name="Google Shape;436;p32"/>
          <p:cNvSpPr/>
          <p:nvPr/>
        </p:nvSpPr>
        <p:spPr>
          <a:xfrm>
            <a:off x="5964750" y="2741700"/>
            <a:ext cx="4830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bif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51" name="Google Shape;451;p32"/>
          <p:cNvSpPr/>
          <p:nvPr/>
        </p:nvSpPr>
        <p:spPr>
          <a:xfrm>
            <a:off x="5785450" y="2751000"/>
            <a:ext cx="295500" cy="295500"/>
          </a:xfrm>
          <a:prstGeom prst="smileyFace">
            <a:avLst>
              <a:gd name="adj" fmla="val 4653"/>
            </a:avLst>
          </a:prstGeom>
          <a:solidFill>
            <a:srgbClr val="FFD966"/>
          </a:solidFill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9900"/>
              </a:solidFill>
            </a:endParaRPr>
          </a:p>
        </p:txBody>
      </p:sp>
      <p:sp>
        <p:nvSpPr>
          <p:cNvPr id="452" name="Google Shape;452;p32"/>
          <p:cNvSpPr/>
          <p:nvPr/>
        </p:nvSpPr>
        <p:spPr>
          <a:xfrm>
            <a:off x="3270799" y="3366100"/>
            <a:ext cx="1106676" cy="355050"/>
          </a:xfrm>
          <a:prstGeom prst="flowChartDocument">
            <a:avLst/>
          </a:prstGeom>
          <a:gradFill>
            <a:gsLst>
              <a:gs pos="0">
                <a:srgbClr val="FFFFFF"/>
              </a:gs>
              <a:gs pos="100000">
                <a:srgbClr val="EFEFEF"/>
              </a:gs>
            </a:gsLst>
            <a:lin ang="10800025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fichier_vide</a:t>
            </a:r>
            <a:endParaRPr/>
          </a:p>
        </p:txBody>
      </p:sp>
      <p:cxnSp>
        <p:nvCxnSpPr>
          <p:cNvPr id="453" name="Google Shape;453;p32"/>
          <p:cNvCxnSpPr>
            <a:endCxn id="452" idx="0"/>
          </p:cNvCxnSpPr>
          <p:nvPr/>
        </p:nvCxnSpPr>
        <p:spPr>
          <a:xfrm flipH="1">
            <a:off x="3824137" y="3055900"/>
            <a:ext cx="23820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4" name="Google Shape;454;p32"/>
          <p:cNvCxnSpPr>
            <a:endCxn id="450" idx="0"/>
          </p:cNvCxnSpPr>
          <p:nvPr/>
        </p:nvCxnSpPr>
        <p:spPr>
          <a:xfrm>
            <a:off x="6206275" y="3055800"/>
            <a:ext cx="21144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50" name="Google Shape;450;p32"/>
          <p:cNvSpPr/>
          <p:nvPr/>
        </p:nvSpPr>
        <p:spPr>
          <a:xfrm>
            <a:off x="7888975" y="3366000"/>
            <a:ext cx="8634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dossier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55" name="Google Shape;455;p32"/>
          <p:cNvSpPr txBox="1">
            <a:spLocks noGrp="1"/>
          </p:cNvSpPr>
          <p:nvPr>
            <p:ph type="sldNum" idx="12"/>
          </p:nvPr>
        </p:nvSpPr>
        <p:spPr>
          <a:xfrm>
            <a:off x="8625000" y="4939350"/>
            <a:ext cx="519000" cy="2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33"/>
          <p:cNvSpPr txBox="1">
            <a:spLocks noGrp="1"/>
          </p:cNvSpPr>
          <p:nvPr>
            <p:ph type="title"/>
          </p:nvPr>
        </p:nvSpPr>
        <p:spPr>
          <a:xfrm>
            <a:off x="0" y="-11925"/>
            <a:ext cx="9143700" cy="7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40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Déplacement</a:t>
            </a:r>
            <a:endParaRPr sz="4000" b="1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33"/>
          <p:cNvSpPr/>
          <p:nvPr/>
        </p:nvSpPr>
        <p:spPr>
          <a:xfrm>
            <a:off x="0" y="665225"/>
            <a:ext cx="9143700" cy="41400"/>
          </a:xfrm>
          <a:prstGeom prst="rect">
            <a:avLst/>
          </a:prstGeom>
          <a:gradFill>
            <a:gsLst>
              <a:gs pos="0">
                <a:srgbClr val="CD0920"/>
              </a:gs>
              <a:gs pos="9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33"/>
          <p:cNvSpPr txBox="1"/>
          <p:nvPr/>
        </p:nvSpPr>
        <p:spPr>
          <a:xfrm>
            <a:off x="22175" y="666800"/>
            <a:ext cx="1662300" cy="7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000">
                <a:latin typeface="Courier New"/>
                <a:ea typeface="Courier New"/>
                <a:cs typeface="Courier New"/>
                <a:sym typeface="Courier New"/>
              </a:rPr>
              <a:t>rm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63" name="Google Shape;463;p33"/>
          <p:cNvSpPr txBox="1"/>
          <p:nvPr/>
        </p:nvSpPr>
        <p:spPr>
          <a:xfrm>
            <a:off x="1684475" y="818300"/>
            <a:ext cx="4707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/>
              <a:t>Supprimer un fichier </a:t>
            </a:r>
            <a:endParaRPr sz="1800"/>
          </a:p>
        </p:txBody>
      </p:sp>
      <p:sp>
        <p:nvSpPr>
          <p:cNvPr id="464" name="Google Shape;464;p33"/>
          <p:cNvSpPr txBox="1"/>
          <p:nvPr/>
        </p:nvSpPr>
        <p:spPr>
          <a:xfrm>
            <a:off x="320275" y="4599750"/>
            <a:ext cx="4335300" cy="295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rm c.csv</a:t>
            </a:r>
            <a:endParaRPr b="1">
              <a:solidFill>
                <a:srgbClr val="00FF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465" name="Google Shape;465;p33"/>
          <p:cNvCxnSpPr>
            <a:stCxn id="466" idx="2"/>
            <a:endCxn id="467" idx="0"/>
          </p:cNvCxnSpPr>
          <p:nvPr/>
        </p:nvCxnSpPr>
        <p:spPr>
          <a:xfrm flipH="1">
            <a:off x="5638000" y="1807000"/>
            <a:ext cx="11067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8" name="Google Shape;468;p33"/>
          <p:cNvCxnSpPr>
            <a:stCxn id="466" idx="2"/>
            <a:endCxn id="469" idx="0"/>
          </p:cNvCxnSpPr>
          <p:nvPr/>
        </p:nvCxnSpPr>
        <p:spPr>
          <a:xfrm flipH="1">
            <a:off x="6511000" y="1807000"/>
            <a:ext cx="2337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0" name="Google Shape;470;p33"/>
          <p:cNvCxnSpPr>
            <a:stCxn id="466" idx="2"/>
            <a:endCxn id="471" idx="0"/>
          </p:cNvCxnSpPr>
          <p:nvPr/>
        </p:nvCxnSpPr>
        <p:spPr>
          <a:xfrm>
            <a:off x="6744700" y="1807000"/>
            <a:ext cx="5631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2" name="Google Shape;472;p33"/>
          <p:cNvCxnSpPr>
            <a:stCxn id="466" idx="2"/>
            <a:endCxn id="473" idx="0"/>
          </p:cNvCxnSpPr>
          <p:nvPr/>
        </p:nvCxnSpPr>
        <p:spPr>
          <a:xfrm>
            <a:off x="6744700" y="1807000"/>
            <a:ext cx="13602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6" name="Google Shape;466;p33"/>
          <p:cNvSpPr/>
          <p:nvPr/>
        </p:nvSpPr>
        <p:spPr>
          <a:xfrm>
            <a:off x="6596950" y="1492900"/>
            <a:ext cx="2955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>
                <a:solidFill>
                  <a:srgbClr val="FFFFFF"/>
                </a:solidFill>
              </a:rPr>
              <a:t>/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469" name="Google Shape;469;p33"/>
          <p:cNvSpPr/>
          <p:nvPr/>
        </p:nvSpPr>
        <p:spPr>
          <a:xfrm>
            <a:off x="6159442" y="2117300"/>
            <a:ext cx="7032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home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71" name="Google Shape;471;p33"/>
          <p:cNvSpPr/>
          <p:nvPr/>
        </p:nvSpPr>
        <p:spPr>
          <a:xfrm>
            <a:off x="7032508" y="2117300"/>
            <a:ext cx="5508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bin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73" name="Google Shape;473;p33"/>
          <p:cNvSpPr/>
          <p:nvPr/>
        </p:nvSpPr>
        <p:spPr>
          <a:xfrm>
            <a:off x="7753175" y="2117300"/>
            <a:ext cx="7032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media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67" name="Google Shape;467;p33"/>
          <p:cNvSpPr/>
          <p:nvPr/>
        </p:nvSpPr>
        <p:spPr>
          <a:xfrm>
            <a:off x="5286375" y="2117300"/>
            <a:ext cx="7032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etc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74" name="Google Shape;474;p33"/>
          <p:cNvSpPr/>
          <p:nvPr/>
        </p:nvSpPr>
        <p:spPr>
          <a:xfrm>
            <a:off x="6651500" y="2741700"/>
            <a:ext cx="7032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user2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475" name="Google Shape;475;p33"/>
          <p:cNvCxnSpPr>
            <a:stCxn id="469" idx="2"/>
            <a:endCxn id="476" idx="0"/>
          </p:cNvCxnSpPr>
          <p:nvPr/>
        </p:nvCxnSpPr>
        <p:spPr>
          <a:xfrm flipH="1">
            <a:off x="6206242" y="2431400"/>
            <a:ext cx="3048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7" name="Google Shape;477;p33"/>
          <p:cNvCxnSpPr>
            <a:stCxn id="469" idx="2"/>
            <a:endCxn id="474" idx="0"/>
          </p:cNvCxnSpPr>
          <p:nvPr/>
        </p:nvCxnSpPr>
        <p:spPr>
          <a:xfrm>
            <a:off x="6511042" y="2431400"/>
            <a:ext cx="4920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8" name="Google Shape;478;p33"/>
          <p:cNvCxnSpPr>
            <a:stCxn id="476" idx="2"/>
            <a:endCxn id="479" idx="0"/>
          </p:cNvCxnSpPr>
          <p:nvPr/>
        </p:nvCxnSpPr>
        <p:spPr>
          <a:xfrm flipH="1">
            <a:off x="5873550" y="3055800"/>
            <a:ext cx="3327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0" name="Google Shape;480;p33"/>
          <p:cNvCxnSpPr>
            <a:stCxn id="476" idx="2"/>
            <a:endCxn id="481" idx="0"/>
          </p:cNvCxnSpPr>
          <p:nvPr/>
        </p:nvCxnSpPr>
        <p:spPr>
          <a:xfrm>
            <a:off x="6206250" y="3055800"/>
            <a:ext cx="4215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2" name="Google Shape;482;p33"/>
          <p:cNvCxnSpPr>
            <a:stCxn id="476" idx="2"/>
            <a:endCxn id="483" idx="0"/>
          </p:cNvCxnSpPr>
          <p:nvPr/>
        </p:nvCxnSpPr>
        <p:spPr>
          <a:xfrm flipH="1">
            <a:off x="4689450" y="3055800"/>
            <a:ext cx="15168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4" name="Google Shape;484;p33"/>
          <p:cNvCxnSpPr>
            <a:stCxn id="476" idx="2"/>
            <a:endCxn id="485" idx="0"/>
          </p:cNvCxnSpPr>
          <p:nvPr/>
        </p:nvCxnSpPr>
        <p:spPr>
          <a:xfrm flipH="1">
            <a:off x="5144850" y="3055800"/>
            <a:ext cx="10614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9" name="Google Shape;479;p33"/>
          <p:cNvSpPr/>
          <p:nvPr/>
        </p:nvSpPr>
        <p:spPr>
          <a:xfrm>
            <a:off x="5540700" y="3366100"/>
            <a:ext cx="665550" cy="355050"/>
          </a:xfrm>
          <a:prstGeom prst="flowChartDocument">
            <a:avLst/>
          </a:prstGeom>
          <a:gradFill>
            <a:gsLst>
              <a:gs pos="0">
                <a:srgbClr val="FFFFFF"/>
              </a:gs>
              <a:gs pos="100000">
                <a:srgbClr val="EFEFEF"/>
              </a:gs>
            </a:gsLst>
            <a:lin ang="10800025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a.txt</a:t>
            </a:r>
            <a:endParaRPr/>
          </a:p>
        </p:txBody>
      </p:sp>
      <p:sp>
        <p:nvSpPr>
          <p:cNvPr id="481" name="Google Shape;481;p33"/>
          <p:cNvSpPr/>
          <p:nvPr/>
        </p:nvSpPr>
        <p:spPr>
          <a:xfrm>
            <a:off x="6295075" y="3366100"/>
            <a:ext cx="665550" cy="355050"/>
          </a:xfrm>
          <a:prstGeom prst="flowChartDocument">
            <a:avLst/>
          </a:prstGeom>
          <a:gradFill>
            <a:gsLst>
              <a:gs pos="0">
                <a:srgbClr val="FFFFFF"/>
              </a:gs>
              <a:gs pos="100000">
                <a:srgbClr val="EFEFEF"/>
              </a:gs>
            </a:gsLst>
            <a:lin ang="10800025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b.txt</a:t>
            </a:r>
            <a:endParaRPr/>
          </a:p>
        </p:txBody>
      </p:sp>
      <p:sp>
        <p:nvSpPr>
          <p:cNvPr id="483" name="Google Shape;483;p33"/>
          <p:cNvSpPr/>
          <p:nvPr/>
        </p:nvSpPr>
        <p:spPr>
          <a:xfrm>
            <a:off x="4523250" y="3366000"/>
            <a:ext cx="3327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.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85" name="Google Shape;485;p33"/>
          <p:cNvSpPr/>
          <p:nvPr/>
        </p:nvSpPr>
        <p:spPr>
          <a:xfrm>
            <a:off x="4978600" y="3366000"/>
            <a:ext cx="3327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..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86" name="Google Shape;486;p33"/>
          <p:cNvSpPr/>
          <p:nvPr/>
        </p:nvSpPr>
        <p:spPr>
          <a:xfrm>
            <a:off x="7987900" y="3897950"/>
            <a:ext cx="665550" cy="355050"/>
          </a:xfrm>
          <a:prstGeom prst="flowChartDocument">
            <a:avLst/>
          </a:prstGeom>
          <a:gradFill>
            <a:gsLst>
              <a:gs pos="0">
                <a:srgbClr val="FFFFFF"/>
              </a:gs>
              <a:gs pos="100000">
                <a:srgbClr val="EFEFEF"/>
              </a:gs>
            </a:gsLst>
            <a:lin ang="10800025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d.tsv</a:t>
            </a:r>
            <a:endParaRPr/>
          </a:p>
        </p:txBody>
      </p:sp>
      <p:cxnSp>
        <p:nvCxnSpPr>
          <p:cNvPr id="487" name="Google Shape;487;p33"/>
          <p:cNvCxnSpPr>
            <a:stCxn id="488" idx="2"/>
            <a:endCxn id="486" idx="0"/>
          </p:cNvCxnSpPr>
          <p:nvPr/>
        </p:nvCxnSpPr>
        <p:spPr>
          <a:xfrm>
            <a:off x="8320675" y="3680100"/>
            <a:ext cx="0" cy="21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6" name="Google Shape;476;p33"/>
          <p:cNvSpPr/>
          <p:nvPr/>
        </p:nvSpPr>
        <p:spPr>
          <a:xfrm>
            <a:off x="5964750" y="2741700"/>
            <a:ext cx="4830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bif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89" name="Google Shape;489;p33"/>
          <p:cNvSpPr/>
          <p:nvPr/>
        </p:nvSpPr>
        <p:spPr>
          <a:xfrm>
            <a:off x="5785450" y="2751000"/>
            <a:ext cx="295500" cy="295500"/>
          </a:xfrm>
          <a:prstGeom prst="smileyFace">
            <a:avLst>
              <a:gd name="adj" fmla="val 4653"/>
            </a:avLst>
          </a:prstGeom>
          <a:solidFill>
            <a:srgbClr val="FFD966"/>
          </a:solidFill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9900"/>
              </a:solidFill>
            </a:endParaRPr>
          </a:p>
        </p:txBody>
      </p:sp>
      <p:sp>
        <p:nvSpPr>
          <p:cNvPr id="490" name="Google Shape;490;p33"/>
          <p:cNvSpPr/>
          <p:nvPr/>
        </p:nvSpPr>
        <p:spPr>
          <a:xfrm>
            <a:off x="3270799" y="3366100"/>
            <a:ext cx="1106676" cy="355050"/>
          </a:xfrm>
          <a:prstGeom prst="flowChartDocument">
            <a:avLst/>
          </a:prstGeom>
          <a:gradFill>
            <a:gsLst>
              <a:gs pos="0">
                <a:srgbClr val="FFFFFF"/>
              </a:gs>
              <a:gs pos="100000">
                <a:srgbClr val="EFEFEF"/>
              </a:gs>
            </a:gsLst>
            <a:lin ang="10800025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fichier_vide</a:t>
            </a:r>
            <a:endParaRPr/>
          </a:p>
        </p:txBody>
      </p:sp>
      <p:cxnSp>
        <p:nvCxnSpPr>
          <p:cNvPr id="491" name="Google Shape;491;p33"/>
          <p:cNvCxnSpPr>
            <a:endCxn id="490" idx="0"/>
          </p:cNvCxnSpPr>
          <p:nvPr/>
        </p:nvCxnSpPr>
        <p:spPr>
          <a:xfrm flipH="1">
            <a:off x="3824137" y="3055900"/>
            <a:ext cx="23820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92" name="Google Shape;492;p33"/>
          <p:cNvCxnSpPr>
            <a:endCxn id="488" idx="0"/>
          </p:cNvCxnSpPr>
          <p:nvPr/>
        </p:nvCxnSpPr>
        <p:spPr>
          <a:xfrm>
            <a:off x="6206275" y="3055800"/>
            <a:ext cx="21144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88" name="Google Shape;488;p33"/>
          <p:cNvSpPr/>
          <p:nvPr/>
        </p:nvSpPr>
        <p:spPr>
          <a:xfrm>
            <a:off x="7888975" y="3366000"/>
            <a:ext cx="8634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dossier</a:t>
            </a:r>
            <a:endParaRPr>
              <a:solidFill>
                <a:srgbClr val="FFFFFF"/>
              </a:solidFill>
            </a:endParaRPr>
          </a:p>
        </p:txBody>
      </p:sp>
      <p:graphicFrame>
        <p:nvGraphicFramePr>
          <p:cNvPr id="493" name="Google Shape;493;p33"/>
          <p:cNvGraphicFramePr/>
          <p:nvPr/>
        </p:nvGraphicFramePr>
        <p:xfrm>
          <a:off x="149100" y="1615875"/>
          <a:ext cx="4661450" cy="792420"/>
        </p:xfrm>
        <a:graphic>
          <a:graphicData uri="http://schemas.openxmlformats.org/drawingml/2006/table">
            <a:tbl>
              <a:tblPr>
                <a:noFill/>
                <a:tableStyleId>{C986AE7D-AF4A-4FAC-BD20-953C9C73A9C3}</a:tableStyleId>
              </a:tblPr>
              <a:tblGrid>
                <a:gridCol w="104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b="1">
                          <a:solidFill>
                            <a:srgbClr val="C00000"/>
                          </a:solidFill>
                        </a:rPr>
                        <a:t>Option(s)</a:t>
                      </a:r>
                      <a:endParaRPr b="1">
                        <a:solidFill>
                          <a:srgbClr val="C00000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b="1">
                          <a:solidFill>
                            <a:srgbClr val="C00000"/>
                          </a:solidFill>
                        </a:rPr>
                        <a:t>Description</a:t>
                      </a:r>
                      <a:endParaRPr b="1">
                        <a:solidFill>
                          <a:srgbClr val="C00000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-r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/>
                        <a:t>Récursif, supprime un répertoire</a:t>
                      </a:r>
                      <a:endParaRPr sz="12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94" name="Google Shape;494;p33"/>
          <p:cNvSpPr txBox="1">
            <a:spLocks noGrp="1"/>
          </p:cNvSpPr>
          <p:nvPr>
            <p:ph type="sldNum" idx="12"/>
          </p:nvPr>
        </p:nvSpPr>
        <p:spPr>
          <a:xfrm>
            <a:off x="8625000" y="4939350"/>
            <a:ext cx="519000" cy="2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4"/>
          <p:cNvSpPr txBox="1">
            <a:spLocks noGrp="1"/>
          </p:cNvSpPr>
          <p:nvPr>
            <p:ph type="title"/>
          </p:nvPr>
        </p:nvSpPr>
        <p:spPr>
          <a:xfrm>
            <a:off x="0" y="-11925"/>
            <a:ext cx="9143700" cy="7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40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Déplacement</a:t>
            </a:r>
            <a:endParaRPr sz="4000" b="1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34"/>
          <p:cNvSpPr/>
          <p:nvPr/>
        </p:nvSpPr>
        <p:spPr>
          <a:xfrm>
            <a:off x="0" y="665225"/>
            <a:ext cx="9143700" cy="41400"/>
          </a:xfrm>
          <a:prstGeom prst="rect">
            <a:avLst/>
          </a:prstGeom>
          <a:gradFill>
            <a:gsLst>
              <a:gs pos="0">
                <a:srgbClr val="CD0920"/>
              </a:gs>
              <a:gs pos="9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34"/>
          <p:cNvSpPr txBox="1"/>
          <p:nvPr/>
        </p:nvSpPr>
        <p:spPr>
          <a:xfrm>
            <a:off x="22175" y="666800"/>
            <a:ext cx="1662300" cy="7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000">
                <a:latin typeface="Courier New"/>
                <a:ea typeface="Courier New"/>
                <a:cs typeface="Courier New"/>
                <a:sym typeface="Courier New"/>
              </a:rPr>
              <a:t>mv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02" name="Google Shape;502;p34"/>
          <p:cNvSpPr txBox="1"/>
          <p:nvPr/>
        </p:nvSpPr>
        <p:spPr>
          <a:xfrm>
            <a:off x="1684475" y="818300"/>
            <a:ext cx="5952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/>
              <a:t>Déplacer / Renommer un fichier ou un répertoire</a:t>
            </a:r>
            <a:endParaRPr sz="1800"/>
          </a:p>
        </p:txBody>
      </p:sp>
      <p:sp>
        <p:nvSpPr>
          <p:cNvPr id="503" name="Google Shape;503;p34"/>
          <p:cNvSpPr txBox="1"/>
          <p:nvPr/>
        </p:nvSpPr>
        <p:spPr>
          <a:xfrm>
            <a:off x="320275" y="4599750"/>
            <a:ext cx="4335300" cy="295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mv a.txt dossier/aa.txt</a:t>
            </a:r>
            <a:endParaRPr b="1">
              <a:solidFill>
                <a:srgbClr val="00FF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504" name="Google Shape;504;p34"/>
          <p:cNvCxnSpPr>
            <a:stCxn id="505" idx="2"/>
            <a:endCxn id="506" idx="0"/>
          </p:cNvCxnSpPr>
          <p:nvPr/>
        </p:nvCxnSpPr>
        <p:spPr>
          <a:xfrm flipH="1">
            <a:off x="5638000" y="1807000"/>
            <a:ext cx="11067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07" name="Google Shape;507;p34"/>
          <p:cNvCxnSpPr>
            <a:stCxn id="505" idx="2"/>
            <a:endCxn id="508" idx="0"/>
          </p:cNvCxnSpPr>
          <p:nvPr/>
        </p:nvCxnSpPr>
        <p:spPr>
          <a:xfrm flipH="1">
            <a:off x="6511000" y="1807000"/>
            <a:ext cx="2337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09" name="Google Shape;509;p34"/>
          <p:cNvCxnSpPr>
            <a:stCxn id="505" idx="2"/>
            <a:endCxn id="510" idx="0"/>
          </p:cNvCxnSpPr>
          <p:nvPr/>
        </p:nvCxnSpPr>
        <p:spPr>
          <a:xfrm>
            <a:off x="6744700" y="1807000"/>
            <a:ext cx="5631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1" name="Google Shape;511;p34"/>
          <p:cNvCxnSpPr>
            <a:stCxn id="505" idx="2"/>
            <a:endCxn id="512" idx="0"/>
          </p:cNvCxnSpPr>
          <p:nvPr/>
        </p:nvCxnSpPr>
        <p:spPr>
          <a:xfrm>
            <a:off x="6744700" y="1807000"/>
            <a:ext cx="13602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5" name="Google Shape;505;p34"/>
          <p:cNvSpPr/>
          <p:nvPr/>
        </p:nvSpPr>
        <p:spPr>
          <a:xfrm>
            <a:off x="6596950" y="1492900"/>
            <a:ext cx="2955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>
                <a:solidFill>
                  <a:srgbClr val="FFFFFF"/>
                </a:solidFill>
              </a:rPr>
              <a:t>/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508" name="Google Shape;508;p34"/>
          <p:cNvSpPr/>
          <p:nvPr/>
        </p:nvSpPr>
        <p:spPr>
          <a:xfrm>
            <a:off x="6159442" y="2117300"/>
            <a:ext cx="7032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home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10" name="Google Shape;510;p34"/>
          <p:cNvSpPr/>
          <p:nvPr/>
        </p:nvSpPr>
        <p:spPr>
          <a:xfrm>
            <a:off x="7032508" y="2117300"/>
            <a:ext cx="5508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bin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12" name="Google Shape;512;p34"/>
          <p:cNvSpPr/>
          <p:nvPr/>
        </p:nvSpPr>
        <p:spPr>
          <a:xfrm>
            <a:off x="7753175" y="2117300"/>
            <a:ext cx="7032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media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06" name="Google Shape;506;p34"/>
          <p:cNvSpPr/>
          <p:nvPr/>
        </p:nvSpPr>
        <p:spPr>
          <a:xfrm>
            <a:off x="5286375" y="2117300"/>
            <a:ext cx="7032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etc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13" name="Google Shape;513;p34"/>
          <p:cNvSpPr/>
          <p:nvPr/>
        </p:nvSpPr>
        <p:spPr>
          <a:xfrm>
            <a:off x="6651500" y="2741700"/>
            <a:ext cx="7032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user2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514" name="Google Shape;514;p34"/>
          <p:cNvCxnSpPr>
            <a:stCxn id="508" idx="2"/>
            <a:endCxn id="515" idx="0"/>
          </p:cNvCxnSpPr>
          <p:nvPr/>
        </p:nvCxnSpPr>
        <p:spPr>
          <a:xfrm flipH="1">
            <a:off x="6206242" y="2431400"/>
            <a:ext cx="3048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6" name="Google Shape;516;p34"/>
          <p:cNvCxnSpPr>
            <a:stCxn id="508" idx="2"/>
            <a:endCxn id="513" idx="0"/>
          </p:cNvCxnSpPr>
          <p:nvPr/>
        </p:nvCxnSpPr>
        <p:spPr>
          <a:xfrm>
            <a:off x="6511042" y="2431400"/>
            <a:ext cx="4920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7" name="Google Shape;517;p34"/>
          <p:cNvCxnSpPr>
            <a:stCxn id="515" idx="2"/>
            <a:endCxn id="518" idx="0"/>
          </p:cNvCxnSpPr>
          <p:nvPr/>
        </p:nvCxnSpPr>
        <p:spPr>
          <a:xfrm flipH="1">
            <a:off x="5873550" y="3055800"/>
            <a:ext cx="3327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9" name="Google Shape;519;p34"/>
          <p:cNvCxnSpPr>
            <a:stCxn id="515" idx="2"/>
            <a:endCxn id="520" idx="0"/>
          </p:cNvCxnSpPr>
          <p:nvPr/>
        </p:nvCxnSpPr>
        <p:spPr>
          <a:xfrm>
            <a:off x="6206250" y="3055800"/>
            <a:ext cx="4215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1" name="Google Shape;521;p34"/>
          <p:cNvCxnSpPr>
            <a:stCxn id="515" idx="2"/>
            <a:endCxn id="522" idx="0"/>
          </p:cNvCxnSpPr>
          <p:nvPr/>
        </p:nvCxnSpPr>
        <p:spPr>
          <a:xfrm flipH="1">
            <a:off x="4689450" y="3055800"/>
            <a:ext cx="15168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3" name="Google Shape;523;p34"/>
          <p:cNvCxnSpPr>
            <a:stCxn id="515" idx="2"/>
            <a:endCxn id="524" idx="0"/>
          </p:cNvCxnSpPr>
          <p:nvPr/>
        </p:nvCxnSpPr>
        <p:spPr>
          <a:xfrm flipH="1">
            <a:off x="5144850" y="3055800"/>
            <a:ext cx="10614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18" name="Google Shape;518;p34"/>
          <p:cNvSpPr/>
          <p:nvPr/>
        </p:nvSpPr>
        <p:spPr>
          <a:xfrm>
            <a:off x="5540700" y="3366100"/>
            <a:ext cx="665550" cy="355050"/>
          </a:xfrm>
          <a:prstGeom prst="flowChartDocument">
            <a:avLst/>
          </a:prstGeom>
          <a:gradFill>
            <a:gsLst>
              <a:gs pos="0">
                <a:srgbClr val="FFFFFF"/>
              </a:gs>
              <a:gs pos="100000">
                <a:srgbClr val="EFEFEF"/>
              </a:gs>
            </a:gsLst>
            <a:lin ang="10800025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a.txt</a:t>
            </a:r>
            <a:endParaRPr/>
          </a:p>
        </p:txBody>
      </p:sp>
      <p:sp>
        <p:nvSpPr>
          <p:cNvPr id="520" name="Google Shape;520;p34"/>
          <p:cNvSpPr/>
          <p:nvPr/>
        </p:nvSpPr>
        <p:spPr>
          <a:xfrm>
            <a:off x="6295075" y="3366100"/>
            <a:ext cx="665550" cy="355050"/>
          </a:xfrm>
          <a:prstGeom prst="flowChartDocument">
            <a:avLst/>
          </a:prstGeom>
          <a:gradFill>
            <a:gsLst>
              <a:gs pos="0">
                <a:srgbClr val="FFFFFF"/>
              </a:gs>
              <a:gs pos="100000">
                <a:srgbClr val="EFEFEF"/>
              </a:gs>
            </a:gsLst>
            <a:lin ang="10800025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b.txt</a:t>
            </a:r>
            <a:endParaRPr/>
          </a:p>
        </p:txBody>
      </p:sp>
      <p:sp>
        <p:nvSpPr>
          <p:cNvPr id="522" name="Google Shape;522;p34"/>
          <p:cNvSpPr/>
          <p:nvPr/>
        </p:nvSpPr>
        <p:spPr>
          <a:xfrm>
            <a:off x="4523250" y="3366000"/>
            <a:ext cx="3327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.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24" name="Google Shape;524;p34"/>
          <p:cNvSpPr/>
          <p:nvPr/>
        </p:nvSpPr>
        <p:spPr>
          <a:xfrm>
            <a:off x="4978600" y="3366000"/>
            <a:ext cx="3327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..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25" name="Google Shape;525;p34"/>
          <p:cNvSpPr/>
          <p:nvPr/>
        </p:nvSpPr>
        <p:spPr>
          <a:xfrm>
            <a:off x="7987900" y="3897950"/>
            <a:ext cx="665550" cy="355050"/>
          </a:xfrm>
          <a:prstGeom prst="flowChartDocument">
            <a:avLst/>
          </a:prstGeom>
          <a:gradFill>
            <a:gsLst>
              <a:gs pos="0">
                <a:srgbClr val="FFFFFF"/>
              </a:gs>
              <a:gs pos="100000">
                <a:srgbClr val="EFEFEF"/>
              </a:gs>
            </a:gsLst>
            <a:lin ang="10800025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d.tsv</a:t>
            </a:r>
            <a:endParaRPr/>
          </a:p>
        </p:txBody>
      </p:sp>
      <p:cxnSp>
        <p:nvCxnSpPr>
          <p:cNvPr id="526" name="Google Shape;526;p34"/>
          <p:cNvCxnSpPr>
            <a:stCxn id="527" idx="2"/>
            <a:endCxn id="525" idx="0"/>
          </p:cNvCxnSpPr>
          <p:nvPr/>
        </p:nvCxnSpPr>
        <p:spPr>
          <a:xfrm>
            <a:off x="8320675" y="3680100"/>
            <a:ext cx="0" cy="21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15" name="Google Shape;515;p34"/>
          <p:cNvSpPr/>
          <p:nvPr/>
        </p:nvSpPr>
        <p:spPr>
          <a:xfrm>
            <a:off x="5964750" y="2741700"/>
            <a:ext cx="4830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bif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28" name="Google Shape;528;p34"/>
          <p:cNvSpPr/>
          <p:nvPr/>
        </p:nvSpPr>
        <p:spPr>
          <a:xfrm>
            <a:off x="5785450" y="2751000"/>
            <a:ext cx="295500" cy="295500"/>
          </a:xfrm>
          <a:prstGeom prst="smileyFace">
            <a:avLst>
              <a:gd name="adj" fmla="val 4653"/>
            </a:avLst>
          </a:prstGeom>
          <a:solidFill>
            <a:srgbClr val="FFD966"/>
          </a:solidFill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9900"/>
              </a:solidFill>
            </a:endParaRPr>
          </a:p>
        </p:txBody>
      </p:sp>
      <p:sp>
        <p:nvSpPr>
          <p:cNvPr id="529" name="Google Shape;529;p34"/>
          <p:cNvSpPr/>
          <p:nvPr/>
        </p:nvSpPr>
        <p:spPr>
          <a:xfrm>
            <a:off x="3270799" y="3366100"/>
            <a:ext cx="1106676" cy="355050"/>
          </a:xfrm>
          <a:prstGeom prst="flowChartDocument">
            <a:avLst/>
          </a:prstGeom>
          <a:gradFill>
            <a:gsLst>
              <a:gs pos="0">
                <a:srgbClr val="FFFFFF"/>
              </a:gs>
              <a:gs pos="100000">
                <a:srgbClr val="EFEFEF"/>
              </a:gs>
            </a:gsLst>
            <a:lin ang="10800025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fichier_vide</a:t>
            </a:r>
            <a:endParaRPr/>
          </a:p>
        </p:txBody>
      </p:sp>
      <p:cxnSp>
        <p:nvCxnSpPr>
          <p:cNvPr id="530" name="Google Shape;530;p34"/>
          <p:cNvCxnSpPr>
            <a:endCxn id="529" idx="0"/>
          </p:cNvCxnSpPr>
          <p:nvPr/>
        </p:nvCxnSpPr>
        <p:spPr>
          <a:xfrm flipH="1">
            <a:off x="3824137" y="3055900"/>
            <a:ext cx="23820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1" name="Google Shape;531;p34"/>
          <p:cNvCxnSpPr>
            <a:endCxn id="527" idx="0"/>
          </p:cNvCxnSpPr>
          <p:nvPr/>
        </p:nvCxnSpPr>
        <p:spPr>
          <a:xfrm>
            <a:off x="6206275" y="3055800"/>
            <a:ext cx="21144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27" name="Google Shape;527;p34"/>
          <p:cNvSpPr/>
          <p:nvPr/>
        </p:nvSpPr>
        <p:spPr>
          <a:xfrm>
            <a:off x="7888975" y="3366000"/>
            <a:ext cx="8634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dossier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32" name="Google Shape;532;p34"/>
          <p:cNvSpPr/>
          <p:nvPr/>
        </p:nvSpPr>
        <p:spPr>
          <a:xfrm>
            <a:off x="7164650" y="3897950"/>
            <a:ext cx="665550" cy="355050"/>
          </a:xfrm>
          <a:prstGeom prst="flowChartDocument">
            <a:avLst/>
          </a:prstGeom>
          <a:gradFill>
            <a:gsLst>
              <a:gs pos="0">
                <a:srgbClr val="FFFFFF"/>
              </a:gs>
              <a:gs pos="100000">
                <a:srgbClr val="EFEFEF"/>
              </a:gs>
            </a:gsLst>
            <a:lin ang="10800025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aa.txt</a:t>
            </a:r>
            <a:endParaRPr/>
          </a:p>
        </p:txBody>
      </p:sp>
      <p:cxnSp>
        <p:nvCxnSpPr>
          <p:cNvPr id="533" name="Google Shape;533;p34"/>
          <p:cNvCxnSpPr>
            <a:stCxn id="532" idx="0"/>
            <a:endCxn id="527" idx="2"/>
          </p:cNvCxnSpPr>
          <p:nvPr/>
        </p:nvCxnSpPr>
        <p:spPr>
          <a:xfrm rot="10800000" flipH="1">
            <a:off x="7497425" y="3680150"/>
            <a:ext cx="823200" cy="21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34" name="Google Shape;534;p34"/>
          <p:cNvSpPr txBox="1">
            <a:spLocks noGrp="1"/>
          </p:cNvSpPr>
          <p:nvPr>
            <p:ph type="sldNum" idx="12"/>
          </p:nvPr>
        </p:nvSpPr>
        <p:spPr>
          <a:xfrm>
            <a:off x="8625000" y="4939350"/>
            <a:ext cx="519000" cy="2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35"/>
          <p:cNvSpPr txBox="1">
            <a:spLocks noGrp="1"/>
          </p:cNvSpPr>
          <p:nvPr>
            <p:ph type="title"/>
          </p:nvPr>
        </p:nvSpPr>
        <p:spPr>
          <a:xfrm>
            <a:off x="0" y="-11925"/>
            <a:ext cx="9143700" cy="7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40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Déplacement</a:t>
            </a:r>
            <a:endParaRPr sz="4000" b="1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35"/>
          <p:cNvSpPr/>
          <p:nvPr/>
        </p:nvSpPr>
        <p:spPr>
          <a:xfrm>
            <a:off x="0" y="665225"/>
            <a:ext cx="9143700" cy="41400"/>
          </a:xfrm>
          <a:prstGeom prst="rect">
            <a:avLst/>
          </a:prstGeom>
          <a:gradFill>
            <a:gsLst>
              <a:gs pos="0">
                <a:srgbClr val="CD0920"/>
              </a:gs>
              <a:gs pos="9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35"/>
          <p:cNvSpPr txBox="1"/>
          <p:nvPr/>
        </p:nvSpPr>
        <p:spPr>
          <a:xfrm>
            <a:off x="22175" y="666800"/>
            <a:ext cx="1662300" cy="7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000">
                <a:latin typeface="Courier New"/>
                <a:ea typeface="Courier New"/>
                <a:cs typeface="Courier New"/>
                <a:sym typeface="Courier New"/>
              </a:rPr>
              <a:t>cp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42" name="Google Shape;542;p35"/>
          <p:cNvSpPr txBox="1"/>
          <p:nvPr/>
        </p:nvSpPr>
        <p:spPr>
          <a:xfrm>
            <a:off x="1684475" y="818300"/>
            <a:ext cx="5952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/>
              <a:t>Copier un fichier</a:t>
            </a:r>
            <a:endParaRPr sz="1800"/>
          </a:p>
        </p:txBody>
      </p:sp>
      <p:sp>
        <p:nvSpPr>
          <p:cNvPr id="543" name="Google Shape;543;p35"/>
          <p:cNvSpPr txBox="1"/>
          <p:nvPr/>
        </p:nvSpPr>
        <p:spPr>
          <a:xfrm>
            <a:off x="320275" y="4599750"/>
            <a:ext cx="4335300" cy="295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cp -r dossier dossier2</a:t>
            </a:r>
            <a:endParaRPr b="1">
              <a:solidFill>
                <a:srgbClr val="00FF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544" name="Google Shape;544;p35"/>
          <p:cNvCxnSpPr>
            <a:stCxn id="545" idx="2"/>
            <a:endCxn id="546" idx="0"/>
          </p:cNvCxnSpPr>
          <p:nvPr/>
        </p:nvCxnSpPr>
        <p:spPr>
          <a:xfrm flipH="1">
            <a:off x="5638000" y="1807000"/>
            <a:ext cx="11067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7" name="Google Shape;547;p35"/>
          <p:cNvCxnSpPr>
            <a:stCxn id="545" idx="2"/>
            <a:endCxn id="548" idx="0"/>
          </p:cNvCxnSpPr>
          <p:nvPr/>
        </p:nvCxnSpPr>
        <p:spPr>
          <a:xfrm flipH="1">
            <a:off x="6511000" y="1807000"/>
            <a:ext cx="2337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9" name="Google Shape;549;p35"/>
          <p:cNvCxnSpPr>
            <a:stCxn id="545" idx="2"/>
            <a:endCxn id="550" idx="0"/>
          </p:cNvCxnSpPr>
          <p:nvPr/>
        </p:nvCxnSpPr>
        <p:spPr>
          <a:xfrm>
            <a:off x="6744700" y="1807000"/>
            <a:ext cx="5631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1" name="Google Shape;551;p35"/>
          <p:cNvCxnSpPr>
            <a:stCxn id="545" idx="2"/>
            <a:endCxn id="552" idx="0"/>
          </p:cNvCxnSpPr>
          <p:nvPr/>
        </p:nvCxnSpPr>
        <p:spPr>
          <a:xfrm>
            <a:off x="6744700" y="1807000"/>
            <a:ext cx="13602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45" name="Google Shape;545;p35"/>
          <p:cNvSpPr/>
          <p:nvPr/>
        </p:nvSpPr>
        <p:spPr>
          <a:xfrm>
            <a:off x="6596950" y="1492900"/>
            <a:ext cx="2955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>
                <a:solidFill>
                  <a:srgbClr val="FFFFFF"/>
                </a:solidFill>
              </a:rPr>
              <a:t>/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548" name="Google Shape;548;p35"/>
          <p:cNvSpPr/>
          <p:nvPr/>
        </p:nvSpPr>
        <p:spPr>
          <a:xfrm>
            <a:off x="6159442" y="2117300"/>
            <a:ext cx="7032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home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50" name="Google Shape;550;p35"/>
          <p:cNvSpPr/>
          <p:nvPr/>
        </p:nvSpPr>
        <p:spPr>
          <a:xfrm>
            <a:off x="7032508" y="2117300"/>
            <a:ext cx="5508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bin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52" name="Google Shape;552;p35"/>
          <p:cNvSpPr/>
          <p:nvPr/>
        </p:nvSpPr>
        <p:spPr>
          <a:xfrm>
            <a:off x="7753175" y="2117300"/>
            <a:ext cx="7032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media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46" name="Google Shape;546;p35"/>
          <p:cNvSpPr/>
          <p:nvPr/>
        </p:nvSpPr>
        <p:spPr>
          <a:xfrm>
            <a:off x="5286375" y="2117300"/>
            <a:ext cx="7032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etc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53" name="Google Shape;553;p35"/>
          <p:cNvSpPr/>
          <p:nvPr/>
        </p:nvSpPr>
        <p:spPr>
          <a:xfrm>
            <a:off x="6651500" y="2741700"/>
            <a:ext cx="7032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user2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554" name="Google Shape;554;p35"/>
          <p:cNvCxnSpPr>
            <a:stCxn id="548" idx="2"/>
            <a:endCxn id="555" idx="0"/>
          </p:cNvCxnSpPr>
          <p:nvPr/>
        </p:nvCxnSpPr>
        <p:spPr>
          <a:xfrm flipH="1">
            <a:off x="6206242" y="2431400"/>
            <a:ext cx="3048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6" name="Google Shape;556;p35"/>
          <p:cNvCxnSpPr>
            <a:stCxn id="548" idx="2"/>
            <a:endCxn id="553" idx="0"/>
          </p:cNvCxnSpPr>
          <p:nvPr/>
        </p:nvCxnSpPr>
        <p:spPr>
          <a:xfrm>
            <a:off x="6511042" y="2431400"/>
            <a:ext cx="4920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7" name="Google Shape;557;p35"/>
          <p:cNvCxnSpPr>
            <a:stCxn id="555" idx="2"/>
            <a:endCxn id="558" idx="0"/>
          </p:cNvCxnSpPr>
          <p:nvPr/>
        </p:nvCxnSpPr>
        <p:spPr>
          <a:xfrm flipH="1">
            <a:off x="5873550" y="3055800"/>
            <a:ext cx="3327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9" name="Google Shape;559;p35"/>
          <p:cNvCxnSpPr>
            <a:stCxn id="555" idx="2"/>
            <a:endCxn id="560" idx="0"/>
          </p:cNvCxnSpPr>
          <p:nvPr/>
        </p:nvCxnSpPr>
        <p:spPr>
          <a:xfrm>
            <a:off x="6206250" y="3055800"/>
            <a:ext cx="4215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1" name="Google Shape;561;p35"/>
          <p:cNvCxnSpPr>
            <a:stCxn id="555" idx="2"/>
            <a:endCxn id="562" idx="0"/>
          </p:cNvCxnSpPr>
          <p:nvPr/>
        </p:nvCxnSpPr>
        <p:spPr>
          <a:xfrm flipH="1">
            <a:off x="4689450" y="3055800"/>
            <a:ext cx="15168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3" name="Google Shape;563;p35"/>
          <p:cNvCxnSpPr>
            <a:stCxn id="555" idx="2"/>
            <a:endCxn id="564" idx="0"/>
          </p:cNvCxnSpPr>
          <p:nvPr/>
        </p:nvCxnSpPr>
        <p:spPr>
          <a:xfrm flipH="1">
            <a:off x="5144850" y="3055800"/>
            <a:ext cx="10614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58" name="Google Shape;558;p35"/>
          <p:cNvSpPr/>
          <p:nvPr/>
        </p:nvSpPr>
        <p:spPr>
          <a:xfrm>
            <a:off x="5540700" y="3366100"/>
            <a:ext cx="665550" cy="355050"/>
          </a:xfrm>
          <a:prstGeom prst="flowChartDocument">
            <a:avLst/>
          </a:prstGeom>
          <a:gradFill>
            <a:gsLst>
              <a:gs pos="0">
                <a:srgbClr val="FFFFFF"/>
              </a:gs>
              <a:gs pos="100000">
                <a:srgbClr val="EFEFEF"/>
              </a:gs>
            </a:gsLst>
            <a:lin ang="10800025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a.txt</a:t>
            </a:r>
            <a:endParaRPr/>
          </a:p>
        </p:txBody>
      </p:sp>
      <p:sp>
        <p:nvSpPr>
          <p:cNvPr id="560" name="Google Shape;560;p35"/>
          <p:cNvSpPr/>
          <p:nvPr/>
        </p:nvSpPr>
        <p:spPr>
          <a:xfrm>
            <a:off x="6295075" y="3366100"/>
            <a:ext cx="665550" cy="355050"/>
          </a:xfrm>
          <a:prstGeom prst="flowChartDocument">
            <a:avLst/>
          </a:prstGeom>
          <a:gradFill>
            <a:gsLst>
              <a:gs pos="0">
                <a:srgbClr val="FFFFFF"/>
              </a:gs>
              <a:gs pos="100000">
                <a:srgbClr val="EFEFEF"/>
              </a:gs>
            </a:gsLst>
            <a:lin ang="10800025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b.txt</a:t>
            </a:r>
            <a:endParaRPr/>
          </a:p>
        </p:txBody>
      </p:sp>
      <p:sp>
        <p:nvSpPr>
          <p:cNvPr id="562" name="Google Shape;562;p35"/>
          <p:cNvSpPr/>
          <p:nvPr/>
        </p:nvSpPr>
        <p:spPr>
          <a:xfrm>
            <a:off x="4523250" y="3366000"/>
            <a:ext cx="3327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.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64" name="Google Shape;564;p35"/>
          <p:cNvSpPr/>
          <p:nvPr/>
        </p:nvSpPr>
        <p:spPr>
          <a:xfrm>
            <a:off x="4978600" y="3366000"/>
            <a:ext cx="3327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..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65" name="Google Shape;565;p35"/>
          <p:cNvSpPr/>
          <p:nvPr/>
        </p:nvSpPr>
        <p:spPr>
          <a:xfrm>
            <a:off x="7987900" y="3897950"/>
            <a:ext cx="665550" cy="355050"/>
          </a:xfrm>
          <a:prstGeom prst="flowChartDocument">
            <a:avLst/>
          </a:prstGeom>
          <a:gradFill>
            <a:gsLst>
              <a:gs pos="0">
                <a:srgbClr val="FFFFFF"/>
              </a:gs>
              <a:gs pos="100000">
                <a:srgbClr val="EFEFEF"/>
              </a:gs>
            </a:gsLst>
            <a:lin ang="10800025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d.tsv</a:t>
            </a:r>
            <a:endParaRPr/>
          </a:p>
        </p:txBody>
      </p:sp>
      <p:cxnSp>
        <p:nvCxnSpPr>
          <p:cNvPr id="566" name="Google Shape;566;p35"/>
          <p:cNvCxnSpPr>
            <a:stCxn id="567" idx="2"/>
            <a:endCxn id="565" idx="0"/>
          </p:cNvCxnSpPr>
          <p:nvPr/>
        </p:nvCxnSpPr>
        <p:spPr>
          <a:xfrm>
            <a:off x="8320675" y="3680100"/>
            <a:ext cx="0" cy="21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55" name="Google Shape;555;p35"/>
          <p:cNvSpPr/>
          <p:nvPr/>
        </p:nvSpPr>
        <p:spPr>
          <a:xfrm>
            <a:off x="5964750" y="2741700"/>
            <a:ext cx="4830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bif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68" name="Google Shape;568;p35"/>
          <p:cNvSpPr/>
          <p:nvPr/>
        </p:nvSpPr>
        <p:spPr>
          <a:xfrm>
            <a:off x="5785450" y="2751000"/>
            <a:ext cx="295500" cy="295500"/>
          </a:xfrm>
          <a:prstGeom prst="smileyFace">
            <a:avLst>
              <a:gd name="adj" fmla="val 4653"/>
            </a:avLst>
          </a:prstGeom>
          <a:solidFill>
            <a:srgbClr val="FFD966"/>
          </a:solidFill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9900"/>
              </a:solidFill>
            </a:endParaRPr>
          </a:p>
        </p:txBody>
      </p:sp>
      <p:sp>
        <p:nvSpPr>
          <p:cNvPr id="569" name="Google Shape;569;p35"/>
          <p:cNvSpPr/>
          <p:nvPr/>
        </p:nvSpPr>
        <p:spPr>
          <a:xfrm>
            <a:off x="3270799" y="3366100"/>
            <a:ext cx="1106676" cy="355050"/>
          </a:xfrm>
          <a:prstGeom prst="flowChartDocument">
            <a:avLst/>
          </a:prstGeom>
          <a:gradFill>
            <a:gsLst>
              <a:gs pos="0">
                <a:srgbClr val="FFFFFF"/>
              </a:gs>
              <a:gs pos="100000">
                <a:srgbClr val="EFEFEF"/>
              </a:gs>
            </a:gsLst>
            <a:lin ang="10800025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fichier_vide</a:t>
            </a:r>
            <a:endParaRPr/>
          </a:p>
        </p:txBody>
      </p:sp>
      <p:cxnSp>
        <p:nvCxnSpPr>
          <p:cNvPr id="570" name="Google Shape;570;p35"/>
          <p:cNvCxnSpPr>
            <a:endCxn id="569" idx="0"/>
          </p:cNvCxnSpPr>
          <p:nvPr/>
        </p:nvCxnSpPr>
        <p:spPr>
          <a:xfrm flipH="1">
            <a:off x="3824137" y="3055900"/>
            <a:ext cx="23820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71" name="Google Shape;571;p35"/>
          <p:cNvCxnSpPr>
            <a:endCxn id="567" idx="0"/>
          </p:cNvCxnSpPr>
          <p:nvPr/>
        </p:nvCxnSpPr>
        <p:spPr>
          <a:xfrm>
            <a:off x="6206275" y="3055800"/>
            <a:ext cx="21144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67" name="Google Shape;567;p35"/>
          <p:cNvSpPr/>
          <p:nvPr/>
        </p:nvSpPr>
        <p:spPr>
          <a:xfrm>
            <a:off x="7888975" y="3366000"/>
            <a:ext cx="8634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dossier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72" name="Google Shape;572;p35"/>
          <p:cNvSpPr/>
          <p:nvPr/>
        </p:nvSpPr>
        <p:spPr>
          <a:xfrm>
            <a:off x="7164650" y="3897950"/>
            <a:ext cx="665550" cy="355050"/>
          </a:xfrm>
          <a:prstGeom prst="flowChartDocument">
            <a:avLst/>
          </a:prstGeom>
          <a:gradFill>
            <a:gsLst>
              <a:gs pos="0">
                <a:srgbClr val="FFFFFF"/>
              </a:gs>
              <a:gs pos="100000">
                <a:srgbClr val="EFEFEF"/>
              </a:gs>
            </a:gsLst>
            <a:lin ang="10800025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aa.txt</a:t>
            </a:r>
            <a:endParaRPr/>
          </a:p>
        </p:txBody>
      </p:sp>
      <p:cxnSp>
        <p:nvCxnSpPr>
          <p:cNvPr id="573" name="Google Shape;573;p35"/>
          <p:cNvCxnSpPr>
            <a:stCxn id="572" idx="0"/>
            <a:endCxn id="567" idx="2"/>
          </p:cNvCxnSpPr>
          <p:nvPr/>
        </p:nvCxnSpPr>
        <p:spPr>
          <a:xfrm rot="10800000" flipH="1">
            <a:off x="7497425" y="3680150"/>
            <a:ext cx="823200" cy="21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574" name="Google Shape;574;p35"/>
          <p:cNvGraphicFramePr/>
          <p:nvPr/>
        </p:nvGraphicFramePr>
        <p:xfrm>
          <a:off x="149100" y="1615875"/>
          <a:ext cx="4661450" cy="792420"/>
        </p:xfrm>
        <a:graphic>
          <a:graphicData uri="http://schemas.openxmlformats.org/drawingml/2006/table">
            <a:tbl>
              <a:tblPr>
                <a:noFill/>
                <a:tableStyleId>{C986AE7D-AF4A-4FAC-BD20-953C9C73A9C3}</a:tableStyleId>
              </a:tblPr>
              <a:tblGrid>
                <a:gridCol w="104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b="1">
                          <a:solidFill>
                            <a:srgbClr val="C00000"/>
                          </a:solidFill>
                        </a:rPr>
                        <a:t>Option(s)</a:t>
                      </a:r>
                      <a:endParaRPr b="1">
                        <a:solidFill>
                          <a:srgbClr val="C00000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b="1">
                          <a:solidFill>
                            <a:srgbClr val="C00000"/>
                          </a:solidFill>
                        </a:rPr>
                        <a:t>Description</a:t>
                      </a:r>
                      <a:endParaRPr b="1">
                        <a:solidFill>
                          <a:srgbClr val="C00000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-r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/>
                        <a:t>Récursif, copie un répertoire</a:t>
                      </a:r>
                      <a:endParaRPr sz="12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75" name="Google Shape;575;p35"/>
          <p:cNvSpPr/>
          <p:nvPr/>
        </p:nvSpPr>
        <p:spPr>
          <a:xfrm>
            <a:off x="2349100" y="3897950"/>
            <a:ext cx="665550" cy="355050"/>
          </a:xfrm>
          <a:prstGeom prst="flowChartDocument">
            <a:avLst/>
          </a:prstGeom>
          <a:gradFill>
            <a:gsLst>
              <a:gs pos="0">
                <a:srgbClr val="FFFFFF"/>
              </a:gs>
              <a:gs pos="100000">
                <a:srgbClr val="EFEFEF"/>
              </a:gs>
            </a:gsLst>
            <a:lin ang="10800025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d.tsv</a:t>
            </a:r>
            <a:endParaRPr/>
          </a:p>
        </p:txBody>
      </p:sp>
      <p:cxnSp>
        <p:nvCxnSpPr>
          <p:cNvPr id="576" name="Google Shape;576;p35"/>
          <p:cNvCxnSpPr>
            <a:stCxn id="577" idx="2"/>
            <a:endCxn id="575" idx="0"/>
          </p:cNvCxnSpPr>
          <p:nvPr/>
        </p:nvCxnSpPr>
        <p:spPr>
          <a:xfrm>
            <a:off x="2681875" y="3680100"/>
            <a:ext cx="0" cy="21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78" name="Google Shape;578;p35"/>
          <p:cNvSpPr/>
          <p:nvPr/>
        </p:nvSpPr>
        <p:spPr>
          <a:xfrm>
            <a:off x="1525850" y="3897950"/>
            <a:ext cx="665550" cy="355050"/>
          </a:xfrm>
          <a:prstGeom prst="flowChartDocument">
            <a:avLst/>
          </a:prstGeom>
          <a:gradFill>
            <a:gsLst>
              <a:gs pos="0">
                <a:srgbClr val="FFFFFF"/>
              </a:gs>
              <a:gs pos="100000">
                <a:srgbClr val="EFEFEF"/>
              </a:gs>
            </a:gsLst>
            <a:lin ang="10800025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aa.txt</a:t>
            </a:r>
            <a:endParaRPr/>
          </a:p>
        </p:txBody>
      </p:sp>
      <p:cxnSp>
        <p:nvCxnSpPr>
          <p:cNvPr id="579" name="Google Shape;579;p35"/>
          <p:cNvCxnSpPr>
            <a:stCxn id="578" idx="0"/>
            <a:endCxn id="577" idx="2"/>
          </p:cNvCxnSpPr>
          <p:nvPr/>
        </p:nvCxnSpPr>
        <p:spPr>
          <a:xfrm rot="10800000" flipH="1">
            <a:off x="1858625" y="3680150"/>
            <a:ext cx="823200" cy="21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0" name="Google Shape;580;p35"/>
          <p:cNvCxnSpPr>
            <a:stCxn id="555" idx="2"/>
            <a:endCxn id="577" idx="0"/>
          </p:cNvCxnSpPr>
          <p:nvPr/>
        </p:nvCxnSpPr>
        <p:spPr>
          <a:xfrm flipH="1">
            <a:off x="2681850" y="3055800"/>
            <a:ext cx="35244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77" name="Google Shape;577;p35"/>
          <p:cNvSpPr/>
          <p:nvPr/>
        </p:nvSpPr>
        <p:spPr>
          <a:xfrm>
            <a:off x="2250175" y="3366000"/>
            <a:ext cx="8634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dossier2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81" name="Google Shape;581;p35"/>
          <p:cNvSpPr txBox="1">
            <a:spLocks noGrp="1"/>
          </p:cNvSpPr>
          <p:nvPr>
            <p:ph type="sldNum" idx="12"/>
          </p:nvPr>
        </p:nvSpPr>
        <p:spPr>
          <a:xfrm>
            <a:off x="8625000" y="4939350"/>
            <a:ext cx="519000" cy="2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36"/>
          <p:cNvSpPr txBox="1">
            <a:spLocks noGrp="1"/>
          </p:cNvSpPr>
          <p:nvPr>
            <p:ph type="title"/>
          </p:nvPr>
        </p:nvSpPr>
        <p:spPr>
          <a:xfrm>
            <a:off x="0" y="-11925"/>
            <a:ext cx="9143700" cy="7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40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Déplacement</a:t>
            </a:r>
            <a:endParaRPr sz="4000" b="1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36"/>
          <p:cNvSpPr/>
          <p:nvPr/>
        </p:nvSpPr>
        <p:spPr>
          <a:xfrm>
            <a:off x="0" y="665225"/>
            <a:ext cx="9143700" cy="41400"/>
          </a:xfrm>
          <a:prstGeom prst="rect">
            <a:avLst/>
          </a:prstGeom>
          <a:gradFill>
            <a:gsLst>
              <a:gs pos="0">
                <a:srgbClr val="CD0920"/>
              </a:gs>
              <a:gs pos="9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8" name="Google Shape;588;p36"/>
          <p:cNvSpPr txBox="1"/>
          <p:nvPr/>
        </p:nvSpPr>
        <p:spPr>
          <a:xfrm>
            <a:off x="22175" y="666800"/>
            <a:ext cx="1662300" cy="7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000">
                <a:latin typeface="Courier New"/>
                <a:ea typeface="Courier New"/>
                <a:cs typeface="Courier New"/>
                <a:sym typeface="Courier New"/>
              </a:rPr>
              <a:t>mkdir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89" name="Google Shape;589;p36"/>
          <p:cNvSpPr txBox="1"/>
          <p:nvPr/>
        </p:nvSpPr>
        <p:spPr>
          <a:xfrm>
            <a:off x="1684475" y="818300"/>
            <a:ext cx="4707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/>
              <a:t>Créer un répertoire vide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/>
              <a:t> </a:t>
            </a:r>
            <a:endParaRPr sz="1800"/>
          </a:p>
        </p:txBody>
      </p:sp>
      <p:sp>
        <p:nvSpPr>
          <p:cNvPr id="590" name="Google Shape;590;p36"/>
          <p:cNvSpPr txBox="1"/>
          <p:nvPr/>
        </p:nvSpPr>
        <p:spPr>
          <a:xfrm>
            <a:off x="320275" y="4599750"/>
            <a:ext cx="4335300" cy="295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mkdir dossier3</a:t>
            </a:r>
            <a:endParaRPr b="1">
              <a:solidFill>
                <a:srgbClr val="00FF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591" name="Google Shape;591;p36"/>
          <p:cNvCxnSpPr>
            <a:endCxn id="592" idx="0"/>
          </p:cNvCxnSpPr>
          <p:nvPr/>
        </p:nvCxnSpPr>
        <p:spPr>
          <a:xfrm flipH="1">
            <a:off x="5637975" y="1807100"/>
            <a:ext cx="11067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3" name="Google Shape;593;p36"/>
          <p:cNvCxnSpPr>
            <a:endCxn id="594" idx="0"/>
          </p:cNvCxnSpPr>
          <p:nvPr/>
        </p:nvCxnSpPr>
        <p:spPr>
          <a:xfrm flipH="1">
            <a:off x="6511042" y="1807100"/>
            <a:ext cx="2337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5" name="Google Shape;595;p36"/>
          <p:cNvCxnSpPr>
            <a:endCxn id="596" idx="0"/>
          </p:cNvCxnSpPr>
          <p:nvPr/>
        </p:nvCxnSpPr>
        <p:spPr>
          <a:xfrm>
            <a:off x="6744808" y="1807100"/>
            <a:ext cx="5631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7" name="Google Shape;597;p36"/>
          <p:cNvCxnSpPr>
            <a:endCxn id="598" idx="0"/>
          </p:cNvCxnSpPr>
          <p:nvPr/>
        </p:nvCxnSpPr>
        <p:spPr>
          <a:xfrm>
            <a:off x="6744575" y="1807100"/>
            <a:ext cx="13602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94" name="Google Shape;594;p36"/>
          <p:cNvSpPr/>
          <p:nvPr/>
        </p:nvSpPr>
        <p:spPr>
          <a:xfrm>
            <a:off x="6159442" y="2117300"/>
            <a:ext cx="7032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home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96" name="Google Shape;596;p36"/>
          <p:cNvSpPr/>
          <p:nvPr/>
        </p:nvSpPr>
        <p:spPr>
          <a:xfrm>
            <a:off x="7032508" y="2117300"/>
            <a:ext cx="5508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bin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98" name="Google Shape;598;p36"/>
          <p:cNvSpPr/>
          <p:nvPr/>
        </p:nvSpPr>
        <p:spPr>
          <a:xfrm>
            <a:off x="7753175" y="2117300"/>
            <a:ext cx="7032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media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92" name="Google Shape;592;p36"/>
          <p:cNvSpPr/>
          <p:nvPr/>
        </p:nvSpPr>
        <p:spPr>
          <a:xfrm>
            <a:off x="5286375" y="2117300"/>
            <a:ext cx="7032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etc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99" name="Google Shape;599;p36"/>
          <p:cNvSpPr/>
          <p:nvPr/>
        </p:nvSpPr>
        <p:spPr>
          <a:xfrm>
            <a:off x="6651500" y="2741700"/>
            <a:ext cx="7032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user2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600" name="Google Shape;600;p36"/>
          <p:cNvCxnSpPr>
            <a:stCxn id="594" idx="2"/>
            <a:endCxn id="601" idx="0"/>
          </p:cNvCxnSpPr>
          <p:nvPr/>
        </p:nvCxnSpPr>
        <p:spPr>
          <a:xfrm flipH="1">
            <a:off x="6206242" y="2431400"/>
            <a:ext cx="3048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02" name="Google Shape;602;p36"/>
          <p:cNvCxnSpPr>
            <a:stCxn id="594" idx="2"/>
            <a:endCxn id="599" idx="0"/>
          </p:cNvCxnSpPr>
          <p:nvPr/>
        </p:nvCxnSpPr>
        <p:spPr>
          <a:xfrm>
            <a:off x="6511042" y="2431400"/>
            <a:ext cx="4920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03" name="Google Shape;603;p36"/>
          <p:cNvCxnSpPr>
            <a:stCxn id="601" idx="2"/>
            <a:endCxn id="604" idx="0"/>
          </p:cNvCxnSpPr>
          <p:nvPr/>
        </p:nvCxnSpPr>
        <p:spPr>
          <a:xfrm flipH="1">
            <a:off x="5873550" y="3055800"/>
            <a:ext cx="3327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05" name="Google Shape;605;p36"/>
          <p:cNvCxnSpPr>
            <a:stCxn id="601" idx="2"/>
            <a:endCxn id="606" idx="0"/>
          </p:cNvCxnSpPr>
          <p:nvPr/>
        </p:nvCxnSpPr>
        <p:spPr>
          <a:xfrm>
            <a:off x="6206250" y="3055800"/>
            <a:ext cx="4215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07" name="Google Shape;607;p36"/>
          <p:cNvCxnSpPr>
            <a:stCxn id="601" idx="2"/>
            <a:endCxn id="608" idx="0"/>
          </p:cNvCxnSpPr>
          <p:nvPr/>
        </p:nvCxnSpPr>
        <p:spPr>
          <a:xfrm flipH="1">
            <a:off x="4689450" y="3055800"/>
            <a:ext cx="15168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09" name="Google Shape;609;p36"/>
          <p:cNvCxnSpPr>
            <a:stCxn id="601" idx="2"/>
            <a:endCxn id="610" idx="0"/>
          </p:cNvCxnSpPr>
          <p:nvPr/>
        </p:nvCxnSpPr>
        <p:spPr>
          <a:xfrm flipH="1">
            <a:off x="5144850" y="3055800"/>
            <a:ext cx="10614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04" name="Google Shape;604;p36"/>
          <p:cNvSpPr/>
          <p:nvPr/>
        </p:nvSpPr>
        <p:spPr>
          <a:xfrm>
            <a:off x="5540700" y="3366100"/>
            <a:ext cx="665550" cy="355050"/>
          </a:xfrm>
          <a:prstGeom prst="flowChartDocument">
            <a:avLst/>
          </a:prstGeom>
          <a:gradFill>
            <a:gsLst>
              <a:gs pos="0">
                <a:srgbClr val="FFFFFF"/>
              </a:gs>
              <a:gs pos="100000">
                <a:srgbClr val="EFEFEF"/>
              </a:gs>
            </a:gsLst>
            <a:lin ang="10800025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a.txt</a:t>
            </a:r>
            <a:endParaRPr/>
          </a:p>
        </p:txBody>
      </p:sp>
      <p:sp>
        <p:nvSpPr>
          <p:cNvPr id="606" name="Google Shape;606;p36"/>
          <p:cNvSpPr/>
          <p:nvPr/>
        </p:nvSpPr>
        <p:spPr>
          <a:xfrm>
            <a:off x="6295075" y="3366100"/>
            <a:ext cx="665550" cy="355050"/>
          </a:xfrm>
          <a:prstGeom prst="flowChartDocument">
            <a:avLst/>
          </a:prstGeom>
          <a:gradFill>
            <a:gsLst>
              <a:gs pos="0">
                <a:srgbClr val="FFFFFF"/>
              </a:gs>
              <a:gs pos="100000">
                <a:srgbClr val="EFEFEF"/>
              </a:gs>
            </a:gsLst>
            <a:lin ang="10800025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b.txt</a:t>
            </a:r>
            <a:endParaRPr/>
          </a:p>
        </p:txBody>
      </p:sp>
      <p:sp>
        <p:nvSpPr>
          <p:cNvPr id="608" name="Google Shape;608;p36"/>
          <p:cNvSpPr/>
          <p:nvPr/>
        </p:nvSpPr>
        <p:spPr>
          <a:xfrm>
            <a:off x="4523250" y="3366000"/>
            <a:ext cx="3327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.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10" name="Google Shape;610;p36"/>
          <p:cNvSpPr/>
          <p:nvPr/>
        </p:nvSpPr>
        <p:spPr>
          <a:xfrm>
            <a:off x="4978600" y="3366000"/>
            <a:ext cx="3327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..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11" name="Google Shape;611;p36"/>
          <p:cNvSpPr/>
          <p:nvPr/>
        </p:nvSpPr>
        <p:spPr>
          <a:xfrm>
            <a:off x="7987900" y="3897950"/>
            <a:ext cx="665550" cy="355050"/>
          </a:xfrm>
          <a:prstGeom prst="flowChartDocument">
            <a:avLst/>
          </a:prstGeom>
          <a:gradFill>
            <a:gsLst>
              <a:gs pos="0">
                <a:srgbClr val="FFFFFF"/>
              </a:gs>
              <a:gs pos="100000">
                <a:srgbClr val="EFEFEF"/>
              </a:gs>
            </a:gsLst>
            <a:lin ang="10800025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d.tsv</a:t>
            </a:r>
            <a:endParaRPr/>
          </a:p>
        </p:txBody>
      </p:sp>
      <p:cxnSp>
        <p:nvCxnSpPr>
          <p:cNvPr id="612" name="Google Shape;612;p36"/>
          <p:cNvCxnSpPr>
            <a:stCxn id="613" idx="2"/>
            <a:endCxn id="611" idx="0"/>
          </p:cNvCxnSpPr>
          <p:nvPr/>
        </p:nvCxnSpPr>
        <p:spPr>
          <a:xfrm>
            <a:off x="8320675" y="3680100"/>
            <a:ext cx="0" cy="21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14" name="Google Shape;614;p36"/>
          <p:cNvSpPr/>
          <p:nvPr/>
        </p:nvSpPr>
        <p:spPr>
          <a:xfrm>
            <a:off x="3270799" y="3366100"/>
            <a:ext cx="1106676" cy="355050"/>
          </a:xfrm>
          <a:prstGeom prst="flowChartDocument">
            <a:avLst/>
          </a:prstGeom>
          <a:gradFill>
            <a:gsLst>
              <a:gs pos="0">
                <a:srgbClr val="FFFFFF"/>
              </a:gs>
              <a:gs pos="100000">
                <a:srgbClr val="EFEFEF"/>
              </a:gs>
            </a:gsLst>
            <a:lin ang="10800025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fichier_vide</a:t>
            </a:r>
            <a:endParaRPr/>
          </a:p>
        </p:txBody>
      </p:sp>
      <p:cxnSp>
        <p:nvCxnSpPr>
          <p:cNvPr id="615" name="Google Shape;615;p36"/>
          <p:cNvCxnSpPr>
            <a:endCxn id="614" idx="0"/>
          </p:cNvCxnSpPr>
          <p:nvPr/>
        </p:nvCxnSpPr>
        <p:spPr>
          <a:xfrm flipH="1">
            <a:off x="3824137" y="3055900"/>
            <a:ext cx="23820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16" name="Google Shape;616;p36"/>
          <p:cNvCxnSpPr>
            <a:endCxn id="613" idx="0"/>
          </p:cNvCxnSpPr>
          <p:nvPr/>
        </p:nvCxnSpPr>
        <p:spPr>
          <a:xfrm>
            <a:off x="6206275" y="3055800"/>
            <a:ext cx="21144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13" name="Google Shape;613;p36"/>
          <p:cNvSpPr/>
          <p:nvPr/>
        </p:nvSpPr>
        <p:spPr>
          <a:xfrm>
            <a:off x="7888975" y="3366000"/>
            <a:ext cx="8634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dossier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17" name="Google Shape;617;p36"/>
          <p:cNvSpPr/>
          <p:nvPr/>
        </p:nvSpPr>
        <p:spPr>
          <a:xfrm>
            <a:off x="7164650" y="3897950"/>
            <a:ext cx="665550" cy="355050"/>
          </a:xfrm>
          <a:prstGeom prst="flowChartDocument">
            <a:avLst/>
          </a:prstGeom>
          <a:gradFill>
            <a:gsLst>
              <a:gs pos="0">
                <a:srgbClr val="FFFFFF"/>
              </a:gs>
              <a:gs pos="100000">
                <a:srgbClr val="EFEFEF"/>
              </a:gs>
            </a:gsLst>
            <a:lin ang="10800025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aa.txt</a:t>
            </a:r>
            <a:endParaRPr/>
          </a:p>
        </p:txBody>
      </p:sp>
      <p:cxnSp>
        <p:nvCxnSpPr>
          <p:cNvPr id="618" name="Google Shape;618;p36"/>
          <p:cNvCxnSpPr>
            <a:stCxn id="617" idx="0"/>
            <a:endCxn id="613" idx="2"/>
          </p:cNvCxnSpPr>
          <p:nvPr/>
        </p:nvCxnSpPr>
        <p:spPr>
          <a:xfrm rot="10800000" flipH="1">
            <a:off x="7497425" y="3680150"/>
            <a:ext cx="823200" cy="21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19" name="Google Shape;619;p36"/>
          <p:cNvSpPr/>
          <p:nvPr/>
        </p:nvSpPr>
        <p:spPr>
          <a:xfrm>
            <a:off x="2349100" y="3897950"/>
            <a:ext cx="665550" cy="355050"/>
          </a:xfrm>
          <a:prstGeom prst="flowChartDocument">
            <a:avLst/>
          </a:prstGeom>
          <a:gradFill>
            <a:gsLst>
              <a:gs pos="0">
                <a:srgbClr val="FFFFFF"/>
              </a:gs>
              <a:gs pos="100000">
                <a:srgbClr val="EFEFEF"/>
              </a:gs>
            </a:gsLst>
            <a:lin ang="10800025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d.tsv</a:t>
            </a:r>
            <a:endParaRPr/>
          </a:p>
        </p:txBody>
      </p:sp>
      <p:cxnSp>
        <p:nvCxnSpPr>
          <p:cNvPr id="620" name="Google Shape;620;p36"/>
          <p:cNvCxnSpPr>
            <a:stCxn id="621" idx="2"/>
            <a:endCxn id="619" idx="0"/>
          </p:cNvCxnSpPr>
          <p:nvPr/>
        </p:nvCxnSpPr>
        <p:spPr>
          <a:xfrm>
            <a:off x="2681875" y="3680100"/>
            <a:ext cx="0" cy="21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22" name="Google Shape;622;p36"/>
          <p:cNvSpPr/>
          <p:nvPr/>
        </p:nvSpPr>
        <p:spPr>
          <a:xfrm>
            <a:off x="1525850" y="3897950"/>
            <a:ext cx="665550" cy="355050"/>
          </a:xfrm>
          <a:prstGeom prst="flowChartDocument">
            <a:avLst/>
          </a:prstGeom>
          <a:gradFill>
            <a:gsLst>
              <a:gs pos="0">
                <a:srgbClr val="FFFFFF"/>
              </a:gs>
              <a:gs pos="100000">
                <a:srgbClr val="EFEFEF"/>
              </a:gs>
            </a:gsLst>
            <a:lin ang="10800025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aa.txt</a:t>
            </a:r>
            <a:endParaRPr/>
          </a:p>
        </p:txBody>
      </p:sp>
      <p:cxnSp>
        <p:nvCxnSpPr>
          <p:cNvPr id="623" name="Google Shape;623;p36"/>
          <p:cNvCxnSpPr>
            <a:stCxn id="622" idx="0"/>
            <a:endCxn id="621" idx="2"/>
          </p:cNvCxnSpPr>
          <p:nvPr/>
        </p:nvCxnSpPr>
        <p:spPr>
          <a:xfrm rot="10800000" flipH="1">
            <a:off x="1858625" y="3680150"/>
            <a:ext cx="823200" cy="21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24" name="Google Shape;624;p36"/>
          <p:cNvCxnSpPr>
            <a:stCxn id="601" idx="2"/>
            <a:endCxn id="621" idx="0"/>
          </p:cNvCxnSpPr>
          <p:nvPr/>
        </p:nvCxnSpPr>
        <p:spPr>
          <a:xfrm flipH="1">
            <a:off x="2681850" y="3055800"/>
            <a:ext cx="35244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21" name="Google Shape;621;p36"/>
          <p:cNvSpPr/>
          <p:nvPr/>
        </p:nvSpPr>
        <p:spPr>
          <a:xfrm>
            <a:off x="2250175" y="3366000"/>
            <a:ext cx="8634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dossier2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625" name="Google Shape;625;p36"/>
          <p:cNvCxnSpPr>
            <a:endCxn id="626" idx="0"/>
          </p:cNvCxnSpPr>
          <p:nvPr/>
        </p:nvCxnSpPr>
        <p:spPr>
          <a:xfrm flipH="1">
            <a:off x="1615075" y="3055800"/>
            <a:ext cx="45912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26" name="Google Shape;626;p36"/>
          <p:cNvSpPr/>
          <p:nvPr/>
        </p:nvSpPr>
        <p:spPr>
          <a:xfrm>
            <a:off x="1183375" y="3366000"/>
            <a:ext cx="8634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dossier3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01" name="Google Shape;601;p36"/>
          <p:cNvSpPr/>
          <p:nvPr/>
        </p:nvSpPr>
        <p:spPr>
          <a:xfrm>
            <a:off x="5964750" y="2741700"/>
            <a:ext cx="4830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bif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27" name="Google Shape;627;p36"/>
          <p:cNvSpPr/>
          <p:nvPr/>
        </p:nvSpPr>
        <p:spPr>
          <a:xfrm>
            <a:off x="5785450" y="2751000"/>
            <a:ext cx="295500" cy="295500"/>
          </a:xfrm>
          <a:prstGeom prst="smileyFace">
            <a:avLst>
              <a:gd name="adj" fmla="val 4653"/>
            </a:avLst>
          </a:prstGeom>
          <a:solidFill>
            <a:srgbClr val="FFD966"/>
          </a:solidFill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9900"/>
              </a:solidFill>
            </a:endParaRPr>
          </a:p>
        </p:txBody>
      </p:sp>
      <p:sp>
        <p:nvSpPr>
          <p:cNvPr id="628" name="Google Shape;628;p36"/>
          <p:cNvSpPr/>
          <p:nvPr/>
        </p:nvSpPr>
        <p:spPr>
          <a:xfrm>
            <a:off x="6596950" y="1492900"/>
            <a:ext cx="2955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>
                <a:solidFill>
                  <a:srgbClr val="FFFFFF"/>
                </a:solidFill>
              </a:rPr>
              <a:t>/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629" name="Google Shape;629;p36"/>
          <p:cNvSpPr txBox="1">
            <a:spLocks noGrp="1"/>
          </p:cNvSpPr>
          <p:nvPr>
            <p:ph type="sldNum" idx="12"/>
          </p:nvPr>
        </p:nvSpPr>
        <p:spPr>
          <a:xfrm>
            <a:off x="8625000" y="4939350"/>
            <a:ext cx="519000" cy="2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37"/>
          <p:cNvSpPr txBox="1">
            <a:spLocks noGrp="1"/>
          </p:cNvSpPr>
          <p:nvPr>
            <p:ph type="title"/>
          </p:nvPr>
        </p:nvSpPr>
        <p:spPr>
          <a:xfrm>
            <a:off x="0" y="-11925"/>
            <a:ext cx="9143700" cy="7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40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Déplacement</a:t>
            </a:r>
            <a:endParaRPr sz="4000" b="1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37"/>
          <p:cNvSpPr/>
          <p:nvPr/>
        </p:nvSpPr>
        <p:spPr>
          <a:xfrm>
            <a:off x="0" y="665225"/>
            <a:ext cx="9143700" cy="41400"/>
          </a:xfrm>
          <a:prstGeom prst="rect">
            <a:avLst/>
          </a:prstGeom>
          <a:gradFill>
            <a:gsLst>
              <a:gs pos="0">
                <a:srgbClr val="CD0920"/>
              </a:gs>
              <a:gs pos="9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6" name="Google Shape;636;p37"/>
          <p:cNvSpPr txBox="1"/>
          <p:nvPr/>
        </p:nvSpPr>
        <p:spPr>
          <a:xfrm>
            <a:off x="22175" y="666800"/>
            <a:ext cx="1662300" cy="7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000">
                <a:latin typeface="Courier New"/>
                <a:ea typeface="Courier New"/>
                <a:cs typeface="Courier New"/>
                <a:sym typeface="Courier New"/>
              </a:rPr>
              <a:t>rmdir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37" name="Google Shape;637;p37"/>
          <p:cNvSpPr txBox="1"/>
          <p:nvPr/>
        </p:nvSpPr>
        <p:spPr>
          <a:xfrm>
            <a:off x="1684475" y="818300"/>
            <a:ext cx="4707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/>
              <a:t>Supprime un répertoire </a:t>
            </a:r>
            <a:r>
              <a:rPr lang="fr" sz="1800" b="1" u="sng"/>
              <a:t>vide</a:t>
            </a:r>
            <a:endParaRPr sz="1800" b="1" u="sng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/>
              <a:t> </a:t>
            </a:r>
            <a:endParaRPr sz="1800"/>
          </a:p>
        </p:txBody>
      </p:sp>
      <p:sp>
        <p:nvSpPr>
          <p:cNvPr id="638" name="Google Shape;638;p37"/>
          <p:cNvSpPr txBox="1"/>
          <p:nvPr/>
        </p:nvSpPr>
        <p:spPr>
          <a:xfrm>
            <a:off x="320275" y="4599750"/>
            <a:ext cx="4335300" cy="295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rmdir dossier3</a:t>
            </a:r>
            <a:endParaRPr b="1">
              <a:solidFill>
                <a:srgbClr val="00FF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639" name="Google Shape;639;p37"/>
          <p:cNvCxnSpPr>
            <a:endCxn id="640" idx="0"/>
          </p:cNvCxnSpPr>
          <p:nvPr/>
        </p:nvCxnSpPr>
        <p:spPr>
          <a:xfrm flipH="1">
            <a:off x="5637975" y="1807100"/>
            <a:ext cx="11067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1" name="Google Shape;641;p37"/>
          <p:cNvCxnSpPr>
            <a:endCxn id="642" idx="0"/>
          </p:cNvCxnSpPr>
          <p:nvPr/>
        </p:nvCxnSpPr>
        <p:spPr>
          <a:xfrm flipH="1">
            <a:off x="6511042" y="1807100"/>
            <a:ext cx="2337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3" name="Google Shape;643;p37"/>
          <p:cNvCxnSpPr>
            <a:endCxn id="644" idx="0"/>
          </p:cNvCxnSpPr>
          <p:nvPr/>
        </p:nvCxnSpPr>
        <p:spPr>
          <a:xfrm>
            <a:off x="6744808" y="1807100"/>
            <a:ext cx="5631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5" name="Google Shape;645;p37"/>
          <p:cNvCxnSpPr>
            <a:endCxn id="646" idx="0"/>
          </p:cNvCxnSpPr>
          <p:nvPr/>
        </p:nvCxnSpPr>
        <p:spPr>
          <a:xfrm>
            <a:off x="6744575" y="1807100"/>
            <a:ext cx="13602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2" name="Google Shape;642;p37"/>
          <p:cNvSpPr/>
          <p:nvPr/>
        </p:nvSpPr>
        <p:spPr>
          <a:xfrm>
            <a:off x="6159442" y="2117300"/>
            <a:ext cx="7032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home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44" name="Google Shape;644;p37"/>
          <p:cNvSpPr/>
          <p:nvPr/>
        </p:nvSpPr>
        <p:spPr>
          <a:xfrm>
            <a:off x="7032508" y="2117300"/>
            <a:ext cx="5508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bin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46" name="Google Shape;646;p37"/>
          <p:cNvSpPr/>
          <p:nvPr/>
        </p:nvSpPr>
        <p:spPr>
          <a:xfrm>
            <a:off x="7753175" y="2117300"/>
            <a:ext cx="7032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media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40" name="Google Shape;640;p37"/>
          <p:cNvSpPr/>
          <p:nvPr/>
        </p:nvSpPr>
        <p:spPr>
          <a:xfrm>
            <a:off x="5286375" y="2117300"/>
            <a:ext cx="7032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etc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47" name="Google Shape;647;p37"/>
          <p:cNvSpPr/>
          <p:nvPr/>
        </p:nvSpPr>
        <p:spPr>
          <a:xfrm>
            <a:off x="6651500" y="2741700"/>
            <a:ext cx="7032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user2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648" name="Google Shape;648;p37"/>
          <p:cNvCxnSpPr>
            <a:stCxn id="642" idx="2"/>
            <a:endCxn id="649" idx="0"/>
          </p:cNvCxnSpPr>
          <p:nvPr/>
        </p:nvCxnSpPr>
        <p:spPr>
          <a:xfrm flipH="1">
            <a:off x="6206242" y="2431400"/>
            <a:ext cx="3048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0" name="Google Shape;650;p37"/>
          <p:cNvCxnSpPr>
            <a:stCxn id="642" idx="2"/>
            <a:endCxn id="647" idx="0"/>
          </p:cNvCxnSpPr>
          <p:nvPr/>
        </p:nvCxnSpPr>
        <p:spPr>
          <a:xfrm>
            <a:off x="6511042" y="2431400"/>
            <a:ext cx="4920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1" name="Google Shape;651;p37"/>
          <p:cNvCxnSpPr>
            <a:stCxn id="649" idx="2"/>
            <a:endCxn id="652" idx="0"/>
          </p:cNvCxnSpPr>
          <p:nvPr/>
        </p:nvCxnSpPr>
        <p:spPr>
          <a:xfrm flipH="1">
            <a:off x="5873550" y="3055800"/>
            <a:ext cx="3327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3" name="Google Shape;653;p37"/>
          <p:cNvCxnSpPr>
            <a:stCxn id="649" idx="2"/>
            <a:endCxn id="654" idx="0"/>
          </p:cNvCxnSpPr>
          <p:nvPr/>
        </p:nvCxnSpPr>
        <p:spPr>
          <a:xfrm>
            <a:off x="6206250" y="3055800"/>
            <a:ext cx="4215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5" name="Google Shape;655;p37"/>
          <p:cNvCxnSpPr>
            <a:stCxn id="649" idx="2"/>
            <a:endCxn id="656" idx="0"/>
          </p:cNvCxnSpPr>
          <p:nvPr/>
        </p:nvCxnSpPr>
        <p:spPr>
          <a:xfrm flipH="1">
            <a:off x="4689450" y="3055800"/>
            <a:ext cx="15168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7" name="Google Shape;657;p37"/>
          <p:cNvCxnSpPr>
            <a:stCxn id="649" idx="2"/>
            <a:endCxn id="658" idx="0"/>
          </p:cNvCxnSpPr>
          <p:nvPr/>
        </p:nvCxnSpPr>
        <p:spPr>
          <a:xfrm flipH="1">
            <a:off x="5144850" y="3055800"/>
            <a:ext cx="10614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2" name="Google Shape;652;p37"/>
          <p:cNvSpPr/>
          <p:nvPr/>
        </p:nvSpPr>
        <p:spPr>
          <a:xfrm>
            <a:off x="5540700" y="3366100"/>
            <a:ext cx="665550" cy="355050"/>
          </a:xfrm>
          <a:prstGeom prst="flowChartDocument">
            <a:avLst/>
          </a:prstGeom>
          <a:gradFill>
            <a:gsLst>
              <a:gs pos="0">
                <a:srgbClr val="FFFFFF"/>
              </a:gs>
              <a:gs pos="100000">
                <a:srgbClr val="EFEFEF"/>
              </a:gs>
            </a:gsLst>
            <a:lin ang="10800025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a.txt</a:t>
            </a:r>
            <a:endParaRPr/>
          </a:p>
        </p:txBody>
      </p:sp>
      <p:sp>
        <p:nvSpPr>
          <p:cNvPr id="654" name="Google Shape;654;p37"/>
          <p:cNvSpPr/>
          <p:nvPr/>
        </p:nvSpPr>
        <p:spPr>
          <a:xfrm>
            <a:off x="6295075" y="3366100"/>
            <a:ext cx="665550" cy="355050"/>
          </a:xfrm>
          <a:prstGeom prst="flowChartDocument">
            <a:avLst/>
          </a:prstGeom>
          <a:gradFill>
            <a:gsLst>
              <a:gs pos="0">
                <a:srgbClr val="FFFFFF"/>
              </a:gs>
              <a:gs pos="100000">
                <a:srgbClr val="EFEFEF"/>
              </a:gs>
            </a:gsLst>
            <a:lin ang="10800025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b.txt</a:t>
            </a:r>
            <a:endParaRPr/>
          </a:p>
        </p:txBody>
      </p:sp>
      <p:sp>
        <p:nvSpPr>
          <p:cNvPr id="656" name="Google Shape;656;p37"/>
          <p:cNvSpPr/>
          <p:nvPr/>
        </p:nvSpPr>
        <p:spPr>
          <a:xfrm>
            <a:off x="4523250" y="3366000"/>
            <a:ext cx="3327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.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58" name="Google Shape;658;p37"/>
          <p:cNvSpPr/>
          <p:nvPr/>
        </p:nvSpPr>
        <p:spPr>
          <a:xfrm>
            <a:off x="4978600" y="3366000"/>
            <a:ext cx="3327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..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59" name="Google Shape;659;p37"/>
          <p:cNvSpPr/>
          <p:nvPr/>
        </p:nvSpPr>
        <p:spPr>
          <a:xfrm>
            <a:off x="7987900" y="3897950"/>
            <a:ext cx="665550" cy="355050"/>
          </a:xfrm>
          <a:prstGeom prst="flowChartDocument">
            <a:avLst/>
          </a:prstGeom>
          <a:gradFill>
            <a:gsLst>
              <a:gs pos="0">
                <a:srgbClr val="FFFFFF"/>
              </a:gs>
              <a:gs pos="100000">
                <a:srgbClr val="EFEFEF"/>
              </a:gs>
            </a:gsLst>
            <a:lin ang="10800025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d.tsv</a:t>
            </a:r>
            <a:endParaRPr/>
          </a:p>
        </p:txBody>
      </p:sp>
      <p:cxnSp>
        <p:nvCxnSpPr>
          <p:cNvPr id="660" name="Google Shape;660;p37"/>
          <p:cNvCxnSpPr>
            <a:stCxn id="661" idx="2"/>
            <a:endCxn id="659" idx="0"/>
          </p:cNvCxnSpPr>
          <p:nvPr/>
        </p:nvCxnSpPr>
        <p:spPr>
          <a:xfrm>
            <a:off x="8320675" y="3680100"/>
            <a:ext cx="0" cy="21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62" name="Google Shape;662;p37"/>
          <p:cNvSpPr/>
          <p:nvPr/>
        </p:nvSpPr>
        <p:spPr>
          <a:xfrm>
            <a:off x="3270799" y="3366100"/>
            <a:ext cx="1106676" cy="355050"/>
          </a:xfrm>
          <a:prstGeom prst="flowChartDocument">
            <a:avLst/>
          </a:prstGeom>
          <a:gradFill>
            <a:gsLst>
              <a:gs pos="0">
                <a:srgbClr val="FFFFFF"/>
              </a:gs>
              <a:gs pos="100000">
                <a:srgbClr val="EFEFEF"/>
              </a:gs>
            </a:gsLst>
            <a:lin ang="10800025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fichier_vide</a:t>
            </a:r>
            <a:endParaRPr/>
          </a:p>
        </p:txBody>
      </p:sp>
      <p:cxnSp>
        <p:nvCxnSpPr>
          <p:cNvPr id="663" name="Google Shape;663;p37"/>
          <p:cNvCxnSpPr>
            <a:endCxn id="662" idx="0"/>
          </p:cNvCxnSpPr>
          <p:nvPr/>
        </p:nvCxnSpPr>
        <p:spPr>
          <a:xfrm flipH="1">
            <a:off x="3824137" y="3055900"/>
            <a:ext cx="23820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64" name="Google Shape;664;p37"/>
          <p:cNvCxnSpPr>
            <a:endCxn id="661" idx="0"/>
          </p:cNvCxnSpPr>
          <p:nvPr/>
        </p:nvCxnSpPr>
        <p:spPr>
          <a:xfrm>
            <a:off x="6206275" y="3055800"/>
            <a:ext cx="21144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61" name="Google Shape;661;p37"/>
          <p:cNvSpPr/>
          <p:nvPr/>
        </p:nvSpPr>
        <p:spPr>
          <a:xfrm>
            <a:off x="7888975" y="3366000"/>
            <a:ext cx="8634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dossier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65" name="Google Shape;665;p37"/>
          <p:cNvSpPr/>
          <p:nvPr/>
        </p:nvSpPr>
        <p:spPr>
          <a:xfrm>
            <a:off x="7164650" y="3897950"/>
            <a:ext cx="665550" cy="355050"/>
          </a:xfrm>
          <a:prstGeom prst="flowChartDocument">
            <a:avLst/>
          </a:prstGeom>
          <a:gradFill>
            <a:gsLst>
              <a:gs pos="0">
                <a:srgbClr val="FFFFFF"/>
              </a:gs>
              <a:gs pos="100000">
                <a:srgbClr val="EFEFEF"/>
              </a:gs>
            </a:gsLst>
            <a:lin ang="10800025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aa.txt</a:t>
            </a:r>
            <a:endParaRPr/>
          </a:p>
        </p:txBody>
      </p:sp>
      <p:cxnSp>
        <p:nvCxnSpPr>
          <p:cNvPr id="666" name="Google Shape;666;p37"/>
          <p:cNvCxnSpPr>
            <a:stCxn id="665" idx="0"/>
            <a:endCxn id="661" idx="2"/>
          </p:cNvCxnSpPr>
          <p:nvPr/>
        </p:nvCxnSpPr>
        <p:spPr>
          <a:xfrm rot="10800000" flipH="1">
            <a:off x="7497425" y="3680150"/>
            <a:ext cx="823200" cy="21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67" name="Google Shape;667;p37"/>
          <p:cNvSpPr/>
          <p:nvPr/>
        </p:nvSpPr>
        <p:spPr>
          <a:xfrm>
            <a:off x="2349100" y="3897950"/>
            <a:ext cx="665550" cy="355050"/>
          </a:xfrm>
          <a:prstGeom prst="flowChartDocument">
            <a:avLst/>
          </a:prstGeom>
          <a:gradFill>
            <a:gsLst>
              <a:gs pos="0">
                <a:srgbClr val="FFFFFF"/>
              </a:gs>
              <a:gs pos="100000">
                <a:srgbClr val="EFEFEF"/>
              </a:gs>
            </a:gsLst>
            <a:lin ang="10800025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d.tsv</a:t>
            </a:r>
            <a:endParaRPr/>
          </a:p>
        </p:txBody>
      </p:sp>
      <p:cxnSp>
        <p:nvCxnSpPr>
          <p:cNvPr id="668" name="Google Shape;668;p37"/>
          <p:cNvCxnSpPr>
            <a:stCxn id="669" idx="2"/>
            <a:endCxn id="667" idx="0"/>
          </p:cNvCxnSpPr>
          <p:nvPr/>
        </p:nvCxnSpPr>
        <p:spPr>
          <a:xfrm>
            <a:off x="2681875" y="3680100"/>
            <a:ext cx="0" cy="21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0" name="Google Shape;670;p37"/>
          <p:cNvSpPr/>
          <p:nvPr/>
        </p:nvSpPr>
        <p:spPr>
          <a:xfrm>
            <a:off x="1525850" y="3897950"/>
            <a:ext cx="665550" cy="355050"/>
          </a:xfrm>
          <a:prstGeom prst="flowChartDocument">
            <a:avLst/>
          </a:prstGeom>
          <a:gradFill>
            <a:gsLst>
              <a:gs pos="0">
                <a:srgbClr val="FFFFFF"/>
              </a:gs>
              <a:gs pos="100000">
                <a:srgbClr val="EFEFEF"/>
              </a:gs>
            </a:gsLst>
            <a:lin ang="10800025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aa.txt</a:t>
            </a:r>
            <a:endParaRPr/>
          </a:p>
        </p:txBody>
      </p:sp>
      <p:cxnSp>
        <p:nvCxnSpPr>
          <p:cNvPr id="671" name="Google Shape;671;p37"/>
          <p:cNvCxnSpPr>
            <a:stCxn id="670" idx="0"/>
            <a:endCxn id="669" idx="2"/>
          </p:cNvCxnSpPr>
          <p:nvPr/>
        </p:nvCxnSpPr>
        <p:spPr>
          <a:xfrm rot="10800000" flipH="1">
            <a:off x="1858625" y="3680150"/>
            <a:ext cx="823200" cy="21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2" name="Google Shape;672;p37"/>
          <p:cNvCxnSpPr>
            <a:stCxn id="649" idx="2"/>
            <a:endCxn id="669" idx="0"/>
          </p:cNvCxnSpPr>
          <p:nvPr/>
        </p:nvCxnSpPr>
        <p:spPr>
          <a:xfrm flipH="1">
            <a:off x="2681850" y="3055800"/>
            <a:ext cx="3524400" cy="3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69" name="Google Shape;669;p37"/>
          <p:cNvSpPr/>
          <p:nvPr/>
        </p:nvSpPr>
        <p:spPr>
          <a:xfrm>
            <a:off x="2250175" y="3366000"/>
            <a:ext cx="8634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dossier2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49" name="Google Shape;649;p37"/>
          <p:cNvSpPr/>
          <p:nvPr/>
        </p:nvSpPr>
        <p:spPr>
          <a:xfrm>
            <a:off x="5964750" y="2741700"/>
            <a:ext cx="4830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bif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73" name="Google Shape;673;p37"/>
          <p:cNvSpPr/>
          <p:nvPr/>
        </p:nvSpPr>
        <p:spPr>
          <a:xfrm>
            <a:off x="5785450" y="2751000"/>
            <a:ext cx="295500" cy="295500"/>
          </a:xfrm>
          <a:prstGeom prst="smileyFace">
            <a:avLst>
              <a:gd name="adj" fmla="val 4653"/>
            </a:avLst>
          </a:prstGeom>
          <a:solidFill>
            <a:srgbClr val="FFD966"/>
          </a:solidFill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9900"/>
              </a:solidFill>
            </a:endParaRPr>
          </a:p>
        </p:txBody>
      </p:sp>
      <p:sp>
        <p:nvSpPr>
          <p:cNvPr id="674" name="Google Shape;674;p37"/>
          <p:cNvSpPr/>
          <p:nvPr/>
        </p:nvSpPr>
        <p:spPr>
          <a:xfrm>
            <a:off x="6596950" y="1492900"/>
            <a:ext cx="295500" cy="314100"/>
          </a:xfrm>
          <a:prstGeom prst="rect">
            <a:avLst/>
          </a:prstGeom>
          <a:solidFill>
            <a:srgbClr val="E0666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>
                <a:solidFill>
                  <a:srgbClr val="FFFFFF"/>
                </a:solidFill>
              </a:rPr>
              <a:t>/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675" name="Google Shape;675;p37"/>
          <p:cNvSpPr txBox="1">
            <a:spLocks noGrp="1"/>
          </p:cNvSpPr>
          <p:nvPr>
            <p:ph type="sldNum" idx="12"/>
          </p:nvPr>
        </p:nvSpPr>
        <p:spPr>
          <a:xfrm>
            <a:off x="8625000" y="4939350"/>
            <a:ext cx="519000" cy="2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19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9DAF8"/>
        </a:solidFill>
        <a:effectLst/>
      </p:bgPr>
    </p:bg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38"/>
          <p:cNvSpPr txBox="1"/>
          <p:nvPr/>
        </p:nvSpPr>
        <p:spPr>
          <a:xfrm>
            <a:off x="138200" y="909450"/>
            <a:ext cx="9005400" cy="391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/>
              <a:t>A partir de </a:t>
            </a:r>
            <a:r>
              <a:rPr lang="fr" b="1" dirty="0"/>
              <a:t>VOTRE</a:t>
            </a:r>
            <a:r>
              <a:rPr lang="fr" dirty="0"/>
              <a:t> home :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 dirty="0"/>
              <a:t>0. Vérifier que vous êtes dans votre home avec </a:t>
            </a:r>
            <a:r>
              <a:rPr lang="fr" sz="1200" b="1" dirty="0" err="1">
                <a:solidFill>
                  <a:srgbClr val="00FF00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pwd</a:t>
            </a:r>
            <a:endParaRPr sz="1200" b="1" dirty="0">
              <a:solidFill>
                <a:srgbClr val="00FF00"/>
              </a:solidFill>
              <a:highlight>
                <a:srgbClr val="0000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 dirty="0"/>
              <a:t>1. Créer un fichier vide </a:t>
            </a:r>
            <a:r>
              <a:rPr lang="fr" sz="1200" b="1" dirty="0" err="1">
                <a:highlight>
                  <a:srgbClr val="00FFFF"/>
                </a:highlight>
                <a:latin typeface="Courier New"/>
                <a:ea typeface="Courier New"/>
                <a:cs typeface="Courier New"/>
                <a:sym typeface="Courier New"/>
              </a:rPr>
              <a:t>fichier.txt</a:t>
            </a:r>
            <a:endParaRPr sz="1200" b="1" dirty="0">
              <a:highlight>
                <a:srgbClr val="00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 dirty="0"/>
              <a:t>2. Faites une copie de ce fichier au même endroit </a:t>
            </a:r>
            <a:r>
              <a:rPr lang="fr" sz="1200" b="1" dirty="0" err="1">
                <a:highlight>
                  <a:srgbClr val="00FFFF"/>
                </a:highlight>
                <a:latin typeface="Courier New"/>
                <a:ea typeface="Courier New"/>
                <a:cs typeface="Courier New"/>
                <a:sym typeface="Courier New"/>
              </a:rPr>
              <a:t>cp_fichier.txt</a:t>
            </a:r>
            <a:endParaRPr sz="1200" b="1" dirty="0">
              <a:highlight>
                <a:srgbClr val="00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 dirty="0"/>
              <a:t>3. Renommer </a:t>
            </a:r>
            <a:r>
              <a:rPr lang="fr" sz="1200" b="1" dirty="0" err="1">
                <a:highlight>
                  <a:srgbClr val="00FFFF"/>
                </a:highlight>
                <a:latin typeface="Courier New"/>
                <a:ea typeface="Courier New"/>
                <a:cs typeface="Courier New"/>
                <a:sym typeface="Courier New"/>
              </a:rPr>
              <a:t>cp_fichier.txt</a:t>
            </a:r>
            <a:r>
              <a:rPr lang="fr" sz="1200" dirty="0"/>
              <a:t> en </a:t>
            </a:r>
            <a:r>
              <a:rPr lang="fr" sz="1200" b="1" dirty="0" err="1">
                <a:highlight>
                  <a:srgbClr val="00FFFF"/>
                </a:highlight>
                <a:latin typeface="Courier New"/>
                <a:ea typeface="Courier New"/>
                <a:cs typeface="Courier New"/>
                <a:sym typeface="Courier New"/>
              </a:rPr>
              <a:t>mv_fichier.txt</a:t>
            </a:r>
            <a:endParaRPr sz="1200" b="1" dirty="0">
              <a:highlight>
                <a:srgbClr val="00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 dirty="0"/>
              <a:t>4. Créer un répertoire dans votre home </a:t>
            </a:r>
            <a:r>
              <a:rPr lang="fr" sz="1200" b="1" dirty="0"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Dossier</a:t>
            </a:r>
            <a:endParaRPr sz="1200" dirty="0">
              <a:highlight>
                <a:srgbClr val="FFFF00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 dirty="0"/>
              <a:t>5. Déplacez-vous dans </a:t>
            </a:r>
            <a:r>
              <a:rPr lang="fr" sz="1200" b="1" dirty="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Dossier</a:t>
            </a:r>
            <a:r>
              <a:rPr lang="fr" sz="1200" dirty="0"/>
              <a:t> et avec </a:t>
            </a:r>
            <a:r>
              <a:rPr lang="fr" sz="1200" b="1" dirty="0" err="1">
                <a:solidFill>
                  <a:srgbClr val="00FF00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pwd</a:t>
            </a:r>
            <a:r>
              <a:rPr lang="fr" sz="1200" dirty="0"/>
              <a:t> vérifier que vous êtes au bon endroit</a:t>
            </a:r>
            <a:endParaRPr sz="1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 dirty="0"/>
              <a:t>6. A partir de </a:t>
            </a:r>
            <a:r>
              <a:rPr lang="fr" sz="1200" b="1" dirty="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Dossier</a:t>
            </a:r>
            <a:r>
              <a:rPr lang="fr" sz="1200" dirty="0"/>
              <a:t>, copier </a:t>
            </a:r>
            <a:r>
              <a:rPr lang="fr" sz="1200" b="1" dirty="0" err="1">
                <a:solidFill>
                  <a:schemeClr val="dk1"/>
                </a:solidFill>
                <a:highlight>
                  <a:srgbClr val="00FFFF"/>
                </a:highlight>
                <a:latin typeface="Courier New"/>
                <a:ea typeface="Courier New"/>
                <a:cs typeface="Courier New"/>
                <a:sym typeface="Courier New"/>
              </a:rPr>
              <a:t>mv_fichier.txt</a:t>
            </a:r>
            <a:r>
              <a:rPr lang="fr" sz="1200" dirty="0"/>
              <a:t> dans </a:t>
            </a:r>
            <a:r>
              <a:rPr lang="fr" sz="1200" b="1" dirty="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Dossier</a:t>
            </a:r>
            <a:r>
              <a:rPr lang="fr" sz="1200" dirty="0"/>
              <a:t> en nommant la copie </a:t>
            </a:r>
            <a:r>
              <a:rPr lang="fr" sz="1200" b="1" dirty="0" err="1">
                <a:solidFill>
                  <a:schemeClr val="dk1"/>
                </a:solidFill>
                <a:highlight>
                  <a:srgbClr val="00FFFF"/>
                </a:highlight>
                <a:latin typeface="Courier New"/>
                <a:ea typeface="Courier New"/>
                <a:cs typeface="Courier New"/>
                <a:sym typeface="Courier New"/>
              </a:rPr>
              <a:t>fichier_dossier.txt</a:t>
            </a:r>
            <a:endParaRPr sz="1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 dirty="0"/>
              <a:t>7. Retournez dans votre home</a:t>
            </a:r>
            <a:endParaRPr sz="1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 dirty="0"/>
              <a:t>8. Copier le répertoire </a:t>
            </a:r>
            <a:r>
              <a:rPr lang="fr" sz="1200" b="1" dirty="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Dossier</a:t>
            </a:r>
            <a:r>
              <a:rPr lang="fr" sz="1200" dirty="0"/>
              <a:t> en </a:t>
            </a:r>
            <a:r>
              <a:rPr lang="fr" sz="1200" b="1" dirty="0" err="1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cp_Dossier</a:t>
            </a:r>
            <a:r>
              <a:rPr lang="fr" sz="1200" dirty="0"/>
              <a:t> au même endroit</a:t>
            </a:r>
            <a:endParaRPr sz="1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 dirty="0"/>
              <a:t>9. Renommer le répertoire </a:t>
            </a:r>
            <a:r>
              <a:rPr lang="fr" sz="1200" b="1" dirty="0" err="1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cp_Dossier</a:t>
            </a:r>
            <a:r>
              <a:rPr lang="fr" sz="1200" dirty="0"/>
              <a:t> en </a:t>
            </a:r>
            <a:r>
              <a:rPr lang="fr" sz="1200" b="1" dirty="0" err="1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mv_Dossier</a:t>
            </a:r>
            <a:endParaRPr sz="1200" dirty="0">
              <a:highlight>
                <a:srgbClr val="FFFF00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 dirty="0"/>
              <a:t>10. Créer un nouveau répertoire </a:t>
            </a:r>
            <a:r>
              <a:rPr lang="fr" sz="1200" b="1" dirty="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Dossier_3</a:t>
            </a:r>
            <a:endParaRPr sz="1200" dirty="0">
              <a:highlight>
                <a:srgbClr val="FFFF00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 dirty="0"/>
              <a:t>11. Déplacez-vous dans </a:t>
            </a:r>
            <a:r>
              <a:rPr lang="fr" sz="1200" b="1" dirty="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Dossier</a:t>
            </a:r>
            <a:endParaRPr sz="1200" dirty="0">
              <a:highlight>
                <a:srgbClr val="FFFF00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 dirty="0"/>
              <a:t>12. Déplacer le répertoire </a:t>
            </a:r>
            <a:r>
              <a:rPr lang="fr" sz="1200" b="1" dirty="0" err="1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mv_Dossier</a:t>
            </a:r>
            <a:r>
              <a:rPr lang="fr" sz="1200" dirty="0"/>
              <a:t> dans </a:t>
            </a:r>
            <a:r>
              <a:rPr lang="fr" sz="1200" b="1" dirty="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Dossier_3</a:t>
            </a:r>
            <a:endParaRPr sz="1200" dirty="0">
              <a:highlight>
                <a:srgbClr val="FFFF00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 dirty="0"/>
              <a:t>13. Retourner dans votre home en utilisant un </a:t>
            </a:r>
            <a:r>
              <a:rPr lang="fr" sz="1200" b="1" dirty="0"/>
              <a:t>chemin absolu</a:t>
            </a:r>
            <a:endParaRPr sz="1200" b="1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 dirty="0"/>
              <a:t>14. En utilisant des chemins absolus copier </a:t>
            </a:r>
            <a:r>
              <a:rPr lang="fr" sz="1200" b="1" dirty="0" err="1">
                <a:solidFill>
                  <a:schemeClr val="dk1"/>
                </a:solidFill>
                <a:highlight>
                  <a:srgbClr val="00FFFF"/>
                </a:highlight>
                <a:latin typeface="Courier New"/>
                <a:ea typeface="Courier New"/>
                <a:cs typeface="Courier New"/>
                <a:sym typeface="Courier New"/>
              </a:rPr>
              <a:t>fichier.txt</a:t>
            </a:r>
            <a:r>
              <a:rPr lang="fr" sz="1200" b="1" dirty="0">
                <a:solidFill>
                  <a:schemeClr val="dk1"/>
                </a:solidFill>
                <a:highlight>
                  <a:srgbClr val="00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" sz="1200" dirty="0"/>
              <a:t>dans le dossier </a:t>
            </a:r>
            <a:r>
              <a:rPr lang="fr" sz="1200" b="1" dirty="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Dossier_3 </a:t>
            </a:r>
            <a:r>
              <a:rPr lang="fr" sz="1200" dirty="0"/>
              <a:t>et renommez-le en </a:t>
            </a:r>
            <a:r>
              <a:rPr lang="fr" sz="1200" b="1" dirty="0">
                <a:solidFill>
                  <a:schemeClr val="dk1"/>
                </a:solidFill>
                <a:highlight>
                  <a:srgbClr val="00FFFF"/>
                </a:highlight>
                <a:latin typeface="Courier New"/>
                <a:ea typeface="Courier New"/>
                <a:cs typeface="Courier New"/>
                <a:sym typeface="Courier New"/>
              </a:rPr>
              <a:t>fichier_3.txt</a:t>
            </a:r>
            <a:endParaRPr sz="1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 dirty="0"/>
              <a:t>15. Avec la commande </a:t>
            </a:r>
            <a:r>
              <a:rPr lang="fr" sz="1200" b="1" dirty="0" err="1">
                <a:solidFill>
                  <a:srgbClr val="00FF00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rmdir</a:t>
            </a:r>
            <a:r>
              <a:rPr lang="fr" sz="1200" dirty="0"/>
              <a:t> supprimer le répertoire </a:t>
            </a:r>
            <a:r>
              <a:rPr lang="fr" sz="1200" b="1" dirty="0" err="1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mv_Dossier</a:t>
            </a:r>
            <a:r>
              <a:rPr lang="fr" sz="1200" dirty="0"/>
              <a:t>. Que se passe-t-il? Que proposez-vous pour y remédier?</a:t>
            </a:r>
            <a:endParaRPr sz="1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 dirty="0"/>
              <a:t>16. Supprimer le répertoire </a:t>
            </a:r>
            <a:r>
              <a:rPr lang="fr" sz="1200" b="1" dirty="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Dossier_3</a:t>
            </a:r>
            <a:endParaRPr sz="1200" dirty="0">
              <a:highlight>
                <a:srgbClr val="FFFF00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 dirty="0"/>
              <a:t>17. Supprimer le fichier </a:t>
            </a:r>
            <a:r>
              <a:rPr lang="fr" sz="1200" b="1" dirty="0" err="1">
                <a:solidFill>
                  <a:schemeClr val="dk1"/>
                </a:solidFill>
                <a:highlight>
                  <a:srgbClr val="00FFFF"/>
                </a:highlight>
                <a:latin typeface="Courier New"/>
                <a:ea typeface="Courier New"/>
                <a:cs typeface="Courier New"/>
                <a:sym typeface="Courier New"/>
              </a:rPr>
              <a:t>fichier.txt</a:t>
            </a:r>
            <a:endParaRPr sz="1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 dirty="0"/>
              <a:t>18. Quels sont les fichiers (et répertoires) restant dans votre home ?</a:t>
            </a:r>
            <a:endParaRPr sz="1200" dirty="0"/>
          </a:p>
        </p:txBody>
      </p:sp>
      <p:sp>
        <p:nvSpPr>
          <p:cNvPr id="681" name="Google Shape;681;p38"/>
          <p:cNvSpPr txBox="1">
            <a:spLocks noGrp="1"/>
          </p:cNvSpPr>
          <p:nvPr>
            <p:ph type="title"/>
          </p:nvPr>
        </p:nvSpPr>
        <p:spPr>
          <a:xfrm>
            <a:off x="0" y="-11925"/>
            <a:ext cx="9143700" cy="7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4000" b="1">
                <a:solidFill>
                  <a:srgbClr val="1C4587"/>
                </a:solidFill>
                <a:latin typeface="Calibri"/>
                <a:ea typeface="Calibri"/>
                <a:cs typeface="Calibri"/>
                <a:sym typeface="Calibri"/>
              </a:rPr>
              <a:t>Exercice 1</a:t>
            </a:r>
            <a:endParaRPr sz="4000" b="1">
              <a:solidFill>
                <a:srgbClr val="1C458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38"/>
          <p:cNvSpPr/>
          <p:nvPr/>
        </p:nvSpPr>
        <p:spPr>
          <a:xfrm>
            <a:off x="0" y="665225"/>
            <a:ext cx="9143700" cy="41400"/>
          </a:xfrm>
          <a:prstGeom prst="rect">
            <a:avLst/>
          </a:prstGeom>
          <a:gradFill>
            <a:gsLst>
              <a:gs pos="0">
                <a:srgbClr val="1C4587"/>
              </a:gs>
              <a:gs pos="9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3" name="Google Shape;683;p38"/>
          <p:cNvSpPr txBox="1">
            <a:spLocks noGrp="1"/>
          </p:cNvSpPr>
          <p:nvPr>
            <p:ph type="sldNum" idx="12"/>
          </p:nvPr>
        </p:nvSpPr>
        <p:spPr>
          <a:xfrm>
            <a:off x="8625000" y="4939350"/>
            <a:ext cx="519000" cy="2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20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5CD"/>
        </a:solidFill>
        <a:effectLst/>
      </p:bgPr>
    </p:bg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39"/>
          <p:cNvSpPr txBox="1"/>
          <p:nvPr/>
        </p:nvSpPr>
        <p:spPr>
          <a:xfrm>
            <a:off x="223150" y="96950"/>
            <a:ext cx="8532600" cy="4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 b="1"/>
              <a:t>Métacaractères</a:t>
            </a:r>
            <a:endParaRPr sz="2400"/>
          </a:p>
        </p:txBody>
      </p:sp>
      <p:sp>
        <p:nvSpPr>
          <p:cNvPr id="689" name="Google Shape;689;p39"/>
          <p:cNvSpPr txBox="1"/>
          <p:nvPr/>
        </p:nvSpPr>
        <p:spPr>
          <a:xfrm>
            <a:off x="649425" y="722200"/>
            <a:ext cx="2026800" cy="226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Courier New"/>
                <a:ea typeface="Courier New"/>
                <a:cs typeface="Courier New"/>
                <a:sym typeface="Courier New"/>
              </a:rPr>
              <a:t>fichier_1.txt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Courier New"/>
                <a:ea typeface="Courier New"/>
                <a:cs typeface="Courier New"/>
                <a:sym typeface="Courier New"/>
              </a:rPr>
              <a:t>fichier_2.txt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Courier New"/>
                <a:ea typeface="Courier New"/>
                <a:cs typeface="Courier New"/>
                <a:sym typeface="Courier New"/>
              </a:rPr>
              <a:t>fichier_3.txt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Courier New"/>
                <a:ea typeface="Courier New"/>
                <a:cs typeface="Courier New"/>
                <a:sym typeface="Courier New"/>
              </a:rPr>
              <a:t>fichier_10.txt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Courier New"/>
                <a:ea typeface="Courier New"/>
                <a:cs typeface="Courier New"/>
                <a:sym typeface="Courier New"/>
              </a:rPr>
              <a:t>fichier_11.txt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Courier New"/>
                <a:ea typeface="Courier New"/>
                <a:cs typeface="Courier New"/>
                <a:sym typeface="Courier New"/>
              </a:rPr>
              <a:t>A.txt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Courier New"/>
                <a:ea typeface="Courier New"/>
                <a:cs typeface="Courier New"/>
                <a:sym typeface="Courier New"/>
              </a:rPr>
              <a:t>a.tsv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Courier New"/>
                <a:ea typeface="Courier New"/>
                <a:cs typeface="Courier New"/>
                <a:sym typeface="Courier New"/>
              </a:rPr>
              <a:t>Aa.txt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Courier New"/>
                <a:ea typeface="Courier New"/>
                <a:cs typeface="Courier New"/>
                <a:sym typeface="Courier New"/>
              </a:rPr>
              <a:t>A.csv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Courier New"/>
                <a:ea typeface="Courier New"/>
                <a:cs typeface="Courier New"/>
                <a:sym typeface="Courier New"/>
              </a:rPr>
              <a:t>B.csv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90" name="Google Shape;690;p39"/>
          <p:cNvSpPr txBox="1"/>
          <p:nvPr/>
        </p:nvSpPr>
        <p:spPr>
          <a:xfrm>
            <a:off x="3407400" y="722200"/>
            <a:ext cx="5099700" cy="22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Sélectionner tous les fichiers qui commencent par “fichier”</a:t>
            </a:r>
            <a:endParaRPr/>
          </a:p>
          <a:p>
            <a:pPr marL="9144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fichier</a:t>
            </a:r>
            <a:r>
              <a:rPr lang="fr" b="1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br>
              <a:rPr lang="fr" b="1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endParaRPr b="1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Sélectionner tous les fichiers qui se termine par “.csv”</a:t>
            </a:r>
            <a:endParaRPr/>
          </a:p>
          <a:p>
            <a:pPr marL="9144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Courier New"/>
              <a:buChar char="●"/>
            </a:pPr>
            <a:r>
              <a:rPr lang="fr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*.csv</a:t>
            </a:r>
            <a:br>
              <a:rPr lang="fr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endParaRPr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Sélectionner les fichiers fichier_1.txt, fichier_2 et fichier_3.txt</a:t>
            </a:r>
            <a:endParaRPr/>
          </a:p>
          <a:p>
            <a:pPr marL="9144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Courier New"/>
              <a:buChar char="●"/>
            </a:pPr>
            <a:r>
              <a:rPr lang="fr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fichier_?.txt</a:t>
            </a:r>
            <a:br>
              <a:rPr lang="fr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endParaRPr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Sélectionner tous les fichiers de 5 caractères</a:t>
            </a:r>
            <a:endParaRPr/>
          </a:p>
          <a:p>
            <a:pPr marL="9144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Courier New"/>
              <a:buChar char="●"/>
            </a:pPr>
            <a:r>
              <a:rPr lang="fr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?????</a:t>
            </a:r>
            <a:endParaRPr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691" name="Google Shape;691;p39"/>
          <p:cNvGraphicFramePr/>
          <p:nvPr/>
        </p:nvGraphicFramePr>
        <p:xfrm>
          <a:off x="649425" y="3125425"/>
          <a:ext cx="7857675" cy="1905000"/>
        </p:xfrm>
        <a:graphic>
          <a:graphicData uri="http://schemas.openxmlformats.org/drawingml/2006/table">
            <a:tbl>
              <a:tblPr>
                <a:noFill/>
                <a:tableStyleId>{C986AE7D-AF4A-4FAC-BD20-953C9C73A9C3}</a:tableStyleId>
              </a:tblPr>
              <a:tblGrid>
                <a:gridCol w="755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9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1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 b="1"/>
                        <a:t>?</a:t>
                      </a:r>
                      <a:endParaRPr sz="1200" b="1"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/>
                        <a:t>Remplace n’importe quel caractère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ls fichier_?.txt</a:t>
                      </a:r>
                      <a:endParaRPr sz="1200"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 b="1"/>
                        <a:t>*</a:t>
                      </a:r>
                      <a:endParaRPr sz="1200" b="1"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/>
                        <a:t>Remplace n’importe quel caractère 0 ou 1, ou plusieurs fois</a:t>
                      </a:r>
                      <a:endParaRPr sz="1200"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ls *csv</a:t>
                      </a:r>
                      <a:endParaRPr sz="1200"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 b="1"/>
                        <a:t>[AB]</a:t>
                      </a:r>
                      <a:endParaRPr sz="12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/>
                        <a:t>A ou B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ls [AB].csv</a:t>
                      </a:r>
                      <a:endParaRPr sz="1200"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 b="1"/>
                        <a:t>[0-9]</a:t>
                      </a:r>
                      <a:endParaRPr sz="12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/>
                        <a:t>0, 1, 2, … ou 9 (1 fois)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ls fichier_[0-9].txt</a:t>
                      </a:r>
                      <a:endParaRPr sz="1200"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 b="1"/>
                        <a:t>[A-Z]</a:t>
                      </a:r>
                      <a:endParaRPr sz="12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/>
                        <a:t>A, B, C, D, …, ou Z. Avec les minuscules [a-z]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>
                          <a:highlight>
                            <a:srgbClr val="FFFF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ls [A-Z].txt</a:t>
                      </a:r>
                      <a:endParaRPr sz="1200">
                        <a:highlight>
                          <a:srgbClr val="FFFFFF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92" name="Google Shape;692;p39"/>
          <p:cNvSpPr txBox="1">
            <a:spLocks noGrp="1"/>
          </p:cNvSpPr>
          <p:nvPr>
            <p:ph type="sldNum" idx="12"/>
          </p:nvPr>
        </p:nvSpPr>
        <p:spPr>
          <a:xfrm>
            <a:off x="8625000" y="4939350"/>
            <a:ext cx="519000" cy="2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21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9DAF8"/>
        </a:solidFill>
        <a:effectLst/>
      </p:bgPr>
    </p:bg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40"/>
          <p:cNvSpPr txBox="1"/>
          <p:nvPr/>
        </p:nvSpPr>
        <p:spPr>
          <a:xfrm>
            <a:off x="138200" y="909450"/>
            <a:ext cx="8683500" cy="391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/>
              <a:t>Dans le terminal, tapez la ligne: </a:t>
            </a:r>
            <a:r>
              <a:rPr lang="fr" b="1" dirty="0">
                <a:solidFill>
                  <a:srgbClr val="00FF00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/home/public/linux/exo2.sh</a:t>
            </a:r>
            <a:endParaRPr b="1" dirty="0">
              <a:solidFill>
                <a:srgbClr val="00FF00"/>
              </a:solidFill>
              <a:highlight>
                <a:srgbClr val="0000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/>
              <a:t>Le répertoire </a:t>
            </a:r>
            <a:r>
              <a:rPr lang="fr" b="1" dirty="0">
                <a:highlight>
                  <a:srgbClr val="FFFF00"/>
                </a:highlight>
              </a:rPr>
              <a:t>~/exo2</a:t>
            </a:r>
            <a:r>
              <a:rPr lang="fr" dirty="0"/>
              <a:t> contient des fichiers.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/>
              <a:t>En utilisant les </a:t>
            </a:r>
            <a:r>
              <a:rPr lang="fr" dirty="0" err="1"/>
              <a:t>métacaractères</a:t>
            </a:r>
            <a:r>
              <a:rPr lang="fr" dirty="0"/>
              <a:t>, listez les fichiers dont le nom: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fr" dirty="0"/>
              <a:t>Commence par la lettre </a:t>
            </a:r>
            <a:r>
              <a:rPr lang="fr" b="1" dirty="0"/>
              <a:t>A</a:t>
            </a:r>
            <a:endParaRPr b="1" dirty="0"/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fr" dirty="0"/>
              <a:t>Se termine par l'extension </a:t>
            </a:r>
            <a:r>
              <a:rPr lang="fr" b="1" dirty="0"/>
              <a:t>.</a:t>
            </a:r>
            <a:r>
              <a:rPr lang="fr" b="1" dirty="0" err="1"/>
              <a:t>txt</a:t>
            </a:r>
            <a:endParaRPr dirty="0"/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fr" dirty="0"/>
              <a:t>Contient exactement 3 caractères</a:t>
            </a:r>
            <a:endParaRPr dirty="0"/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fr" dirty="0"/>
              <a:t>Contient au moins 3 caractères</a:t>
            </a:r>
            <a:endParaRPr dirty="0"/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fr" dirty="0"/>
              <a:t>Commence par un </a:t>
            </a:r>
            <a:r>
              <a:rPr lang="fr" b="1" dirty="0"/>
              <a:t>A</a:t>
            </a:r>
            <a:r>
              <a:rPr lang="fr" dirty="0"/>
              <a:t> et contient au moins 3 caractères</a:t>
            </a:r>
            <a:endParaRPr dirty="0"/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fr" dirty="0"/>
              <a:t>Commence par un </a:t>
            </a:r>
            <a:r>
              <a:rPr lang="fr" b="1" dirty="0" err="1"/>
              <a:t>T</a:t>
            </a:r>
            <a:r>
              <a:rPr lang="fr" dirty="0"/>
              <a:t>, se termine par </a:t>
            </a:r>
            <a:r>
              <a:rPr lang="fr" b="1" dirty="0"/>
              <a:t>.</a:t>
            </a:r>
            <a:r>
              <a:rPr lang="fr" b="1" dirty="0" err="1"/>
              <a:t>txt</a:t>
            </a:r>
            <a:r>
              <a:rPr lang="fr" dirty="0"/>
              <a:t> et contient au moins 5 caractères</a:t>
            </a:r>
            <a:endParaRPr dirty="0"/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fr" dirty="0"/>
              <a:t>Commence par la lettre </a:t>
            </a:r>
            <a:r>
              <a:rPr lang="fr" b="1" dirty="0"/>
              <a:t>A</a:t>
            </a:r>
            <a:r>
              <a:rPr lang="fr" dirty="0"/>
              <a:t> ou </a:t>
            </a:r>
            <a:r>
              <a:rPr lang="fr" b="1" dirty="0"/>
              <a:t>B</a:t>
            </a:r>
            <a:endParaRPr b="1" dirty="0"/>
          </a:p>
        </p:txBody>
      </p:sp>
      <p:sp>
        <p:nvSpPr>
          <p:cNvPr id="698" name="Google Shape;698;p40"/>
          <p:cNvSpPr txBox="1">
            <a:spLocks noGrp="1"/>
          </p:cNvSpPr>
          <p:nvPr>
            <p:ph type="title"/>
          </p:nvPr>
        </p:nvSpPr>
        <p:spPr>
          <a:xfrm>
            <a:off x="0" y="-11925"/>
            <a:ext cx="9143700" cy="7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4000" b="1">
                <a:solidFill>
                  <a:srgbClr val="1C4587"/>
                </a:solidFill>
                <a:latin typeface="Calibri"/>
                <a:ea typeface="Calibri"/>
                <a:cs typeface="Calibri"/>
                <a:sym typeface="Calibri"/>
              </a:rPr>
              <a:t>Exercice 2</a:t>
            </a:r>
            <a:endParaRPr sz="4000" b="1">
              <a:solidFill>
                <a:srgbClr val="1C458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40"/>
          <p:cNvSpPr/>
          <p:nvPr/>
        </p:nvSpPr>
        <p:spPr>
          <a:xfrm>
            <a:off x="0" y="665225"/>
            <a:ext cx="9143700" cy="41400"/>
          </a:xfrm>
          <a:prstGeom prst="rect">
            <a:avLst/>
          </a:prstGeom>
          <a:gradFill>
            <a:gsLst>
              <a:gs pos="0">
                <a:srgbClr val="1C4587"/>
              </a:gs>
              <a:gs pos="9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0" name="Google Shape;700;p40"/>
          <p:cNvSpPr txBox="1">
            <a:spLocks noGrp="1"/>
          </p:cNvSpPr>
          <p:nvPr>
            <p:ph type="sldNum" idx="12"/>
          </p:nvPr>
        </p:nvSpPr>
        <p:spPr>
          <a:xfrm>
            <a:off x="8625000" y="4939350"/>
            <a:ext cx="519000" cy="2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22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CCCC"/>
        </a:solidFill>
        <a:effectLst/>
      </p:bgPr>
    </p:bg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/>
          <p:cNvSpPr txBox="1">
            <a:spLocks noGrp="1"/>
          </p:cNvSpPr>
          <p:nvPr>
            <p:ph type="sldNum" idx="12"/>
          </p:nvPr>
        </p:nvSpPr>
        <p:spPr>
          <a:xfrm>
            <a:off x="8625000" y="4939350"/>
            <a:ext cx="519000" cy="2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23</a:t>
            </a:fld>
            <a:endParaRPr/>
          </a:p>
        </p:txBody>
      </p:sp>
      <p:grpSp>
        <p:nvGrpSpPr>
          <p:cNvPr id="706" name="Google Shape;706;p41"/>
          <p:cNvGrpSpPr/>
          <p:nvPr/>
        </p:nvGrpSpPr>
        <p:grpSpPr>
          <a:xfrm>
            <a:off x="387862" y="220776"/>
            <a:ext cx="8328784" cy="968148"/>
            <a:chOff x="420923" y="155682"/>
            <a:chExt cx="8328784" cy="1131939"/>
          </a:xfrm>
        </p:grpSpPr>
        <p:grpSp>
          <p:nvGrpSpPr>
            <p:cNvPr id="707" name="Google Shape;707;p41"/>
            <p:cNvGrpSpPr/>
            <p:nvPr/>
          </p:nvGrpSpPr>
          <p:grpSpPr>
            <a:xfrm>
              <a:off x="3502704" y="228136"/>
              <a:ext cx="5247003" cy="987034"/>
              <a:chOff x="809518" y="2237172"/>
              <a:chExt cx="5859300" cy="1203407"/>
            </a:xfrm>
          </p:grpSpPr>
          <p:sp>
            <p:nvSpPr>
              <p:cNvPr id="708" name="Google Shape;708;p41"/>
              <p:cNvSpPr/>
              <p:nvPr/>
            </p:nvSpPr>
            <p:spPr>
              <a:xfrm>
                <a:off x="809518" y="2237279"/>
                <a:ext cx="5859300" cy="12033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19050" cap="flat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Google Shape;709;p41"/>
              <p:cNvSpPr txBox="1"/>
              <p:nvPr/>
            </p:nvSpPr>
            <p:spPr>
              <a:xfrm>
                <a:off x="809518" y="2237172"/>
                <a:ext cx="5859300" cy="120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1260000" lvl="0" indent="-3175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SzPts val="1400"/>
                  <a:buAutoNum type="arabicPeriod"/>
                </a:pPr>
                <a:r>
                  <a:rPr lang="fr" dirty="0"/>
                  <a:t>GUI / CLI</a:t>
                </a:r>
                <a:endParaRPr dirty="0"/>
              </a:p>
              <a:p>
                <a:pPr marL="1260000" lvl="0" indent="-3175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SzPts val="1400"/>
                  <a:buAutoNum type="arabicPeriod"/>
                </a:pPr>
                <a:r>
                  <a:rPr lang="fr" dirty="0"/>
                  <a:t>Anatomie d’une ligne de commande et Astuces</a:t>
                </a:r>
                <a:endParaRPr dirty="0"/>
              </a:p>
              <a:p>
                <a:pPr marL="1260000" lvl="0" indent="-3175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SzPts val="1400"/>
                  <a:buAutoNum type="arabicPeriod"/>
                </a:pPr>
                <a:r>
                  <a:rPr lang="fr" dirty="0"/>
                  <a:t>Mise en route</a:t>
                </a:r>
                <a:endParaRPr dirty="0"/>
              </a:p>
            </p:txBody>
          </p:sp>
        </p:grpSp>
        <p:grpSp>
          <p:nvGrpSpPr>
            <p:cNvPr id="710" name="Google Shape;710;p41"/>
            <p:cNvGrpSpPr/>
            <p:nvPr/>
          </p:nvGrpSpPr>
          <p:grpSpPr>
            <a:xfrm>
              <a:off x="420923" y="155682"/>
              <a:ext cx="3412503" cy="1131939"/>
              <a:chOff x="1081650" y="533375"/>
              <a:chExt cx="6885600" cy="694825"/>
            </a:xfrm>
          </p:grpSpPr>
          <p:sp>
            <p:nvSpPr>
              <p:cNvPr id="711" name="Google Shape;711;p41"/>
              <p:cNvSpPr/>
              <p:nvPr/>
            </p:nvSpPr>
            <p:spPr>
              <a:xfrm>
                <a:off x="1098450" y="533400"/>
                <a:ext cx="6852000" cy="694800"/>
              </a:xfrm>
              <a:prstGeom prst="roundRect">
                <a:avLst>
                  <a:gd name="adj" fmla="val 16667"/>
                </a:avLst>
              </a:prstGeom>
              <a:solidFill>
                <a:srgbClr val="C00000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712" name="Google Shape;712;p41"/>
              <p:cNvSpPr txBox="1"/>
              <p:nvPr/>
            </p:nvSpPr>
            <p:spPr>
              <a:xfrm>
                <a:off x="1081650" y="533375"/>
                <a:ext cx="6885600" cy="6948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" sz="2800" b="1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Introduction</a:t>
                </a:r>
                <a:endParaRPr sz="28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13" name="Google Shape;713;p41"/>
          <p:cNvGrpSpPr/>
          <p:nvPr/>
        </p:nvGrpSpPr>
        <p:grpSpPr>
          <a:xfrm>
            <a:off x="348370" y="1478111"/>
            <a:ext cx="8368276" cy="968148"/>
            <a:chOff x="420923" y="155682"/>
            <a:chExt cx="8368276" cy="1131939"/>
          </a:xfrm>
        </p:grpSpPr>
        <p:grpSp>
          <p:nvGrpSpPr>
            <p:cNvPr id="714" name="Google Shape;714;p41"/>
            <p:cNvGrpSpPr/>
            <p:nvPr/>
          </p:nvGrpSpPr>
          <p:grpSpPr>
            <a:xfrm>
              <a:off x="3502704" y="228136"/>
              <a:ext cx="5286495" cy="987034"/>
              <a:chOff x="809518" y="2237172"/>
              <a:chExt cx="5903400" cy="1203407"/>
            </a:xfrm>
          </p:grpSpPr>
          <p:sp>
            <p:nvSpPr>
              <p:cNvPr id="715" name="Google Shape;715;p41"/>
              <p:cNvSpPr/>
              <p:nvPr/>
            </p:nvSpPr>
            <p:spPr>
              <a:xfrm>
                <a:off x="809518" y="2237279"/>
                <a:ext cx="5859300" cy="12033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19050" cap="flat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Google Shape;716;p41"/>
              <p:cNvSpPr txBox="1"/>
              <p:nvPr/>
            </p:nvSpPr>
            <p:spPr>
              <a:xfrm>
                <a:off x="809518" y="2237172"/>
                <a:ext cx="5903400" cy="120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1260000" lvl="0" indent="-304800">
                  <a:buSzPts val="1200"/>
                  <a:buAutoNum type="arabicPeriod"/>
                </a:pPr>
                <a:r>
                  <a:rPr lang="fr-CA" sz="1200" dirty="0"/>
                  <a:t>Structure de l’arborescence</a:t>
                </a:r>
              </a:p>
              <a:p>
                <a:pPr marL="1260000" lvl="0" indent="-304800">
                  <a:buSzPts val="1200"/>
                  <a:buAutoNum type="arabicPeriod"/>
                </a:pPr>
                <a:r>
                  <a:rPr lang="fr-CA" sz="1200" dirty="0"/>
                  <a:t>Chemins relatifs et absolus</a:t>
                </a:r>
              </a:p>
              <a:p>
                <a:pPr marL="1260000" lvl="0" indent="-304800">
                  <a:buSzPts val="1200"/>
                  <a:buAutoNum type="arabicPeriod"/>
                </a:pPr>
                <a:r>
                  <a:rPr lang="fr-CA" sz="1200" dirty="0"/>
                  <a:t>Commandes utiles : Déplacement             </a:t>
                </a:r>
                <a:r>
                  <a:rPr lang="fr-CA" sz="1200" b="1" dirty="0">
                    <a:solidFill>
                      <a:srgbClr val="C00000"/>
                    </a:solidFill>
                  </a:rPr>
                  <a:t>Exercice 1</a:t>
                </a:r>
              </a:p>
              <a:p>
                <a:pPr marL="1260000" lvl="0" indent="-304800">
                  <a:buSzPts val="1200"/>
                  <a:buAutoNum type="arabicPeriod"/>
                </a:pPr>
                <a:r>
                  <a:rPr lang="fr-CA" sz="1200" dirty="0" err="1"/>
                  <a:t>Métacaractères</a:t>
                </a:r>
                <a:r>
                  <a:rPr lang="fr-CA" sz="1200" dirty="0"/>
                  <a:t>		          </a:t>
                </a:r>
                <a:r>
                  <a:rPr lang="fr-CA" sz="1200" b="1" dirty="0">
                    <a:solidFill>
                      <a:srgbClr val="C00000"/>
                    </a:solidFill>
                  </a:rPr>
                  <a:t>Exercice 2</a:t>
                </a:r>
              </a:p>
            </p:txBody>
          </p:sp>
        </p:grpSp>
        <p:grpSp>
          <p:nvGrpSpPr>
            <p:cNvPr id="717" name="Google Shape;717;p41"/>
            <p:cNvGrpSpPr/>
            <p:nvPr/>
          </p:nvGrpSpPr>
          <p:grpSpPr>
            <a:xfrm>
              <a:off x="420923" y="155682"/>
              <a:ext cx="3412503" cy="1131939"/>
              <a:chOff x="1081650" y="533375"/>
              <a:chExt cx="6885600" cy="694825"/>
            </a:xfrm>
          </p:grpSpPr>
          <p:sp>
            <p:nvSpPr>
              <p:cNvPr id="718" name="Google Shape;718;p41"/>
              <p:cNvSpPr/>
              <p:nvPr/>
            </p:nvSpPr>
            <p:spPr>
              <a:xfrm>
                <a:off x="1098450" y="533400"/>
                <a:ext cx="6852000" cy="694800"/>
              </a:xfrm>
              <a:prstGeom prst="roundRect">
                <a:avLst>
                  <a:gd name="adj" fmla="val 16667"/>
                </a:avLst>
              </a:prstGeom>
              <a:solidFill>
                <a:srgbClr val="C00000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719" name="Google Shape;719;p41"/>
              <p:cNvSpPr txBox="1"/>
              <p:nvPr/>
            </p:nvSpPr>
            <p:spPr>
              <a:xfrm>
                <a:off x="1081650" y="533375"/>
                <a:ext cx="6885600" cy="6948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" sz="2800" b="1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I. Système de fichier</a:t>
                </a:r>
                <a:endParaRPr sz="28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20" name="Google Shape;720;p41"/>
          <p:cNvGrpSpPr/>
          <p:nvPr/>
        </p:nvGrpSpPr>
        <p:grpSpPr>
          <a:xfrm>
            <a:off x="387862" y="2709976"/>
            <a:ext cx="8368283" cy="968148"/>
            <a:chOff x="420923" y="155682"/>
            <a:chExt cx="8368283" cy="1131939"/>
          </a:xfrm>
        </p:grpSpPr>
        <p:grpSp>
          <p:nvGrpSpPr>
            <p:cNvPr id="721" name="Google Shape;721;p41"/>
            <p:cNvGrpSpPr/>
            <p:nvPr/>
          </p:nvGrpSpPr>
          <p:grpSpPr>
            <a:xfrm>
              <a:off x="3502704" y="228141"/>
              <a:ext cx="5286501" cy="987029"/>
              <a:chOff x="809518" y="2237179"/>
              <a:chExt cx="5903408" cy="1203400"/>
            </a:xfrm>
          </p:grpSpPr>
          <p:sp>
            <p:nvSpPr>
              <p:cNvPr id="722" name="Google Shape;722;p41"/>
              <p:cNvSpPr/>
              <p:nvPr/>
            </p:nvSpPr>
            <p:spPr>
              <a:xfrm>
                <a:off x="809518" y="2237279"/>
                <a:ext cx="5903400" cy="12033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19050" cap="flat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Google Shape;723;p41"/>
              <p:cNvSpPr txBox="1"/>
              <p:nvPr/>
            </p:nvSpPr>
            <p:spPr>
              <a:xfrm>
                <a:off x="809526" y="2237179"/>
                <a:ext cx="5903400" cy="120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1260000" lvl="0" indent="-317500">
                  <a:lnSpc>
                    <a:spcPct val="115000"/>
                  </a:lnSpc>
                  <a:buSzPts val="1400"/>
                  <a:buAutoNum type="arabicPeriod"/>
                </a:pPr>
                <a:r>
                  <a:rPr lang="fr-CA" sz="1200" dirty="0"/>
                  <a:t>Commandes utiles: Manipulation            </a:t>
                </a:r>
                <a:r>
                  <a:rPr lang="fr-CA" sz="1200" b="1" dirty="0">
                    <a:solidFill>
                      <a:srgbClr val="C00000"/>
                    </a:solidFill>
                  </a:rPr>
                  <a:t>Exercice 3</a:t>
                </a:r>
                <a:endParaRPr lang="fr-CA" sz="1200" dirty="0">
                  <a:solidFill>
                    <a:srgbClr val="C00000"/>
                  </a:solidFill>
                </a:endParaRPr>
              </a:p>
              <a:p>
                <a:pPr marL="1260000" lvl="0" indent="-317500">
                  <a:lnSpc>
                    <a:spcPct val="115000"/>
                  </a:lnSpc>
                  <a:buSzPts val="1400"/>
                  <a:buAutoNum type="arabicPeriod"/>
                </a:pPr>
                <a:r>
                  <a:rPr lang="fr-CA" sz="1200" dirty="0"/>
                  <a:t>Gestion des flux		        </a:t>
                </a:r>
                <a:r>
                  <a:rPr lang="fr-CA" sz="1200" b="1" dirty="0">
                    <a:solidFill>
                      <a:srgbClr val="C00000"/>
                    </a:solidFill>
                  </a:rPr>
                  <a:t>Exercice 4 		                             Exercice 5</a:t>
                </a:r>
              </a:p>
            </p:txBody>
          </p:sp>
        </p:grpSp>
        <p:grpSp>
          <p:nvGrpSpPr>
            <p:cNvPr id="724" name="Google Shape;724;p41"/>
            <p:cNvGrpSpPr/>
            <p:nvPr/>
          </p:nvGrpSpPr>
          <p:grpSpPr>
            <a:xfrm>
              <a:off x="420923" y="155682"/>
              <a:ext cx="3412503" cy="1131939"/>
              <a:chOff x="1081650" y="533375"/>
              <a:chExt cx="6885600" cy="694825"/>
            </a:xfrm>
          </p:grpSpPr>
          <p:sp>
            <p:nvSpPr>
              <p:cNvPr id="725" name="Google Shape;725;p41"/>
              <p:cNvSpPr/>
              <p:nvPr/>
            </p:nvSpPr>
            <p:spPr>
              <a:xfrm>
                <a:off x="1098450" y="533400"/>
                <a:ext cx="6852000" cy="694800"/>
              </a:xfrm>
              <a:prstGeom prst="roundRect">
                <a:avLst>
                  <a:gd name="adj" fmla="val 16667"/>
                </a:avLst>
              </a:prstGeom>
              <a:solidFill>
                <a:srgbClr val="C00000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726" name="Google Shape;726;p41"/>
              <p:cNvSpPr txBox="1"/>
              <p:nvPr/>
            </p:nvSpPr>
            <p:spPr>
              <a:xfrm>
                <a:off x="1081650" y="533375"/>
                <a:ext cx="6885600" cy="6948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" sz="2300" b="1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II. Manipulation de fichier</a:t>
                </a:r>
                <a:endParaRPr sz="23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27" name="Google Shape;727;p41"/>
          <p:cNvGrpSpPr/>
          <p:nvPr/>
        </p:nvGrpSpPr>
        <p:grpSpPr>
          <a:xfrm>
            <a:off x="387862" y="3954576"/>
            <a:ext cx="8368276" cy="968148"/>
            <a:chOff x="420923" y="155682"/>
            <a:chExt cx="8368276" cy="1131939"/>
          </a:xfrm>
        </p:grpSpPr>
        <p:grpSp>
          <p:nvGrpSpPr>
            <p:cNvPr id="728" name="Google Shape;728;p41"/>
            <p:cNvGrpSpPr/>
            <p:nvPr/>
          </p:nvGrpSpPr>
          <p:grpSpPr>
            <a:xfrm>
              <a:off x="3502704" y="228136"/>
              <a:ext cx="5286495" cy="987034"/>
              <a:chOff x="809518" y="2237172"/>
              <a:chExt cx="5903400" cy="1203407"/>
            </a:xfrm>
          </p:grpSpPr>
          <p:sp>
            <p:nvSpPr>
              <p:cNvPr id="729" name="Google Shape;729;p41"/>
              <p:cNvSpPr/>
              <p:nvPr/>
            </p:nvSpPr>
            <p:spPr>
              <a:xfrm>
                <a:off x="809518" y="2237279"/>
                <a:ext cx="5859300" cy="12033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19050" cap="flat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Google Shape;730;p41"/>
              <p:cNvSpPr txBox="1"/>
              <p:nvPr/>
            </p:nvSpPr>
            <p:spPr>
              <a:xfrm>
                <a:off x="809518" y="2237172"/>
                <a:ext cx="5903400" cy="120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1260000" lvl="0" indent="-317500">
                  <a:lnSpc>
                    <a:spcPct val="115000"/>
                  </a:lnSpc>
                  <a:buSzPts val="1400"/>
                  <a:buAutoNum type="arabicPeriod"/>
                </a:pPr>
                <a:r>
                  <a:rPr lang="fr-CA" sz="1200" dirty="0"/>
                  <a:t>Structure d’un script		</a:t>
                </a:r>
                <a:endParaRPr lang="fr-CA" sz="1100" b="1" dirty="0"/>
              </a:p>
              <a:p>
                <a:pPr marL="1260000" lvl="0" indent="-317500">
                  <a:lnSpc>
                    <a:spcPct val="115000"/>
                  </a:lnSpc>
                  <a:buSzPts val="1400"/>
                  <a:buAutoNum type="arabicPeriod"/>
                </a:pPr>
                <a:r>
                  <a:rPr lang="fr-CA" sz="1200" dirty="0"/>
                  <a:t>Exécuter un script		      </a:t>
                </a:r>
                <a:r>
                  <a:rPr lang="fr-CA" sz="1100" b="1" dirty="0">
                    <a:solidFill>
                      <a:srgbClr val="C00000"/>
                    </a:solidFill>
                  </a:rPr>
                  <a:t>Exercice 6</a:t>
                </a:r>
              </a:p>
            </p:txBody>
          </p:sp>
        </p:grpSp>
        <p:grpSp>
          <p:nvGrpSpPr>
            <p:cNvPr id="731" name="Google Shape;731;p41"/>
            <p:cNvGrpSpPr/>
            <p:nvPr/>
          </p:nvGrpSpPr>
          <p:grpSpPr>
            <a:xfrm>
              <a:off x="420923" y="155682"/>
              <a:ext cx="3412503" cy="1131939"/>
              <a:chOff x="1081650" y="533375"/>
              <a:chExt cx="6885600" cy="694825"/>
            </a:xfrm>
          </p:grpSpPr>
          <p:sp>
            <p:nvSpPr>
              <p:cNvPr id="732" name="Google Shape;732;p41"/>
              <p:cNvSpPr/>
              <p:nvPr/>
            </p:nvSpPr>
            <p:spPr>
              <a:xfrm>
                <a:off x="1098450" y="533400"/>
                <a:ext cx="6852000" cy="694800"/>
              </a:xfrm>
              <a:prstGeom prst="roundRect">
                <a:avLst>
                  <a:gd name="adj" fmla="val 16667"/>
                </a:avLst>
              </a:prstGeom>
              <a:solidFill>
                <a:srgbClr val="C00000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733" name="Google Shape;733;p41"/>
              <p:cNvSpPr txBox="1"/>
              <p:nvPr/>
            </p:nvSpPr>
            <p:spPr>
              <a:xfrm>
                <a:off x="1081650" y="533375"/>
                <a:ext cx="6885600" cy="6948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" sz="2800" b="1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III.	Scripts</a:t>
                </a:r>
                <a:endParaRPr sz="28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34" name="Google Shape;734;p41"/>
          <p:cNvSpPr/>
          <p:nvPr/>
        </p:nvSpPr>
        <p:spPr>
          <a:xfrm>
            <a:off x="148050" y="3744395"/>
            <a:ext cx="8847900" cy="1268100"/>
          </a:xfrm>
          <a:prstGeom prst="roundRect">
            <a:avLst>
              <a:gd name="adj" fmla="val 6945"/>
            </a:avLst>
          </a:prstGeom>
          <a:solidFill>
            <a:srgbClr val="F4CCCC">
              <a:alpha val="893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5" name="Google Shape;735;p41"/>
          <p:cNvSpPr/>
          <p:nvPr/>
        </p:nvSpPr>
        <p:spPr>
          <a:xfrm>
            <a:off x="148050" y="105196"/>
            <a:ext cx="8847900" cy="2453400"/>
          </a:xfrm>
          <a:prstGeom prst="roundRect">
            <a:avLst>
              <a:gd name="adj" fmla="val 6945"/>
            </a:avLst>
          </a:prstGeom>
          <a:solidFill>
            <a:srgbClr val="F4CCCC">
              <a:alpha val="893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0" name="Google Shape;740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73200" y="1373350"/>
            <a:ext cx="3430100" cy="3430100"/>
          </a:xfrm>
          <a:prstGeom prst="rect">
            <a:avLst/>
          </a:prstGeom>
          <a:noFill/>
          <a:ln>
            <a:noFill/>
          </a:ln>
        </p:spPr>
      </p:pic>
      <p:sp>
        <p:nvSpPr>
          <p:cNvPr id="741" name="Google Shape;741;p42"/>
          <p:cNvSpPr txBox="1">
            <a:spLocks noGrp="1"/>
          </p:cNvSpPr>
          <p:nvPr>
            <p:ph type="title"/>
          </p:nvPr>
        </p:nvSpPr>
        <p:spPr>
          <a:xfrm>
            <a:off x="0" y="-11925"/>
            <a:ext cx="9143700" cy="7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40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Manipulation</a:t>
            </a:r>
            <a:endParaRPr sz="4000" b="1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42"/>
          <p:cNvSpPr/>
          <p:nvPr/>
        </p:nvSpPr>
        <p:spPr>
          <a:xfrm>
            <a:off x="0" y="665225"/>
            <a:ext cx="9143700" cy="41400"/>
          </a:xfrm>
          <a:prstGeom prst="rect">
            <a:avLst/>
          </a:prstGeom>
          <a:gradFill>
            <a:gsLst>
              <a:gs pos="0">
                <a:srgbClr val="CD0920"/>
              </a:gs>
              <a:gs pos="9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3" name="Google Shape;743;p42"/>
          <p:cNvSpPr txBox="1"/>
          <p:nvPr/>
        </p:nvSpPr>
        <p:spPr>
          <a:xfrm>
            <a:off x="22175" y="666800"/>
            <a:ext cx="1662300" cy="7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000"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44" name="Google Shape;744;p42"/>
          <p:cNvSpPr/>
          <p:nvPr/>
        </p:nvSpPr>
        <p:spPr>
          <a:xfrm>
            <a:off x="5876875" y="1244050"/>
            <a:ext cx="3038100" cy="16164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5" name="Google Shape;745;p42"/>
          <p:cNvSpPr txBox="1"/>
          <p:nvPr/>
        </p:nvSpPr>
        <p:spPr>
          <a:xfrm>
            <a:off x="1684475" y="818300"/>
            <a:ext cx="4707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/>
              <a:t>Affiche le début du fichier </a:t>
            </a:r>
            <a:br>
              <a:rPr lang="fr" sz="1800"/>
            </a:br>
            <a:r>
              <a:rPr lang="fr" sz="1800">
                <a:solidFill>
                  <a:schemeClr val="dk1"/>
                </a:solidFill>
              </a:rPr>
              <a:t>dans le terminal 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/>
              <a:t> </a:t>
            </a:r>
            <a:endParaRPr sz="1800"/>
          </a:p>
        </p:txBody>
      </p:sp>
      <p:graphicFrame>
        <p:nvGraphicFramePr>
          <p:cNvPr id="746" name="Google Shape;746;p42"/>
          <p:cNvGraphicFramePr/>
          <p:nvPr/>
        </p:nvGraphicFramePr>
        <p:xfrm>
          <a:off x="149100" y="1615875"/>
          <a:ext cx="5069300" cy="792420"/>
        </p:xfrm>
        <a:graphic>
          <a:graphicData uri="http://schemas.openxmlformats.org/drawingml/2006/table">
            <a:tbl>
              <a:tblPr>
                <a:noFill/>
                <a:tableStyleId>{C986AE7D-AF4A-4FAC-BD20-953C9C73A9C3}</a:tableStyleId>
              </a:tblPr>
              <a:tblGrid>
                <a:gridCol w="159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6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b="1">
                          <a:solidFill>
                            <a:srgbClr val="C00000"/>
                          </a:solidFill>
                        </a:rPr>
                        <a:t>Option(s)</a:t>
                      </a:r>
                      <a:endParaRPr b="1">
                        <a:solidFill>
                          <a:srgbClr val="C00000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b="1">
                          <a:solidFill>
                            <a:srgbClr val="C00000"/>
                          </a:solidFill>
                        </a:rPr>
                        <a:t>Description</a:t>
                      </a:r>
                      <a:endParaRPr b="1">
                        <a:solidFill>
                          <a:srgbClr val="C00000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-n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/>
                        <a:t>Contrôler le nombre de lignes affichées</a:t>
                      </a:r>
                      <a:endParaRPr sz="12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747" name="Google Shape;747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238" y="3036076"/>
            <a:ext cx="1310175" cy="1310175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Google Shape;748;p42"/>
          <p:cNvSpPr/>
          <p:nvPr/>
        </p:nvSpPr>
        <p:spPr>
          <a:xfrm>
            <a:off x="255525" y="2966425"/>
            <a:ext cx="1186500" cy="7185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49" name="Google Shape;749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3438" y="3036076"/>
            <a:ext cx="1310175" cy="1310175"/>
          </a:xfrm>
          <a:prstGeom prst="rect">
            <a:avLst/>
          </a:prstGeom>
          <a:noFill/>
          <a:ln>
            <a:noFill/>
          </a:ln>
        </p:spPr>
      </p:pic>
      <p:sp>
        <p:nvSpPr>
          <p:cNvPr id="750" name="Google Shape;750;p42"/>
          <p:cNvSpPr/>
          <p:nvPr/>
        </p:nvSpPr>
        <p:spPr>
          <a:xfrm>
            <a:off x="1700725" y="2966425"/>
            <a:ext cx="1186500" cy="4155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51" name="Google Shape;751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23238" y="3036076"/>
            <a:ext cx="1310175" cy="1310175"/>
          </a:xfrm>
          <a:prstGeom prst="rect">
            <a:avLst/>
          </a:prstGeom>
          <a:noFill/>
          <a:ln>
            <a:noFill/>
          </a:ln>
        </p:spPr>
      </p:pic>
      <p:sp>
        <p:nvSpPr>
          <p:cNvPr id="752" name="Google Shape;752;p42"/>
          <p:cNvSpPr/>
          <p:nvPr/>
        </p:nvSpPr>
        <p:spPr>
          <a:xfrm>
            <a:off x="3180525" y="2966425"/>
            <a:ext cx="1186500" cy="10620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3" name="Google Shape;753;p42"/>
          <p:cNvSpPr txBox="1"/>
          <p:nvPr/>
        </p:nvSpPr>
        <p:spPr>
          <a:xfrm>
            <a:off x="198175" y="2525000"/>
            <a:ext cx="1310100" cy="3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-n 10 (défaut)</a:t>
            </a:r>
            <a:endParaRPr/>
          </a:p>
        </p:txBody>
      </p:sp>
      <p:sp>
        <p:nvSpPr>
          <p:cNvPr id="754" name="Google Shape;754;p42"/>
          <p:cNvSpPr txBox="1"/>
          <p:nvPr/>
        </p:nvSpPr>
        <p:spPr>
          <a:xfrm>
            <a:off x="1645975" y="2525000"/>
            <a:ext cx="1310100" cy="3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-n 5</a:t>
            </a:r>
            <a:endParaRPr/>
          </a:p>
        </p:txBody>
      </p:sp>
      <p:sp>
        <p:nvSpPr>
          <p:cNvPr id="755" name="Google Shape;755;p42"/>
          <p:cNvSpPr txBox="1"/>
          <p:nvPr/>
        </p:nvSpPr>
        <p:spPr>
          <a:xfrm>
            <a:off x="3093775" y="2525000"/>
            <a:ext cx="1310100" cy="3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-n 15</a:t>
            </a:r>
            <a:endParaRPr/>
          </a:p>
        </p:txBody>
      </p:sp>
      <p:sp>
        <p:nvSpPr>
          <p:cNvPr id="756" name="Google Shape;756;p42"/>
          <p:cNvSpPr txBox="1"/>
          <p:nvPr/>
        </p:nvSpPr>
        <p:spPr>
          <a:xfrm>
            <a:off x="320275" y="4610675"/>
            <a:ext cx="4335300" cy="284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head -n 6 ./mon_fichier.txt</a:t>
            </a:r>
            <a:endParaRPr b="1">
              <a:solidFill>
                <a:srgbClr val="00FF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57" name="Google Shape;757;p42"/>
          <p:cNvSpPr txBox="1">
            <a:spLocks noGrp="1"/>
          </p:cNvSpPr>
          <p:nvPr>
            <p:ph type="sldNum" idx="12"/>
          </p:nvPr>
        </p:nvSpPr>
        <p:spPr>
          <a:xfrm>
            <a:off x="8625000" y="4939350"/>
            <a:ext cx="519000" cy="2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24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2" name="Google Shape;762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73200" y="1373350"/>
            <a:ext cx="3430100" cy="3430100"/>
          </a:xfrm>
          <a:prstGeom prst="rect">
            <a:avLst/>
          </a:prstGeom>
          <a:noFill/>
          <a:ln>
            <a:noFill/>
          </a:ln>
        </p:spPr>
      </p:pic>
      <p:sp>
        <p:nvSpPr>
          <p:cNvPr id="763" name="Google Shape;763;p43"/>
          <p:cNvSpPr/>
          <p:nvPr/>
        </p:nvSpPr>
        <p:spPr>
          <a:xfrm>
            <a:off x="0" y="665225"/>
            <a:ext cx="9143700" cy="41400"/>
          </a:xfrm>
          <a:prstGeom prst="rect">
            <a:avLst/>
          </a:prstGeom>
          <a:gradFill>
            <a:gsLst>
              <a:gs pos="0">
                <a:srgbClr val="CD0920"/>
              </a:gs>
              <a:gs pos="9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4" name="Google Shape;764;p43"/>
          <p:cNvSpPr txBox="1"/>
          <p:nvPr/>
        </p:nvSpPr>
        <p:spPr>
          <a:xfrm>
            <a:off x="22175" y="666800"/>
            <a:ext cx="1662300" cy="7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000">
                <a:latin typeface="Courier New"/>
                <a:ea typeface="Courier New"/>
                <a:cs typeface="Courier New"/>
                <a:sym typeface="Courier New"/>
              </a:rPr>
              <a:t>tail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65" name="Google Shape;765;p43"/>
          <p:cNvSpPr/>
          <p:nvPr/>
        </p:nvSpPr>
        <p:spPr>
          <a:xfrm>
            <a:off x="5876875" y="3301450"/>
            <a:ext cx="3038100" cy="16164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6" name="Google Shape;766;p43"/>
          <p:cNvSpPr txBox="1"/>
          <p:nvPr/>
        </p:nvSpPr>
        <p:spPr>
          <a:xfrm>
            <a:off x="1684475" y="818300"/>
            <a:ext cx="4716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/>
              <a:t>Affiche la fin du fichier dans le terminal </a:t>
            </a:r>
            <a:endParaRPr sz="1800"/>
          </a:p>
        </p:txBody>
      </p:sp>
      <p:graphicFrame>
        <p:nvGraphicFramePr>
          <p:cNvPr id="767" name="Google Shape;767;p43"/>
          <p:cNvGraphicFramePr/>
          <p:nvPr/>
        </p:nvGraphicFramePr>
        <p:xfrm>
          <a:off x="149100" y="1615875"/>
          <a:ext cx="5069300" cy="792420"/>
        </p:xfrm>
        <a:graphic>
          <a:graphicData uri="http://schemas.openxmlformats.org/drawingml/2006/table">
            <a:tbl>
              <a:tblPr>
                <a:noFill/>
                <a:tableStyleId>{C986AE7D-AF4A-4FAC-BD20-953C9C73A9C3}</a:tableStyleId>
              </a:tblPr>
              <a:tblGrid>
                <a:gridCol w="159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6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b="1">
                          <a:solidFill>
                            <a:srgbClr val="C00000"/>
                          </a:solidFill>
                        </a:rPr>
                        <a:t>Option(s)</a:t>
                      </a:r>
                      <a:endParaRPr b="1">
                        <a:solidFill>
                          <a:srgbClr val="C00000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b="1">
                          <a:solidFill>
                            <a:srgbClr val="C00000"/>
                          </a:solidFill>
                        </a:rPr>
                        <a:t>Description</a:t>
                      </a:r>
                      <a:endParaRPr b="1">
                        <a:solidFill>
                          <a:srgbClr val="C00000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-n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/>
                        <a:t>Contrôler le nombre de lignes affichées</a:t>
                      </a:r>
                      <a:endParaRPr sz="12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768" name="Google Shape;768;p43"/>
          <p:cNvGrpSpPr/>
          <p:nvPr/>
        </p:nvGrpSpPr>
        <p:grpSpPr>
          <a:xfrm>
            <a:off x="121951" y="2591993"/>
            <a:ext cx="1046252" cy="1690487"/>
            <a:chOff x="198150" y="2972969"/>
            <a:chExt cx="1062077" cy="1716056"/>
          </a:xfrm>
        </p:grpSpPr>
        <p:pic>
          <p:nvPicPr>
            <p:cNvPr id="769" name="Google Shape;769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98247" y="3569475"/>
              <a:ext cx="1061980" cy="106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0" name="Google Shape;770;p43"/>
            <p:cNvSpPr txBox="1"/>
            <p:nvPr/>
          </p:nvSpPr>
          <p:spPr>
            <a:xfrm>
              <a:off x="198150" y="2972969"/>
              <a:ext cx="1062000" cy="33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/>
                <a:t>-n 10 </a:t>
              </a:r>
              <a:br>
                <a:rPr lang="fr"/>
              </a:br>
              <a:r>
                <a:rPr lang="fr"/>
                <a:t>(défaut)</a:t>
              </a:r>
              <a:endParaRPr/>
            </a:p>
          </p:txBody>
        </p:sp>
        <p:sp>
          <p:nvSpPr>
            <p:cNvPr id="771" name="Google Shape;771;p43"/>
            <p:cNvSpPr/>
            <p:nvPr/>
          </p:nvSpPr>
          <p:spPr>
            <a:xfrm>
              <a:off x="238075" y="4150825"/>
              <a:ext cx="973200" cy="538200"/>
            </a:xfrm>
            <a:prstGeom prst="rect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2" name="Google Shape;772;p43"/>
          <p:cNvGrpSpPr/>
          <p:nvPr/>
        </p:nvGrpSpPr>
        <p:grpSpPr>
          <a:xfrm>
            <a:off x="1229154" y="2789896"/>
            <a:ext cx="1046252" cy="1492657"/>
            <a:chOff x="1341150" y="3173866"/>
            <a:chExt cx="1062077" cy="1515234"/>
          </a:xfrm>
        </p:grpSpPr>
        <p:pic>
          <p:nvPicPr>
            <p:cNvPr id="773" name="Google Shape;773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341247" y="3569475"/>
              <a:ext cx="1061980" cy="106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4" name="Google Shape;774;p43"/>
            <p:cNvSpPr txBox="1"/>
            <p:nvPr/>
          </p:nvSpPr>
          <p:spPr>
            <a:xfrm>
              <a:off x="1341150" y="3173866"/>
              <a:ext cx="1062000" cy="33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/>
                <a:t>-n 5</a:t>
              </a:r>
              <a:endParaRPr/>
            </a:p>
          </p:txBody>
        </p:sp>
        <p:sp>
          <p:nvSpPr>
            <p:cNvPr id="775" name="Google Shape;775;p43"/>
            <p:cNvSpPr/>
            <p:nvPr/>
          </p:nvSpPr>
          <p:spPr>
            <a:xfrm>
              <a:off x="1381075" y="4390900"/>
              <a:ext cx="973200" cy="298200"/>
            </a:xfrm>
            <a:prstGeom prst="rect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6" name="Google Shape;776;p43"/>
          <p:cNvGrpSpPr/>
          <p:nvPr/>
        </p:nvGrpSpPr>
        <p:grpSpPr>
          <a:xfrm>
            <a:off x="2336357" y="2789896"/>
            <a:ext cx="1046252" cy="1492657"/>
            <a:chOff x="2484150" y="3173866"/>
            <a:chExt cx="1062077" cy="1515234"/>
          </a:xfrm>
        </p:grpSpPr>
        <p:pic>
          <p:nvPicPr>
            <p:cNvPr id="777" name="Google Shape;777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484247" y="3569475"/>
              <a:ext cx="1061980" cy="106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8" name="Google Shape;778;p43"/>
            <p:cNvSpPr txBox="1"/>
            <p:nvPr/>
          </p:nvSpPr>
          <p:spPr>
            <a:xfrm>
              <a:off x="2484150" y="3173866"/>
              <a:ext cx="1062000" cy="33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/>
                <a:t>-n 15</a:t>
              </a:r>
              <a:endParaRPr/>
            </a:p>
          </p:txBody>
        </p:sp>
        <p:sp>
          <p:nvSpPr>
            <p:cNvPr id="779" name="Google Shape;779;p43"/>
            <p:cNvSpPr/>
            <p:nvPr/>
          </p:nvSpPr>
          <p:spPr>
            <a:xfrm>
              <a:off x="2524075" y="3970600"/>
              <a:ext cx="973200" cy="718500"/>
            </a:xfrm>
            <a:prstGeom prst="rect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0" name="Google Shape;780;p43"/>
          <p:cNvGrpSpPr/>
          <p:nvPr/>
        </p:nvGrpSpPr>
        <p:grpSpPr>
          <a:xfrm>
            <a:off x="3443560" y="2789896"/>
            <a:ext cx="1046252" cy="1492731"/>
            <a:chOff x="3627150" y="3173866"/>
            <a:chExt cx="1062077" cy="1515309"/>
          </a:xfrm>
        </p:grpSpPr>
        <p:pic>
          <p:nvPicPr>
            <p:cNvPr id="781" name="Google Shape;781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627247" y="3569475"/>
              <a:ext cx="1061980" cy="106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2" name="Google Shape;782;p43"/>
            <p:cNvSpPr txBox="1"/>
            <p:nvPr/>
          </p:nvSpPr>
          <p:spPr>
            <a:xfrm>
              <a:off x="3627150" y="3173866"/>
              <a:ext cx="1062000" cy="33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/>
                <a:t>-n +1</a:t>
              </a:r>
              <a:endParaRPr/>
            </a:p>
          </p:txBody>
        </p:sp>
        <p:sp>
          <p:nvSpPr>
            <p:cNvPr id="783" name="Google Shape;783;p43"/>
            <p:cNvSpPr/>
            <p:nvPr/>
          </p:nvSpPr>
          <p:spPr>
            <a:xfrm>
              <a:off x="3667075" y="3513775"/>
              <a:ext cx="973200" cy="1175400"/>
            </a:xfrm>
            <a:prstGeom prst="rect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4" name="Google Shape;784;p43"/>
          <p:cNvGrpSpPr/>
          <p:nvPr/>
        </p:nvGrpSpPr>
        <p:grpSpPr>
          <a:xfrm>
            <a:off x="4550763" y="2789896"/>
            <a:ext cx="1046252" cy="1492682"/>
            <a:chOff x="4693950" y="3173866"/>
            <a:chExt cx="1062077" cy="1515259"/>
          </a:xfrm>
        </p:grpSpPr>
        <p:pic>
          <p:nvPicPr>
            <p:cNvPr id="785" name="Google Shape;785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694047" y="3569475"/>
              <a:ext cx="1061980" cy="106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6" name="Google Shape;786;p43"/>
            <p:cNvSpPr txBox="1"/>
            <p:nvPr/>
          </p:nvSpPr>
          <p:spPr>
            <a:xfrm>
              <a:off x="4693950" y="3173866"/>
              <a:ext cx="1062000" cy="33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/>
                <a:t>-n +2</a:t>
              </a:r>
              <a:endParaRPr/>
            </a:p>
          </p:txBody>
        </p:sp>
        <p:sp>
          <p:nvSpPr>
            <p:cNvPr id="787" name="Google Shape;787;p43"/>
            <p:cNvSpPr/>
            <p:nvPr/>
          </p:nvSpPr>
          <p:spPr>
            <a:xfrm>
              <a:off x="4733875" y="3670625"/>
              <a:ext cx="973200" cy="1018500"/>
            </a:xfrm>
            <a:prstGeom prst="rect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88" name="Google Shape;788;p43"/>
          <p:cNvSpPr txBox="1"/>
          <p:nvPr/>
        </p:nvSpPr>
        <p:spPr>
          <a:xfrm>
            <a:off x="320275" y="4610675"/>
            <a:ext cx="4335300" cy="284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tail -n+10 ./mon_fichier.txt</a:t>
            </a:r>
            <a:endParaRPr b="1">
              <a:solidFill>
                <a:srgbClr val="00FF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89" name="Google Shape;789;p43"/>
          <p:cNvSpPr txBox="1">
            <a:spLocks noGrp="1"/>
          </p:cNvSpPr>
          <p:nvPr>
            <p:ph type="sldNum" idx="12"/>
          </p:nvPr>
        </p:nvSpPr>
        <p:spPr>
          <a:xfrm>
            <a:off x="8625000" y="4939350"/>
            <a:ext cx="519000" cy="2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25</a:t>
            </a:fld>
            <a:endParaRPr/>
          </a:p>
        </p:txBody>
      </p:sp>
      <p:sp>
        <p:nvSpPr>
          <p:cNvPr id="790" name="Google Shape;790;p43"/>
          <p:cNvSpPr txBox="1">
            <a:spLocks noGrp="1"/>
          </p:cNvSpPr>
          <p:nvPr>
            <p:ph type="title"/>
          </p:nvPr>
        </p:nvSpPr>
        <p:spPr>
          <a:xfrm>
            <a:off x="0" y="-11925"/>
            <a:ext cx="9143700" cy="7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40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Manipulation</a:t>
            </a:r>
            <a:endParaRPr sz="4000" b="1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5" name="Google Shape;79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73200" y="1373350"/>
            <a:ext cx="3430100" cy="3430100"/>
          </a:xfrm>
          <a:prstGeom prst="rect">
            <a:avLst/>
          </a:prstGeom>
          <a:noFill/>
          <a:ln>
            <a:noFill/>
          </a:ln>
        </p:spPr>
      </p:pic>
      <p:sp>
        <p:nvSpPr>
          <p:cNvPr id="796" name="Google Shape;796;p44"/>
          <p:cNvSpPr/>
          <p:nvPr/>
        </p:nvSpPr>
        <p:spPr>
          <a:xfrm>
            <a:off x="0" y="665225"/>
            <a:ext cx="9143700" cy="41400"/>
          </a:xfrm>
          <a:prstGeom prst="rect">
            <a:avLst/>
          </a:prstGeom>
          <a:gradFill>
            <a:gsLst>
              <a:gs pos="0">
                <a:srgbClr val="CD0920"/>
              </a:gs>
              <a:gs pos="9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7" name="Google Shape;797;p44"/>
          <p:cNvSpPr txBox="1"/>
          <p:nvPr/>
        </p:nvSpPr>
        <p:spPr>
          <a:xfrm>
            <a:off x="22175" y="666800"/>
            <a:ext cx="1662300" cy="7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000">
                <a:latin typeface="Courier New"/>
                <a:ea typeface="Courier New"/>
                <a:cs typeface="Courier New"/>
                <a:sym typeface="Courier New"/>
              </a:rPr>
              <a:t>cat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98" name="Google Shape;798;p44"/>
          <p:cNvSpPr/>
          <p:nvPr/>
        </p:nvSpPr>
        <p:spPr>
          <a:xfrm>
            <a:off x="5876875" y="1260475"/>
            <a:ext cx="3038100" cy="36573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9" name="Google Shape;799;p44"/>
          <p:cNvSpPr txBox="1"/>
          <p:nvPr/>
        </p:nvSpPr>
        <p:spPr>
          <a:xfrm>
            <a:off x="1684475" y="818300"/>
            <a:ext cx="39888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/>
              <a:t>Affiche tous le fichier dans le terminal</a:t>
            </a:r>
            <a:endParaRPr sz="1800"/>
          </a:p>
        </p:txBody>
      </p:sp>
      <p:sp>
        <p:nvSpPr>
          <p:cNvPr id="800" name="Google Shape;800;p44"/>
          <p:cNvSpPr txBox="1"/>
          <p:nvPr/>
        </p:nvSpPr>
        <p:spPr>
          <a:xfrm>
            <a:off x="320275" y="4610675"/>
            <a:ext cx="4335300" cy="284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cat ./mon_fichier.txt</a:t>
            </a:r>
            <a:endParaRPr b="1">
              <a:solidFill>
                <a:srgbClr val="00FF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01" name="Google Shape;801;p44"/>
          <p:cNvSpPr txBox="1">
            <a:spLocks noGrp="1"/>
          </p:cNvSpPr>
          <p:nvPr>
            <p:ph type="sldNum" idx="12"/>
          </p:nvPr>
        </p:nvSpPr>
        <p:spPr>
          <a:xfrm>
            <a:off x="8625000" y="4939350"/>
            <a:ext cx="519000" cy="2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26</a:t>
            </a:fld>
            <a:endParaRPr/>
          </a:p>
        </p:txBody>
      </p:sp>
      <p:sp>
        <p:nvSpPr>
          <p:cNvPr id="802" name="Google Shape;802;p44"/>
          <p:cNvSpPr txBox="1">
            <a:spLocks noGrp="1"/>
          </p:cNvSpPr>
          <p:nvPr>
            <p:ph type="title"/>
          </p:nvPr>
        </p:nvSpPr>
        <p:spPr>
          <a:xfrm>
            <a:off x="0" y="-11925"/>
            <a:ext cx="9143700" cy="7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40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Manipulation</a:t>
            </a:r>
            <a:endParaRPr sz="4000" b="1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45"/>
          <p:cNvSpPr/>
          <p:nvPr/>
        </p:nvSpPr>
        <p:spPr>
          <a:xfrm>
            <a:off x="4638005" y="3310515"/>
            <a:ext cx="286200" cy="28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8" name="Google Shape;808;p45"/>
          <p:cNvSpPr/>
          <p:nvPr/>
        </p:nvSpPr>
        <p:spPr>
          <a:xfrm>
            <a:off x="3400295" y="3301260"/>
            <a:ext cx="286200" cy="28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9" name="Google Shape;809;p45"/>
          <p:cNvSpPr/>
          <p:nvPr/>
        </p:nvSpPr>
        <p:spPr>
          <a:xfrm>
            <a:off x="1848530" y="4148715"/>
            <a:ext cx="286200" cy="28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0" name="Google Shape;810;p45"/>
          <p:cNvSpPr txBox="1"/>
          <p:nvPr/>
        </p:nvSpPr>
        <p:spPr>
          <a:xfrm>
            <a:off x="320275" y="2377975"/>
            <a:ext cx="5009400" cy="20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/>
              <a:t>A l’intérieur du “</a:t>
            </a:r>
            <a:r>
              <a:rPr lang="fr" sz="1800" i="1"/>
              <a:t>pager</a:t>
            </a:r>
            <a:r>
              <a:rPr lang="fr" sz="1800"/>
              <a:t>”: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 sz="1800"/>
              <a:t>Espace ou les flèches pour naviguer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 sz="1800" b="1">
                <a:latin typeface="Courier New"/>
                <a:ea typeface="Courier New"/>
                <a:cs typeface="Courier New"/>
                <a:sym typeface="Courier New"/>
              </a:rPr>
              <a:t>/motif</a:t>
            </a:r>
            <a:r>
              <a:rPr lang="fr" sz="18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" sz="1800"/>
              <a:t>pour chercher un motif dans le document et les touches  </a:t>
            </a:r>
            <a:r>
              <a:rPr lang="fr" sz="1800" b="1"/>
              <a:t>n</a:t>
            </a:r>
            <a:r>
              <a:rPr lang="fr" sz="1800"/>
              <a:t>  (</a:t>
            </a:r>
            <a:r>
              <a:rPr lang="fr" sz="1800" i="1"/>
              <a:t>next</a:t>
            </a:r>
            <a:r>
              <a:rPr lang="fr" sz="1800"/>
              <a:t>) et  </a:t>
            </a:r>
            <a:r>
              <a:rPr lang="fr" sz="1800" b="1"/>
              <a:t>p</a:t>
            </a:r>
            <a:r>
              <a:rPr lang="fr" sz="1800"/>
              <a:t> (</a:t>
            </a:r>
            <a:r>
              <a:rPr lang="fr" sz="1800" i="1"/>
              <a:t>previous</a:t>
            </a:r>
            <a:r>
              <a:rPr lang="fr" sz="1800"/>
              <a:t>) pour se déplacer entre les occurrences.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 sz="1800"/>
              <a:t>la touche  </a:t>
            </a:r>
            <a:r>
              <a:rPr lang="fr" sz="1800" b="1"/>
              <a:t>q </a:t>
            </a:r>
            <a:r>
              <a:rPr lang="fr" sz="1800"/>
              <a:t> pour quitter </a:t>
            </a:r>
            <a:endParaRPr sz="1800"/>
          </a:p>
        </p:txBody>
      </p:sp>
      <p:pic>
        <p:nvPicPr>
          <p:cNvPr id="811" name="Google Shape;811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73200" y="1373350"/>
            <a:ext cx="3430100" cy="3430100"/>
          </a:xfrm>
          <a:prstGeom prst="rect">
            <a:avLst/>
          </a:prstGeom>
          <a:noFill/>
          <a:ln>
            <a:noFill/>
          </a:ln>
        </p:spPr>
      </p:pic>
      <p:sp>
        <p:nvSpPr>
          <p:cNvPr id="812" name="Google Shape;812;p45"/>
          <p:cNvSpPr/>
          <p:nvPr/>
        </p:nvSpPr>
        <p:spPr>
          <a:xfrm>
            <a:off x="0" y="665225"/>
            <a:ext cx="9143700" cy="41400"/>
          </a:xfrm>
          <a:prstGeom prst="rect">
            <a:avLst/>
          </a:prstGeom>
          <a:gradFill>
            <a:gsLst>
              <a:gs pos="0">
                <a:srgbClr val="CD0920"/>
              </a:gs>
              <a:gs pos="9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3" name="Google Shape;813;p45"/>
          <p:cNvSpPr txBox="1"/>
          <p:nvPr/>
        </p:nvSpPr>
        <p:spPr>
          <a:xfrm>
            <a:off x="22175" y="666800"/>
            <a:ext cx="1662300" cy="7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000">
                <a:latin typeface="Courier New"/>
                <a:ea typeface="Courier New"/>
                <a:cs typeface="Courier New"/>
                <a:sym typeface="Courier New"/>
              </a:rPr>
              <a:t>less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14" name="Google Shape;814;p45"/>
          <p:cNvSpPr/>
          <p:nvPr/>
        </p:nvSpPr>
        <p:spPr>
          <a:xfrm>
            <a:off x="5876875" y="1260475"/>
            <a:ext cx="3038100" cy="8127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5" name="Google Shape;815;p45"/>
          <p:cNvSpPr txBox="1"/>
          <p:nvPr/>
        </p:nvSpPr>
        <p:spPr>
          <a:xfrm>
            <a:off x="1684475" y="818300"/>
            <a:ext cx="39888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/>
              <a:t>Affiche le fichier page par page</a:t>
            </a:r>
            <a:endParaRPr sz="1800"/>
          </a:p>
        </p:txBody>
      </p:sp>
      <p:sp>
        <p:nvSpPr>
          <p:cNvPr id="816" name="Google Shape;816;p45"/>
          <p:cNvSpPr/>
          <p:nvPr/>
        </p:nvSpPr>
        <p:spPr>
          <a:xfrm>
            <a:off x="5876875" y="2670175"/>
            <a:ext cx="3038100" cy="8127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7" name="Google Shape;817;p45"/>
          <p:cNvSpPr/>
          <p:nvPr/>
        </p:nvSpPr>
        <p:spPr>
          <a:xfrm>
            <a:off x="5876875" y="4079875"/>
            <a:ext cx="3038100" cy="8127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18" name="Google Shape;818;p45"/>
          <p:cNvGrpSpPr/>
          <p:nvPr/>
        </p:nvGrpSpPr>
        <p:grpSpPr>
          <a:xfrm>
            <a:off x="7245088" y="2159258"/>
            <a:ext cx="286325" cy="424834"/>
            <a:chOff x="6881075" y="2135375"/>
            <a:chExt cx="286325" cy="424834"/>
          </a:xfrm>
        </p:grpSpPr>
        <p:cxnSp>
          <p:nvCxnSpPr>
            <p:cNvPr id="819" name="Google Shape;819;p45"/>
            <p:cNvCxnSpPr/>
            <p:nvPr/>
          </p:nvCxnSpPr>
          <p:spPr>
            <a:xfrm>
              <a:off x="6881075" y="2135409"/>
              <a:ext cx="0" cy="4248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20" name="Google Shape;820;p45"/>
            <p:cNvCxnSpPr/>
            <p:nvPr/>
          </p:nvCxnSpPr>
          <p:spPr>
            <a:xfrm rot="10800000">
              <a:off x="7167400" y="2135375"/>
              <a:ext cx="0" cy="4179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821" name="Google Shape;821;p45"/>
          <p:cNvGrpSpPr/>
          <p:nvPr/>
        </p:nvGrpSpPr>
        <p:grpSpPr>
          <a:xfrm>
            <a:off x="7252763" y="3568958"/>
            <a:ext cx="286325" cy="424834"/>
            <a:chOff x="6881075" y="2135375"/>
            <a:chExt cx="286325" cy="424834"/>
          </a:xfrm>
        </p:grpSpPr>
        <p:cxnSp>
          <p:nvCxnSpPr>
            <p:cNvPr id="822" name="Google Shape;822;p45"/>
            <p:cNvCxnSpPr/>
            <p:nvPr/>
          </p:nvCxnSpPr>
          <p:spPr>
            <a:xfrm>
              <a:off x="6881075" y="2135409"/>
              <a:ext cx="0" cy="4248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23" name="Google Shape;823;p45"/>
            <p:cNvCxnSpPr/>
            <p:nvPr/>
          </p:nvCxnSpPr>
          <p:spPr>
            <a:xfrm rot="10800000">
              <a:off x="7167400" y="2135375"/>
              <a:ext cx="0" cy="4179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824" name="Google Shape;824;p45"/>
          <p:cNvSpPr txBox="1"/>
          <p:nvPr/>
        </p:nvSpPr>
        <p:spPr>
          <a:xfrm>
            <a:off x="320275" y="1562675"/>
            <a:ext cx="4335300" cy="284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less ./mon_fichier.txt</a:t>
            </a:r>
            <a:endParaRPr b="1">
              <a:solidFill>
                <a:srgbClr val="00FF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25" name="Google Shape;825;p45"/>
          <p:cNvSpPr txBox="1">
            <a:spLocks noGrp="1"/>
          </p:cNvSpPr>
          <p:nvPr>
            <p:ph type="sldNum" idx="12"/>
          </p:nvPr>
        </p:nvSpPr>
        <p:spPr>
          <a:xfrm>
            <a:off x="8625000" y="4939350"/>
            <a:ext cx="519000" cy="2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27</a:t>
            </a:fld>
            <a:endParaRPr/>
          </a:p>
        </p:txBody>
      </p:sp>
      <p:sp>
        <p:nvSpPr>
          <p:cNvPr id="826" name="Google Shape;826;p45"/>
          <p:cNvSpPr txBox="1">
            <a:spLocks noGrp="1"/>
          </p:cNvSpPr>
          <p:nvPr>
            <p:ph type="title"/>
          </p:nvPr>
        </p:nvSpPr>
        <p:spPr>
          <a:xfrm>
            <a:off x="0" y="-11925"/>
            <a:ext cx="9143700" cy="7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40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Manipulation</a:t>
            </a:r>
            <a:endParaRPr sz="4000" b="1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1" name="Google Shape;831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73200" y="1373350"/>
            <a:ext cx="3430100" cy="3430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2" name="Google Shape;832;p46"/>
          <p:cNvSpPr/>
          <p:nvPr/>
        </p:nvSpPr>
        <p:spPr>
          <a:xfrm>
            <a:off x="0" y="665225"/>
            <a:ext cx="9143700" cy="41400"/>
          </a:xfrm>
          <a:prstGeom prst="rect">
            <a:avLst/>
          </a:prstGeom>
          <a:gradFill>
            <a:gsLst>
              <a:gs pos="0">
                <a:srgbClr val="CD0920"/>
              </a:gs>
              <a:gs pos="9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3" name="Google Shape;833;p46"/>
          <p:cNvSpPr txBox="1"/>
          <p:nvPr/>
        </p:nvSpPr>
        <p:spPr>
          <a:xfrm>
            <a:off x="22175" y="666800"/>
            <a:ext cx="1662300" cy="7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000">
                <a:latin typeface="Courier New"/>
                <a:ea typeface="Courier New"/>
                <a:cs typeface="Courier New"/>
                <a:sym typeface="Courier New"/>
              </a:rPr>
              <a:t>grep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34" name="Google Shape;834;p46"/>
          <p:cNvSpPr/>
          <p:nvPr/>
        </p:nvSpPr>
        <p:spPr>
          <a:xfrm>
            <a:off x="5876875" y="1776975"/>
            <a:ext cx="3038100" cy="2313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5" name="Google Shape;835;p46"/>
          <p:cNvSpPr txBox="1"/>
          <p:nvPr/>
        </p:nvSpPr>
        <p:spPr>
          <a:xfrm>
            <a:off x="1684475" y="818300"/>
            <a:ext cx="69510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/>
              <a:t>Chercher un motif et afficher les lignes où il apparaît</a:t>
            </a:r>
            <a:endParaRPr sz="1800"/>
          </a:p>
        </p:txBody>
      </p:sp>
      <p:graphicFrame>
        <p:nvGraphicFramePr>
          <p:cNvPr id="836" name="Google Shape;836;p46"/>
          <p:cNvGraphicFramePr/>
          <p:nvPr/>
        </p:nvGraphicFramePr>
        <p:xfrm>
          <a:off x="149100" y="1615875"/>
          <a:ext cx="5355575" cy="2682060"/>
        </p:xfrm>
        <a:graphic>
          <a:graphicData uri="http://schemas.openxmlformats.org/drawingml/2006/table">
            <a:tbl>
              <a:tblPr>
                <a:noFill/>
                <a:tableStyleId>{C986AE7D-AF4A-4FAC-BD20-953C9C73A9C3}</a:tableStyleId>
              </a:tblPr>
              <a:tblGrid>
                <a:gridCol w="1020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35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b="1">
                          <a:solidFill>
                            <a:srgbClr val="C00000"/>
                          </a:solidFill>
                        </a:rPr>
                        <a:t>Option(s)</a:t>
                      </a:r>
                      <a:endParaRPr b="1">
                        <a:solidFill>
                          <a:srgbClr val="C00000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b="1">
                          <a:solidFill>
                            <a:srgbClr val="C00000"/>
                          </a:solidFill>
                        </a:rPr>
                        <a:t>Description</a:t>
                      </a:r>
                      <a:endParaRPr b="1">
                        <a:solidFill>
                          <a:srgbClr val="C00000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-c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/>
                        <a:t>Renvoie le nombre de fois où l’expression est trouvée</a:t>
                      </a:r>
                      <a:endParaRPr sz="12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-v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/>
                        <a:t>Affiche les lignes ne contenant pas l’expression</a:t>
                      </a:r>
                      <a:endParaRPr sz="12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-i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/>
                        <a:t>Ignore la distinction entre les majuscules et les minuscules</a:t>
                      </a:r>
                      <a:endParaRPr sz="12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-A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" sz="1200">
                          <a:solidFill>
                            <a:schemeClr val="dk1"/>
                          </a:solidFill>
                        </a:rPr>
                        <a:t>Affiche les lignes où l’expression est trouvée et un nombre de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>
                          <a:solidFill>
                            <a:schemeClr val="dk1"/>
                          </a:solidFill>
                        </a:rPr>
                        <a:t>lignes après</a:t>
                      </a:r>
                      <a:endParaRPr sz="12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-B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" sz="1200">
                          <a:solidFill>
                            <a:schemeClr val="dk1"/>
                          </a:solidFill>
                        </a:rPr>
                        <a:t>Affiche les lignes où l’expression est trouvée et un nombre de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" sz="1200">
                          <a:solidFill>
                            <a:schemeClr val="dk1"/>
                          </a:solidFill>
                        </a:rPr>
                        <a:t>lignes avant</a:t>
                      </a:r>
                      <a:endParaRPr sz="12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37" name="Google Shape;837;p46"/>
          <p:cNvSpPr txBox="1"/>
          <p:nvPr/>
        </p:nvSpPr>
        <p:spPr>
          <a:xfrm>
            <a:off x="320275" y="4610675"/>
            <a:ext cx="4335300" cy="284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grep -A1 motif ./mon_fichier.txt</a:t>
            </a:r>
            <a:endParaRPr b="1">
              <a:solidFill>
                <a:srgbClr val="00FF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838" name="Google Shape;838;p46"/>
          <p:cNvCxnSpPr/>
          <p:nvPr/>
        </p:nvCxnSpPr>
        <p:spPr>
          <a:xfrm>
            <a:off x="6262400" y="1851475"/>
            <a:ext cx="13206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39" name="Google Shape;839;p46"/>
          <p:cNvCxnSpPr/>
          <p:nvPr/>
        </p:nvCxnSpPr>
        <p:spPr>
          <a:xfrm>
            <a:off x="6262400" y="2080075"/>
            <a:ext cx="1551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0" name="Google Shape;840;p46"/>
          <p:cNvCxnSpPr/>
          <p:nvPr/>
        </p:nvCxnSpPr>
        <p:spPr>
          <a:xfrm>
            <a:off x="6262400" y="2308675"/>
            <a:ext cx="17730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1" name="Google Shape;841;p46"/>
          <p:cNvCxnSpPr/>
          <p:nvPr/>
        </p:nvCxnSpPr>
        <p:spPr>
          <a:xfrm>
            <a:off x="6262400" y="2537275"/>
            <a:ext cx="2003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2" name="Google Shape;842;p46"/>
          <p:cNvCxnSpPr/>
          <p:nvPr/>
        </p:nvCxnSpPr>
        <p:spPr>
          <a:xfrm>
            <a:off x="6262400" y="2765875"/>
            <a:ext cx="2262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3" name="Google Shape;843;p46"/>
          <p:cNvCxnSpPr/>
          <p:nvPr/>
        </p:nvCxnSpPr>
        <p:spPr>
          <a:xfrm>
            <a:off x="6262400" y="2994475"/>
            <a:ext cx="2262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4" name="Google Shape;844;p46"/>
          <p:cNvCxnSpPr/>
          <p:nvPr/>
        </p:nvCxnSpPr>
        <p:spPr>
          <a:xfrm>
            <a:off x="6262400" y="3223075"/>
            <a:ext cx="2262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5" name="Google Shape;845;p46"/>
          <p:cNvCxnSpPr/>
          <p:nvPr/>
        </p:nvCxnSpPr>
        <p:spPr>
          <a:xfrm>
            <a:off x="6262400" y="3451675"/>
            <a:ext cx="2262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6" name="Google Shape;846;p46"/>
          <p:cNvCxnSpPr/>
          <p:nvPr/>
        </p:nvCxnSpPr>
        <p:spPr>
          <a:xfrm>
            <a:off x="6262400" y="3680275"/>
            <a:ext cx="2262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7" name="Google Shape;847;p46"/>
          <p:cNvCxnSpPr/>
          <p:nvPr/>
        </p:nvCxnSpPr>
        <p:spPr>
          <a:xfrm>
            <a:off x="6262400" y="3908875"/>
            <a:ext cx="2262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8" name="Google Shape;848;p46"/>
          <p:cNvCxnSpPr/>
          <p:nvPr/>
        </p:nvCxnSpPr>
        <p:spPr>
          <a:xfrm>
            <a:off x="6262400" y="4137475"/>
            <a:ext cx="2262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9" name="Google Shape;849;p46"/>
          <p:cNvCxnSpPr/>
          <p:nvPr/>
        </p:nvCxnSpPr>
        <p:spPr>
          <a:xfrm>
            <a:off x="6262400" y="4366075"/>
            <a:ext cx="2262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50" name="Google Shape;850;p46"/>
          <p:cNvSpPr/>
          <p:nvPr/>
        </p:nvSpPr>
        <p:spPr>
          <a:xfrm>
            <a:off x="5876875" y="2386575"/>
            <a:ext cx="3038100" cy="5283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1" name="Google Shape;851;p46"/>
          <p:cNvSpPr/>
          <p:nvPr/>
        </p:nvSpPr>
        <p:spPr>
          <a:xfrm>
            <a:off x="5876875" y="3758175"/>
            <a:ext cx="3038100" cy="5283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2" name="Google Shape;852;p46"/>
          <p:cNvSpPr txBox="1">
            <a:spLocks noGrp="1"/>
          </p:cNvSpPr>
          <p:nvPr>
            <p:ph type="sldNum" idx="12"/>
          </p:nvPr>
        </p:nvSpPr>
        <p:spPr>
          <a:xfrm>
            <a:off x="8625000" y="4939350"/>
            <a:ext cx="519000" cy="2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28</a:t>
            </a:fld>
            <a:endParaRPr/>
          </a:p>
        </p:txBody>
      </p:sp>
      <p:sp>
        <p:nvSpPr>
          <p:cNvPr id="853" name="Google Shape;853;p46"/>
          <p:cNvSpPr txBox="1">
            <a:spLocks noGrp="1"/>
          </p:cNvSpPr>
          <p:nvPr>
            <p:ph type="title"/>
          </p:nvPr>
        </p:nvSpPr>
        <p:spPr>
          <a:xfrm>
            <a:off x="0" y="-11925"/>
            <a:ext cx="9143700" cy="7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40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Manipulation</a:t>
            </a:r>
            <a:endParaRPr sz="4000" b="1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5CD"/>
        </a:solidFill>
        <a:effectLst/>
      </p:bgPr>
    </p:bg>
    <p:spTree>
      <p:nvGrpSpPr>
        <p:cNvPr id="1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47"/>
          <p:cNvSpPr txBox="1"/>
          <p:nvPr/>
        </p:nvSpPr>
        <p:spPr>
          <a:xfrm>
            <a:off x="223150" y="96950"/>
            <a:ext cx="8532600" cy="4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 b="1"/>
              <a:t>REGEX</a:t>
            </a:r>
            <a:r>
              <a:rPr lang="fr" sz="2400"/>
              <a:t>  (Expression Régulière / Rationnelles)</a:t>
            </a:r>
            <a:endParaRPr sz="2400"/>
          </a:p>
        </p:txBody>
      </p:sp>
      <p:sp>
        <p:nvSpPr>
          <p:cNvPr id="859" name="Google Shape;859;p47"/>
          <p:cNvSpPr txBox="1"/>
          <p:nvPr/>
        </p:nvSpPr>
        <p:spPr>
          <a:xfrm>
            <a:off x="315500" y="750275"/>
            <a:ext cx="1883700" cy="13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 b="1">
                <a:latin typeface="Courier New"/>
                <a:ea typeface="Courier New"/>
                <a:cs typeface="Courier New"/>
                <a:sym typeface="Courier New"/>
              </a:rPr>
              <a:t>cha</a:t>
            </a:r>
            <a:r>
              <a:rPr lang="fr" sz="1800">
                <a:latin typeface="Courier New"/>
                <a:ea typeface="Courier New"/>
                <a:cs typeface="Courier New"/>
                <a:sym typeface="Courier New"/>
              </a:rPr>
              <a:t>teau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 b="1">
                <a:latin typeface="Courier New"/>
                <a:ea typeface="Courier New"/>
                <a:cs typeface="Courier New"/>
                <a:sym typeface="Courier New"/>
              </a:rPr>
              <a:t>cha</a:t>
            </a:r>
            <a:r>
              <a:rPr lang="fr" sz="1800">
                <a:latin typeface="Courier New"/>
                <a:ea typeface="Courier New"/>
                <a:cs typeface="Courier New"/>
                <a:sym typeface="Courier New"/>
              </a:rPr>
              <a:t>peau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 b="1">
                <a:latin typeface="Courier New"/>
                <a:ea typeface="Courier New"/>
                <a:cs typeface="Courier New"/>
                <a:sym typeface="Courier New"/>
              </a:rPr>
              <a:t>cha</a:t>
            </a:r>
            <a:r>
              <a:rPr lang="fr" sz="1800">
                <a:latin typeface="Courier New"/>
                <a:ea typeface="Courier New"/>
                <a:cs typeface="Courier New"/>
                <a:sym typeface="Courier New"/>
              </a:rPr>
              <a:t>loupe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 b="1">
                <a:latin typeface="Courier New"/>
                <a:ea typeface="Courier New"/>
                <a:cs typeface="Courier New"/>
                <a:sym typeface="Courier New"/>
              </a:rPr>
              <a:t>cha</a:t>
            </a:r>
            <a:r>
              <a:rPr lang="fr" sz="1800">
                <a:latin typeface="Courier New"/>
                <a:ea typeface="Courier New"/>
                <a:cs typeface="Courier New"/>
                <a:sym typeface="Courier New"/>
              </a:rPr>
              <a:t>meau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860" name="Google Shape;860;p47"/>
          <p:cNvSpPr txBox="1"/>
          <p:nvPr/>
        </p:nvSpPr>
        <p:spPr>
          <a:xfrm>
            <a:off x="0" y="2022350"/>
            <a:ext cx="1883700" cy="4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/>
              <a:t>Motif: </a:t>
            </a:r>
            <a:r>
              <a:rPr lang="fr" sz="1800" b="1">
                <a:latin typeface="Courier New"/>
                <a:ea typeface="Courier New"/>
                <a:cs typeface="Courier New"/>
                <a:sym typeface="Courier New"/>
              </a:rPr>
              <a:t>cha</a:t>
            </a:r>
            <a:endParaRPr sz="18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861" name="Google Shape;861;p47"/>
          <p:cNvGraphicFramePr/>
          <p:nvPr/>
        </p:nvGraphicFramePr>
        <p:xfrm>
          <a:off x="5819575" y="1915375"/>
          <a:ext cx="2936175" cy="2773470"/>
        </p:xfrm>
        <a:graphic>
          <a:graphicData uri="http://schemas.openxmlformats.org/drawingml/2006/table">
            <a:tbl>
              <a:tblPr>
                <a:noFill/>
                <a:tableStyleId>{C986AE7D-AF4A-4FAC-BD20-953C9C73A9C3}</a:tableStyleId>
              </a:tblPr>
              <a:tblGrid>
                <a:gridCol w="1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0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Quantificateurs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?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0 ou 1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*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0 ou +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+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1 ou +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{x}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x fois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{x,}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au moins x fois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{x,y}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entre x et y fois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62" name="Google Shape;862;p47"/>
          <p:cNvSpPr txBox="1"/>
          <p:nvPr/>
        </p:nvSpPr>
        <p:spPr>
          <a:xfrm>
            <a:off x="5819575" y="1384425"/>
            <a:ext cx="2820000" cy="4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/>
              <a:t>grep -E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863" name="Google Shape;863;p47"/>
          <p:cNvSpPr txBox="1">
            <a:spLocks noGrp="1"/>
          </p:cNvSpPr>
          <p:nvPr>
            <p:ph type="sldNum" idx="12"/>
          </p:nvPr>
        </p:nvSpPr>
        <p:spPr>
          <a:xfrm>
            <a:off x="8625000" y="4939350"/>
            <a:ext cx="519000" cy="2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29</a:t>
            </a:fld>
            <a:endParaRPr/>
          </a:p>
        </p:txBody>
      </p:sp>
      <p:graphicFrame>
        <p:nvGraphicFramePr>
          <p:cNvPr id="864" name="Google Shape;864;p47"/>
          <p:cNvGraphicFramePr/>
          <p:nvPr/>
        </p:nvGraphicFramePr>
        <p:xfrm>
          <a:off x="1795575" y="2196975"/>
          <a:ext cx="3075775" cy="1401990"/>
        </p:xfrm>
        <a:graphic>
          <a:graphicData uri="http://schemas.openxmlformats.org/drawingml/2006/table">
            <a:tbl>
              <a:tblPr>
                <a:noFill/>
                <a:tableStyleId>{C986AE7D-AF4A-4FAC-BD20-953C9C73A9C3}</a:tableStyleId>
              </a:tblPr>
              <a:tblGrid>
                <a:gridCol w="95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2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b="1" dirty="0">
                          <a:solidFill>
                            <a:srgbClr val="FF0000"/>
                          </a:solidFill>
                        </a:rPr>
                        <a:t>^</a:t>
                      </a:r>
                      <a:r>
                        <a:rPr lang="fr" dirty="0" err="1"/>
                        <a:t>blabla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dirty="0"/>
                        <a:t>Début de la ligne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dirty="0" err="1"/>
                        <a:t>blabla</a:t>
                      </a:r>
                      <a:r>
                        <a:rPr lang="fr" b="1" dirty="0">
                          <a:solidFill>
                            <a:srgbClr val="FF0000"/>
                          </a:solidFill>
                        </a:rPr>
                        <a:t>$</a:t>
                      </a:r>
                      <a:endParaRPr b="1" dirty="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dirty="0"/>
                        <a:t>Fin de la ligne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b="1" dirty="0">
                          <a:solidFill>
                            <a:srgbClr val="FF0000"/>
                          </a:solidFill>
                        </a:rPr>
                        <a:t>.</a:t>
                      </a:r>
                      <a:endParaRPr b="1" dirty="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dirty="0"/>
                        <a:t>N’importe quel caractère (? en </a:t>
                      </a:r>
                      <a:r>
                        <a:rPr lang="fr" dirty="0" err="1"/>
                        <a:t>bash</a:t>
                      </a:r>
                      <a:r>
                        <a:rPr lang="fr" dirty="0"/>
                        <a:t>)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65" name="Google Shape;865;p47"/>
          <p:cNvSpPr txBox="1"/>
          <p:nvPr/>
        </p:nvSpPr>
        <p:spPr>
          <a:xfrm>
            <a:off x="437850" y="4129575"/>
            <a:ext cx="4335300" cy="53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grep "^cha" ./mon_fichier.txt</a:t>
            </a:r>
            <a:endParaRPr b="1">
              <a:solidFill>
                <a:srgbClr val="00FF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grep "eau$" mon_fichier.txt</a:t>
            </a:r>
            <a:endParaRPr b="1">
              <a:solidFill>
                <a:srgbClr val="00FF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66" name="Google Shape;866;p47"/>
          <p:cNvSpPr txBox="1"/>
          <p:nvPr/>
        </p:nvSpPr>
        <p:spPr>
          <a:xfrm>
            <a:off x="437850" y="4665975"/>
            <a:ext cx="42714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chateau, chapeau, chameau </a:t>
            </a:r>
            <a:r>
              <a:rPr lang="fr" b="1"/>
              <a:t>mais pas</a:t>
            </a:r>
            <a:r>
              <a:rPr lang="fr"/>
              <a:t> chaloupe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48"/>
          <p:cNvSpPr/>
          <p:nvPr/>
        </p:nvSpPr>
        <p:spPr>
          <a:xfrm>
            <a:off x="0" y="665225"/>
            <a:ext cx="9143700" cy="41400"/>
          </a:xfrm>
          <a:prstGeom prst="rect">
            <a:avLst/>
          </a:prstGeom>
          <a:gradFill>
            <a:gsLst>
              <a:gs pos="0">
                <a:srgbClr val="CD0920"/>
              </a:gs>
              <a:gs pos="9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2" name="Google Shape;872;p48"/>
          <p:cNvSpPr txBox="1"/>
          <p:nvPr/>
        </p:nvSpPr>
        <p:spPr>
          <a:xfrm>
            <a:off x="22175" y="666800"/>
            <a:ext cx="1662300" cy="7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000">
                <a:latin typeface="Courier New"/>
                <a:ea typeface="Courier New"/>
                <a:cs typeface="Courier New"/>
                <a:sym typeface="Courier New"/>
              </a:rPr>
              <a:t>cut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73" name="Google Shape;873;p48"/>
          <p:cNvSpPr txBox="1"/>
          <p:nvPr/>
        </p:nvSpPr>
        <p:spPr>
          <a:xfrm>
            <a:off x="1684475" y="818300"/>
            <a:ext cx="69510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/>
              <a:t>Retourne la colonne sélectionnée</a:t>
            </a:r>
            <a:endParaRPr sz="1800"/>
          </a:p>
        </p:txBody>
      </p:sp>
      <p:graphicFrame>
        <p:nvGraphicFramePr>
          <p:cNvPr id="874" name="Google Shape;874;p48"/>
          <p:cNvGraphicFramePr/>
          <p:nvPr/>
        </p:nvGraphicFramePr>
        <p:xfrm>
          <a:off x="149100" y="1615875"/>
          <a:ext cx="5355575" cy="1188630"/>
        </p:xfrm>
        <a:graphic>
          <a:graphicData uri="http://schemas.openxmlformats.org/drawingml/2006/table">
            <a:tbl>
              <a:tblPr>
                <a:noFill/>
                <a:tableStyleId>{C986AE7D-AF4A-4FAC-BD20-953C9C73A9C3}</a:tableStyleId>
              </a:tblPr>
              <a:tblGrid>
                <a:gridCol w="1020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35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b="1">
                          <a:solidFill>
                            <a:srgbClr val="C00000"/>
                          </a:solidFill>
                        </a:rPr>
                        <a:t>Option(s)</a:t>
                      </a:r>
                      <a:endParaRPr b="1">
                        <a:solidFill>
                          <a:srgbClr val="C00000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b="1">
                          <a:solidFill>
                            <a:srgbClr val="C00000"/>
                          </a:solidFill>
                        </a:rPr>
                        <a:t>Description</a:t>
                      </a:r>
                      <a:endParaRPr b="1">
                        <a:solidFill>
                          <a:srgbClr val="C00000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-f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>
                          <a:solidFill>
                            <a:schemeClr val="dk1"/>
                          </a:solidFill>
                        </a:rPr>
                        <a:t>Sélectionner les colonnes à afficher</a:t>
                      </a:r>
                      <a:endParaRPr sz="12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-d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/>
                        <a:t>Spécifier le séparateur</a:t>
                      </a:r>
                      <a:endParaRPr sz="12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75" name="Google Shape;875;p48"/>
          <p:cNvSpPr txBox="1"/>
          <p:nvPr/>
        </p:nvSpPr>
        <p:spPr>
          <a:xfrm>
            <a:off x="320275" y="4610675"/>
            <a:ext cx="4335300" cy="284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cut -f1 -d',' ./mon_fichier.csv</a:t>
            </a:r>
            <a:endParaRPr b="1">
              <a:solidFill>
                <a:srgbClr val="00FF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876" name="Google Shape;876;p48"/>
          <p:cNvGrpSpPr/>
          <p:nvPr/>
        </p:nvGrpSpPr>
        <p:grpSpPr>
          <a:xfrm>
            <a:off x="5673200" y="1373350"/>
            <a:ext cx="3430100" cy="3430100"/>
            <a:chOff x="5673200" y="1373350"/>
            <a:chExt cx="3430100" cy="3430100"/>
          </a:xfrm>
        </p:grpSpPr>
        <p:pic>
          <p:nvPicPr>
            <p:cNvPr id="877" name="Google Shape;877;p4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673200" y="1373350"/>
              <a:ext cx="3430100" cy="34301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878" name="Google Shape;878;p48"/>
            <p:cNvCxnSpPr/>
            <p:nvPr/>
          </p:nvCxnSpPr>
          <p:spPr>
            <a:xfrm>
              <a:off x="6262400" y="4366075"/>
              <a:ext cx="554100" cy="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79" name="Google Shape;879;p48"/>
            <p:cNvCxnSpPr/>
            <p:nvPr/>
          </p:nvCxnSpPr>
          <p:spPr>
            <a:xfrm>
              <a:off x="7062500" y="4366075"/>
              <a:ext cx="554100" cy="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80" name="Google Shape;880;p48"/>
            <p:cNvCxnSpPr/>
            <p:nvPr/>
          </p:nvCxnSpPr>
          <p:spPr>
            <a:xfrm>
              <a:off x="7862600" y="4366075"/>
              <a:ext cx="554100" cy="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81" name="Google Shape;881;p48"/>
            <p:cNvCxnSpPr/>
            <p:nvPr/>
          </p:nvCxnSpPr>
          <p:spPr>
            <a:xfrm>
              <a:off x="6262400" y="4137475"/>
              <a:ext cx="554100" cy="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82" name="Google Shape;882;p48"/>
            <p:cNvCxnSpPr/>
            <p:nvPr/>
          </p:nvCxnSpPr>
          <p:spPr>
            <a:xfrm>
              <a:off x="7062500" y="4137475"/>
              <a:ext cx="554100" cy="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83" name="Google Shape;883;p48"/>
            <p:cNvCxnSpPr/>
            <p:nvPr/>
          </p:nvCxnSpPr>
          <p:spPr>
            <a:xfrm>
              <a:off x="7862600" y="4137475"/>
              <a:ext cx="554100" cy="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84" name="Google Shape;884;p48"/>
            <p:cNvCxnSpPr/>
            <p:nvPr/>
          </p:nvCxnSpPr>
          <p:spPr>
            <a:xfrm>
              <a:off x="6262400" y="3908875"/>
              <a:ext cx="554100" cy="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85" name="Google Shape;885;p48"/>
            <p:cNvCxnSpPr/>
            <p:nvPr/>
          </p:nvCxnSpPr>
          <p:spPr>
            <a:xfrm>
              <a:off x="7062500" y="3908875"/>
              <a:ext cx="554100" cy="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86" name="Google Shape;886;p48"/>
            <p:cNvCxnSpPr/>
            <p:nvPr/>
          </p:nvCxnSpPr>
          <p:spPr>
            <a:xfrm>
              <a:off x="7862600" y="3908875"/>
              <a:ext cx="554100" cy="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87" name="Google Shape;887;p48"/>
            <p:cNvCxnSpPr/>
            <p:nvPr/>
          </p:nvCxnSpPr>
          <p:spPr>
            <a:xfrm>
              <a:off x="6262400" y="3680275"/>
              <a:ext cx="554100" cy="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88" name="Google Shape;888;p48"/>
            <p:cNvCxnSpPr/>
            <p:nvPr/>
          </p:nvCxnSpPr>
          <p:spPr>
            <a:xfrm>
              <a:off x="7062500" y="3680275"/>
              <a:ext cx="554100" cy="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89" name="Google Shape;889;p48"/>
            <p:cNvCxnSpPr/>
            <p:nvPr/>
          </p:nvCxnSpPr>
          <p:spPr>
            <a:xfrm>
              <a:off x="7862600" y="3680275"/>
              <a:ext cx="554100" cy="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90" name="Google Shape;890;p48"/>
            <p:cNvCxnSpPr/>
            <p:nvPr/>
          </p:nvCxnSpPr>
          <p:spPr>
            <a:xfrm>
              <a:off x="6262400" y="3451675"/>
              <a:ext cx="554100" cy="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91" name="Google Shape;891;p48"/>
            <p:cNvCxnSpPr/>
            <p:nvPr/>
          </p:nvCxnSpPr>
          <p:spPr>
            <a:xfrm>
              <a:off x="7062500" y="3451675"/>
              <a:ext cx="554100" cy="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92" name="Google Shape;892;p48"/>
            <p:cNvCxnSpPr/>
            <p:nvPr/>
          </p:nvCxnSpPr>
          <p:spPr>
            <a:xfrm>
              <a:off x="7862600" y="3451675"/>
              <a:ext cx="554100" cy="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93" name="Google Shape;893;p48"/>
            <p:cNvCxnSpPr/>
            <p:nvPr/>
          </p:nvCxnSpPr>
          <p:spPr>
            <a:xfrm>
              <a:off x="6262400" y="3223075"/>
              <a:ext cx="554100" cy="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94" name="Google Shape;894;p48"/>
            <p:cNvCxnSpPr/>
            <p:nvPr/>
          </p:nvCxnSpPr>
          <p:spPr>
            <a:xfrm>
              <a:off x="7062500" y="3223075"/>
              <a:ext cx="554100" cy="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95" name="Google Shape;895;p48"/>
            <p:cNvCxnSpPr/>
            <p:nvPr/>
          </p:nvCxnSpPr>
          <p:spPr>
            <a:xfrm>
              <a:off x="7862600" y="3223075"/>
              <a:ext cx="554100" cy="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96" name="Google Shape;896;p48"/>
            <p:cNvCxnSpPr/>
            <p:nvPr/>
          </p:nvCxnSpPr>
          <p:spPr>
            <a:xfrm>
              <a:off x="6262400" y="2994475"/>
              <a:ext cx="554100" cy="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97" name="Google Shape;897;p48"/>
            <p:cNvCxnSpPr/>
            <p:nvPr/>
          </p:nvCxnSpPr>
          <p:spPr>
            <a:xfrm>
              <a:off x="7062500" y="2994475"/>
              <a:ext cx="554100" cy="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98" name="Google Shape;898;p48"/>
            <p:cNvCxnSpPr/>
            <p:nvPr/>
          </p:nvCxnSpPr>
          <p:spPr>
            <a:xfrm>
              <a:off x="7862600" y="2994475"/>
              <a:ext cx="554100" cy="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99" name="Google Shape;899;p48"/>
            <p:cNvCxnSpPr/>
            <p:nvPr/>
          </p:nvCxnSpPr>
          <p:spPr>
            <a:xfrm>
              <a:off x="6262400" y="2765875"/>
              <a:ext cx="554100" cy="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0" name="Google Shape;900;p48"/>
            <p:cNvCxnSpPr/>
            <p:nvPr/>
          </p:nvCxnSpPr>
          <p:spPr>
            <a:xfrm>
              <a:off x="7062500" y="2765875"/>
              <a:ext cx="554100" cy="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1" name="Google Shape;901;p48"/>
            <p:cNvCxnSpPr/>
            <p:nvPr/>
          </p:nvCxnSpPr>
          <p:spPr>
            <a:xfrm>
              <a:off x="7862600" y="2765875"/>
              <a:ext cx="554100" cy="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2" name="Google Shape;902;p48"/>
            <p:cNvCxnSpPr/>
            <p:nvPr/>
          </p:nvCxnSpPr>
          <p:spPr>
            <a:xfrm>
              <a:off x="6262400" y="2537275"/>
              <a:ext cx="554100" cy="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3" name="Google Shape;903;p48"/>
            <p:cNvCxnSpPr/>
            <p:nvPr/>
          </p:nvCxnSpPr>
          <p:spPr>
            <a:xfrm>
              <a:off x="7062500" y="2537275"/>
              <a:ext cx="554100" cy="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4" name="Google Shape;904;p48"/>
            <p:cNvCxnSpPr/>
            <p:nvPr/>
          </p:nvCxnSpPr>
          <p:spPr>
            <a:xfrm>
              <a:off x="7862600" y="2537275"/>
              <a:ext cx="449700" cy="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5" name="Google Shape;905;p48"/>
            <p:cNvCxnSpPr/>
            <p:nvPr/>
          </p:nvCxnSpPr>
          <p:spPr>
            <a:xfrm>
              <a:off x="6262400" y="2308675"/>
              <a:ext cx="554100" cy="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6" name="Google Shape;906;p48"/>
            <p:cNvCxnSpPr/>
            <p:nvPr/>
          </p:nvCxnSpPr>
          <p:spPr>
            <a:xfrm>
              <a:off x="7062500" y="2308675"/>
              <a:ext cx="554100" cy="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7" name="Google Shape;907;p48"/>
            <p:cNvCxnSpPr/>
            <p:nvPr/>
          </p:nvCxnSpPr>
          <p:spPr>
            <a:xfrm>
              <a:off x="6262400" y="2080075"/>
              <a:ext cx="554100" cy="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8" name="Google Shape;908;p48"/>
            <p:cNvCxnSpPr/>
            <p:nvPr/>
          </p:nvCxnSpPr>
          <p:spPr>
            <a:xfrm>
              <a:off x="7062500" y="2080075"/>
              <a:ext cx="554100" cy="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9" name="Google Shape;909;p48"/>
            <p:cNvCxnSpPr/>
            <p:nvPr/>
          </p:nvCxnSpPr>
          <p:spPr>
            <a:xfrm>
              <a:off x="6262400" y="1851475"/>
              <a:ext cx="554100" cy="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10" name="Google Shape;910;p48"/>
            <p:cNvCxnSpPr/>
            <p:nvPr/>
          </p:nvCxnSpPr>
          <p:spPr>
            <a:xfrm>
              <a:off x="7062500" y="1851475"/>
              <a:ext cx="418800" cy="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11" name="Google Shape;911;p48"/>
            <p:cNvCxnSpPr/>
            <p:nvPr/>
          </p:nvCxnSpPr>
          <p:spPr>
            <a:xfrm>
              <a:off x="7862600" y="2308675"/>
              <a:ext cx="246600" cy="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912" name="Google Shape;912;p48"/>
          <p:cNvGrpSpPr/>
          <p:nvPr/>
        </p:nvGrpSpPr>
        <p:grpSpPr>
          <a:xfrm>
            <a:off x="116753" y="2844800"/>
            <a:ext cx="1136049" cy="1592125"/>
            <a:chOff x="116753" y="2844800"/>
            <a:chExt cx="1136049" cy="1592125"/>
          </a:xfrm>
        </p:grpSpPr>
        <p:grpSp>
          <p:nvGrpSpPr>
            <p:cNvPr id="913" name="Google Shape;913;p48"/>
            <p:cNvGrpSpPr/>
            <p:nvPr/>
          </p:nvGrpSpPr>
          <p:grpSpPr>
            <a:xfrm>
              <a:off x="116753" y="3252772"/>
              <a:ext cx="1136049" cy="1136049"/>
              <a:chOff x="5673200" y="1373350"/>
              <a:chExt cx="3430100" cy="3430100"/>
            </a:xfrm>
          </p:grpSpPr>
          <p:pic>
            <p:nvPicPr>
              <p:cNvPr id="914" name="Google Shape;914;p48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5673200" y="1373350"/>
                <a:ext cx="3430100" cy="3430100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915" name="Google Shape;915;p48"/>
              <p:cNvCxnSpPr/>
              <p:nvPr/>
            </p:nvCxnSpPr>
            <p:spPr>
              <a:xfrm>
                <a:off x="6262400" y="43660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6" name="Google Shape;916;p48"/>
              <p:cNvCxnSpPr/>
              <p:nvPr/>
            </p:nvCxnSpPr>
            <p:spPr>
              <a:xfrm>
                <a:off x="7062500" y="43660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7" name="Google Shape;917;p48"/>
              <p:cNvCxnSpPr/>
              <p:nvPr/>
            </p:nvCxnSpPr>
            <p:spPr>
              <a:xfrm>
                <a:off x="7862600" y="43660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8" name="Google Shape;918;p48"/>
              <p:cNvCxnSpPr/>
              <p:nvPr/>
            </p:nvCxnSpPr>
            <p:spPr>
              <a:xfrm>
                <a:off x="6262400" y="41374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9" name="Google Shape;919;p48"/>
              <p:cNvCxnSpPr/>
              <p:nvPr/>
            </p:nvCxnSpPr>
            <p:spPr>
              <a:xfrm>
                <a:off x="7062500" y="41374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20" name="Google Shape;920;p48"/>
              <p:cNvCxnSpPr/>
              <p:nvPr/>
            </p:nvCxnSpPr>
            <p:spPr>
              <a:xfrm>
                <a:off x="7862600" y="41374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21" name="Google Shape;921;p48"/>
              <p:cNvCxnSpPr/>
              <p:nvPr/>
            </p:nvCxnSpPr>
            <p:spPr>
              <a:xfrm>
                <a:off x="6262400" y="39088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22" name="Google Shape;922;p48"/>
              <p:cNvCxnSpPr/>
              <p:nvPr/>
            </p:nvCxnSpPr>
            <p:spPr>
              <a:xfrm>
                <a:off x="7062500" y="39088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23" name="Google Shape;923;p48"/>
              <p:cNvCxnSpPr/>
              <p:nvPr/>
            </p:nvCxnSpPr>
            <p:spPr>
              <a:xfrm>
                <a:off x="7862600" y="39088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24" name="Google Shape;924;p48"/>
              <p:cNvCxnSpPr/>
              <p:nvPr/>
            </p:nvCxnSpPr>
            <p:spPr>
              <a:xfrm>
                <a:off x="6262400" y="36802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25" name="Google Shape;925;p48"/>
              <p:cNvCxnSpPr/>
              <p:nvPr/>
            </p:nvCxnSpPr>
            <p:spPr>
              <a:xfrm>
                <a:off x="7062500" y="36802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26" name="Google Shape;926;p48"/>
              <p:cNvCxnSpPr/>
              <p:nvPr/>
            </p:nvCxnSpPr>
            <p:spPr>
              <a:xfrm>
                <a:off x="7862600" y="36802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27" name="Google Shape;927;p48"/>
              <p:cNvCxnSpPr/>
              <p:nvPr/>
            </p:nvCxnSpPr>
            <p:spPr>
              <a:xfrm>
                <a:off x="6262400" y="34516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28" name="Google Shape;928;p48"/>
              <p:cNvCxnSpPr/>
              <p:nvPr/>
            </p:nvCxnSpPr>
            <p:spPr>
              <a:xfrm>
                <a:off x="7062500" y="34516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29" name="Google Shape;929;p48"/>
              <p:cNvCxnSpPr/>
              <p:nvPr/>
            </p:nvCxnSpPr>
            <p:spPr>
              <a:xfrm>
                <a:off x="7862600" y="34516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30" name="Google Shape;930;p48"/>
              <p:cNvCxnSpPr/>
              <p:nvPr/>
            </p:nvCxnSpPr>
            <p:spPr>
              <a:xfrm>
                <a:off x="6262400" y="32230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31" name="Google Shape;931;p48"/>
              <p:cNvCxnSpPr/>
              <p:nvPr/>
            </p:nvCxnSpPr>
            <p:spPr>
              <a:xfrm>
                <a:off x="7062500" y="32230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32" name="Google Shape;932;p48"/>
              <p:cNvCxnSpPr/>
              <p:nvPr/>
            </p:nvCxnSpPr>
            <p:spPr>
              <a:xfrm>
                <a:off x="7862600" y="32230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33" name="Google Shape;933;p48"/>
              <p:cNvCxnSpPr/>
              <p:nvPr/>
            </p:nvCxnSpPr>
            <p:spPr>
              <a:xfrm>
                <a:off x="6262400" y="29944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34" name="Google Shape;934;p48"/>
              <p:cNvCxnSpPr/>
              <p:nvPr/>
            </p:nvCxnSpPr>
            <p:spPr>
              <a:xfrm>
                <a:off x="7062500" y="29944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35" name="Google Shape;935;p48"/>
              <p:cNvCxnSpPr/>
              <p:nvPr/>
            </p:nvCxnSpPr>
            <p:spPr>
              <a:xfrm>
                <a:off x="7862600" y="29944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36" name="Google Shape;936;p48"/>
              <p:cNvCxnSpPr/>
              <p:nvPr/>
            </p:nvCxnSpPr>
            <p:spPr>
              <a:xfrm>
                <a:off x="6262400" y="27658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37" name="Google Shape;937;p48"/>
              <p:cNvCxnSpPr/>
              <p:nvPr/>
            </p:nvCxnSpPr>
            <p:spPr>
              <a:xfrm>
                <a:off x="7062500" y="27658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38" name="Google Shape;938;p48"/>
              <p:cNvCxnSpPr/>
              <p:nvPr/>
            </p:nvCxnSpPr>
            <p:spPr>
              <a:xfrm>
                <a:off x="7862600" y="27658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39" name="Google Shape;939;p48"/>
              <p:cNvCxnSpPr/>
              <p:nvPr/>
            </p:nvCxnSpPr>
            <p:spPr>
              <a:xfrm>
                <a:off x="6262400" y="25372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40" name="Google Shape;940;p48"/>
              <p:cNvCxnSpPr/>
              <p:nvPr/>
            </p:nvCxnSpPr>
            <p:spPr>
              <a:xfrm>
                <a:off x="7062500" y="25372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41" name="Google Shape;941;p48"/>
              <p:cNvCxnSpPr/>
              <p:nvPr/>
            </p:nvCxnSpPr>
            <p:spPr>
              <a:xfrm>
                <a:off x="7862600" y="2537275"/>
                <a:ext cx="4497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42" name="Google Shape;942;p48"/>
              <p:cNvCxnSpPr/>
              <p:nvPr/>
            </p:nvCxnSpPr>
            <p:spPr>
              <a:xfrm>
                <a:off x="6262400" y="23086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43" name="Google Shape;943;p48"/>
              <p:cNvCxnSpPr/>
              <p:nvPr/>
            </p:nvCxnSpPr>
            <p:spPr>
              <a:xfrm>
                <a:off x="7062500" y="23086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44" name="Google Shape;944;p48"/>
              <p:cNvCxnSpPr/>
              <p:nvPr/>
            </p:nvCxnSpPr>
            <p:spPr>
              <a:xfrm>
                <a:off x="6262400" y="20800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45" name="Google Shape;945;p48"/>
              <p:cNvCxnSpPr/>
              <p:nvPr/>
            </p:nvCxnSpPr>
            <p:spPr>
              <a:xfrm>
                <a:off x="7062500" y="20800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46" name="Google Shape;946;p48"/>
              <p:cNvCxnSpPr/>
              <p:nvPr/>
            </p:nvCxnSpPr>
            <p:spPr>
              <a:xfrm>
                <a:off x="6262400" y="18514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47" name="Google Shape;947;p48"/>
              <p:cNvCxnSpPr/>
              <p:nvPr/>
            </p:nvCxnSpPr>
            <p:spPr>
              <a:xfrm>
                <a:off x="7062500" y="1851475"/>
                <a:ext cx="4188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48" name="Google Shape;948;p48"/>
              <p:cNvCxnSpPr/>
              <p:nvPr/>
            </p:nvCxnSpPr>
            <p:spPr>
              <a:xfrm>
                <a:off x="7862600" y="2308675"/>
                <a:ext cx="2466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949" name="Google Shape;949;p48"/>
            <p:cNvSpPr txBox="1"/>
            <p:nvPr/>
          </p:nvSpPr>
          <p:spPr>
            <a:xfrm>
              <a:off x="167875" y="2844800"/>
              <a:ext cx="948300" cy="33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200">
                  <a:latin typeface="Courier New"/>
                  <a:ea typeface="Courier New"/>
                  <a:cs typeface="Courier New"/>
                  <a:sym typeface="Courier New"/>
                </a:rPr>
                <a:t>-f 1</a:t>
              </a:r>
              <a:endParaRPr sz="120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950" name="Google Shape;950;p48"/>
            <p:cNvSpPr/>
            <p:nvPr/>
          </p:nvSpPr>
          <p:spPr>
            <a:xfrm>
              <a:off x="167875" y="3208725"/>
              <a:ext cx="349800" cy="1228200"/>
            </a:xfrm>
            <a:prstGeom prst="rect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51" name="Google Shape;951;p48"/>
          <p:cNvGrpSpPr/>
          <p:nvPr/>
        </p:nvGrpSpPr>
        <p:grpSpPr>
          <a:xfrm>
            <a:off x="1414231" y="2844800"/>
            <a:ext cx="1136049" cy="1592125"/>
            <a:chOff x="1259753" y="2844800"/>
            <a:chExt cx="1136049" cy="1592125"/>
          </a:xfrm>
        </p:grpSpPr>
        <p:grpSp>
          <p:nvGrpSpPr>
            <p:cNvPr id="952" name="Google Shape;952;p48"/>
            <p:cNvGrpSpPr/>
            <p:nvPr/>
          </p:nvGrpSpPr>
          <p:grpSpPr>
            <a:xfrm>
              <a:off x="1259753" y="3252772"/>
              <a:ext cx="1136049" cy="1136049"/>
              <a:chOff x="5673200" y="1373350"/>
              <a:chExt cx="3430100" cy="3430100"/>
            </a:xfrm>
          </p:grpSpPr>
          <p:pic>
            <p:nvPicPr>
              <p:cNvPr id="953" name="Google Shape;953;p48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5673200" y="1373350"/>
                <a:ext cx="3430100" cy="3430100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954" name="Google Shape;954;p48"/>
              <p:cNvCxnSpPr/>
              <p:nvPr/>
            </p:nvCxnSpPr>
            <p:spPr>
              <a:xfrm>
                <a:off x="6262400" y="43660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55" name="Google Shape;955;p48"/>
              <p:cNvCxnSpPr/>
              <p:nvPr/>
            </p:nvCxnSpPr>
            <p:spPr>
              <a:xfrm>
                <a:off x="7062500" y="43660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56" name="Google Shape;956;p48"/>
              <p:cNvCxnSpPr/>
              <p:nvPr/>
            </p:nvCxnSpPr>
            <p:spPr>
              <a:xfrm>
                <a:off x="7862600" y="43660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57" name="Google Shape;957;p48"/>
              <p:cNvCxnSpPr/>
              <p:nvPr/>
            </p:nvCxnSpPr>
            <p:spPr>
              <a:xfrm>
                <a:off x="6262400" y="41374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58" name="Google Shape;958;p48"/>
              <p:cNvCxnSpPr/>
              <p:nvPr/>
            </p:nvCxnSpPr>
            <p:spPr>
              <a:xfrm>
                <a:off x="7062500" y="41374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59" name="Google Shape;959;p48"/>
              <p:cNvCxnSpPr/>
              <p:nvPr/>
            </p:nvCxnSpPr>
            <p:spPr>
              <a:xfrm>
                <a:off x="7862600" y="41374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60" name="Google Shape;960;p48"/>
              <p:cNvCxnSpPr/>
              <p:nvPr/>
            </p:nvCxnSpPr>
            <p:spPr>
              <a:xfrm>
                <a:off x="6262400" y="39088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61" name="Google Shape;961;p48"/>
              <p:cNvCxnSpPr/>
              <p:nvPr/>
            </p:nvCxnSpPr>
            <p:spPr>
              <a:xfrm>
                <a:off x="7062500" y="39088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62" name="Google Shape;962;p48"/>
              <p:cNvCxnSpPr/>
              <p:nvPr/>
            </p:nvCxnSpPr>
            <p:spPr>
              <a:xfrm>
                <a:off x="7862600" y="39088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63" name="Google Shape;963;p48"/>
              <p:cNvCxnSpPr/>
              <p:nvPr/>
            </p:nvCxnSpPr>
            <p:spPr>
              <a:xfrm>
                <a:off x="6262400" y="36802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64" name="Google Shape;964;p48"/>
              <p:cNvCxnSpPr/>
              <p:nvPr/>
            </p:nvCxnSpPr>
            <p:spPr>
              <a:xfrm>
                <a:off x="7062500" y="36802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65" name="Google Shape;965;p48"/>
              <p:cNvCxnSpPr/>
              <p:nvPr/>
            </p:nvCxnSpPr>
            <p:spPr>
              <a:xfrm>
                <a:off x="7862600" y="36802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66" name="Google Shape;966;p48"/>
              <p:cNvCxnSpPr/>
              <p:nvPr/>
            </p:nvCxnSpPr>
            <p:spPr>
              <a:xfrm>
                <a:off x="6262400" y="34516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67" name="Google Shape;967;p48"/>
              <p:cNvCxnSpPr/>
              <p:nvPr/>
            </p:nvCxnSpPr>
            <p:spPr>
              <a:xfrm>
                <a:off x="7062500" y="34516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68" name="Google Shape;968;p48"/>
              <p:cNvCxnSpPr/>
              <p:nvPr/>
            </p:nvCxnSpPr>
            <p:spPr>
              <a:xfrm>
                <a:off x="7862600" y="34516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69" name="Google Shape;969;p48"/>
              <p:cNvCxnSpPr/>
              <p:nvPr/>
            </p:nvCxnSpPr>
            <p:spPr>
              <a:xfrm>
                <a:off x="6262400" y="32230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70" name="Google Shape;970;p48"/>
              <p:cNvCxnSpPr/>
              <p:nvPr/>
            </p:nvCxnSpPr>
            <p:spPr>
              <a:xfrm>
                <a:off x="7062500" y="32230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71" name="Google Shape;971;p48"/>
              <p:cNvCxnSpPr/>
              <p:nvPr/>
            </p:nvCxnSpPr>
            <p:spPr>
              <a:xfrm>
                <a:off x="7862600" y="32230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72" name="Google Shape;972;p48"/>
              <p:cNvCxnSpPr/>
              <p:nvPr/>
            </p:nvCxnSpPr>
            <p:spPr>
              <a:xfrm>
                <a:off x="6262400" y="29944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73" name="Google Shape;973;p48"/>
              <p:cNvCxnSpPr/>
              <p:nvPr/>
            </p:nvCxnSpPr>
            <p:spPr>
              <a:xfrm>
                <a:off x="7062500" y="29944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74" name="Google Shape;974;p48"/>
              <p:cNvCxnSpPr/>
              <p:nvPr/>
            </p:nvCxnSpPr>
            <p:spPr>
              <a:xfrm>
                <a:off x="7862600" y="29944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75" name="Google Shape;975;p48"/>
              <p:cNvCxnSpPr/>
              <p:nvPr/>
            </p:nvCxnSpPr>
            <p:spPr>
              <a:xfrm>
                <a:off x="6262400" y="27658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76" name="Google Shape;976;p48"/>
              <p:cNvCxnSpPr/>
              <p:nvPr/>
            </p:nvCxnSpPr>
            <p:spPr>
              <a:xfrm>
                <a:off x="7062500" y="27658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77" name="Google Shape;977;p48"/>
              <p:cNvCxnSpPr/>
              <p:nvPr/>
            </p:nvCxnSpPr>
            <p:spPr>
              <a:xfrm>
                <a:off x="7862600" y="27658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78" name="Google Shape;978;p48"/>
              <p:cNvCxnSpPr/>
              <p:nvPr/>
            </p:nvCxnSpPr>
            <p:spPr>
              <a:xfrm>
                <a:off x="6262400" y="25372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79" name="Google Shape;979;p48"/>
              <p:cNvCxnSpPr/>
              <p:nvPr/>
            </p:nvCxnSpPr>
            <p:spPr>
              <a:xfrm>
                <a:off x="7062500" y="25372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80" name="Google Shape;980;p48"/>
              <p:cNvCxnSpPr/>
              <p:nvPr/>
            </p:nvCxnSpPr>
            <p:spPr>
              <a:xfrm>
                <a:off x="7862600" y="2537275"/>
                <a:ext cx="4497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81" name="Google Shape;981;p48"/>
              <p:cNvCxnSpPr/>
              <p:nvPr/>
            </p:nvCxnSpPr>
            <p:spPr>
              <a:xfrm>
                <a:off x="6262400" y="23086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82" name="Google Shape;982;p48"/>
              <p:cNvCxnSpPr/>
              <p:nvPr/>
            </p:nvCxnSpPr>
            <p:spPr>
              <a:xfrm>
                <a:off x="7062500" y="23086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83" name="Google Shape;983;p48"/>
              <p:cNvCxnSpPr/>
              <p:nvPr/>
            </p:nvCxnSpPr>
            <p:spPr>
              <a:xfrm>
                <a:off x="6262400" y="20800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84" name="Google Shape;984;p48"/>
              <p:cNvCxnSpPr/>
              <p:nvPr/>
            </p:nvCxnSpPr>
            <p:spPr>
              <a:xfrm>
                <a:off x="7062500" y="20800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85" name="Google Shape;985;p48"/>
              <p:cNvCxnSpPr/>
              <p:nvPr/>
            </p:nvCxnSpPr>
            <p:spPr>
              <a:xfrm>
                <a:off x="6262400" y="18514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86" name="Google Shape;986;p48"/>
              <p:cNvCxnSpPr/>
              <p:nvPr/>
            </p:nvCxnSpPr>
            <p:spPr>
              <a:xfrm>
                <a:off x="7062500" y="1851475"/>
                <a:ext cx="4188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87" name="Google Shape;987;p48"/>
              <p:cNvCxnSpPr/>
              <p:nvPr/>
            </p:nvCxnSpPr>
            <p:spPr>
              <a:xfrm>
                <a:off x="7862600" y="2308675"/>
                <a:ext cx="2466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988" name="Google Shape;988;p48"/>
            <p:cNvSpPr txBox="1"/>
            <p:nvPr/>
          </p:nvSpPr>
          <p:spPr>
            <a:xfrm>
              <a:off x="1310875" y="2844800"/>
              <a:ext cx="948300" cy="33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200">
                  <a:latin typeface="Courier New"/>
                  <a:ea typeface="Courier New"/>
                  <a:cs typeface="Courier New"/>
                  <a:sym typeface="Courier New"/>
                </a:rPr>
                <a:t>-f 1-3</a:t>
              </a:r>
              <a:endParaRPr sz="120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989" name="Google Shape;989;p48"/>
            <p:cNvSpPr/>
            <p:nvPr/>
          </p:nvSpPr>
          <p:spPr>
            <a:xfrm>
              <a:off x="1310875" y="3208725"/>
              <a:ext cx="1017600" cy="1228200"/>
            </a:xfrm>
            <a:prstGeom prst="rect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0" name="Google Shape;990;p48"/>
          <p:cNvGrpSpPr/>
          <p:nvPr/>
        </p:nvGrpSpPr>
        <p:grpSpPr>
          <a:xfrm>
            <a:off x="2711709" y="2844800"/>
            <a:ext cx="1136049" cy="1592125"/>
            <a:chOff x="2453878" y="2844800"/>
            <a:chExt cx="1136049" cy="1592125"/>
          </a:xfrm>
        </p:grpSpPr>
        <p:grpSp>
          <p:nvGrpSpPr>
            <p:cNvPr id="991" name="Google Shape;991;p48"/>
            <p:cNvGrpSpPr/>
            <p:nvPr/>
          </p:nvGrpSpPr>
          <p:grpSpPr>
            <a:xfrm>
              <a:off x="2453878" y="3252772"/>
              <a:ext cx="1136049" cy="1136049"/>
              <a:chOff x="5673200" y="1373350"/>
              <a:chExt cx="3430100" cy="3430100"/>
            </a:xfrm>
          </p:grpSpPr>
          <p:pic>
            <p:nvPicPr>
              <p:cNvPr id="992" name="Google Shape;992;p48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5673200" y="1373350"/>
                <a:ext cx="3430100" cy="3430100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993" name="Google Shape;993;p48"/>
              <p:cNvCxnSpPr/>
              <p:nvPr/>
            </p:nvCxnSpPr>
            <p:spPr>
              <a:xfrm>
                <a:off x="6262400" y="43660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94" name="Google Shape;994;p48"/>
              <p:cNvCxnSpPr/>
              <p:nvPr/>
            </p:nvCxnSpPr>
            <p:spPr>
              <a:xfrm>
                <a:off x="7062500" y="43660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95" name="Google Shape;995;p48"/>
              <p:cNvCxnSpPr/>
              <p:nvPr/>
            </p:nvCxnSpPr>
            <p:spPr>
              <a:xfrm>
                <a:off x="7862600" y="43660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96" name="Google Shape;996;p48"/>
              <p:cNvCxnSpPr/>
              <p:nvPr/>
            </p:nvCxnSpPr>
            <p:spPr>
              <a:xfrm>
                <a:off x="6262400" y="41374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97" name="Google Shape;997;p48"/>
              <p:cNvCxnSpPr/>
              <p:nvPr/>
            </p:nvCxnSpPr>
            <p:spPr>
              <a:xfrm>
                <a:off x="7062500" y="41374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98" name="Google Shape;998;p48"/>
              <p:cNvCxnSpPr/>
              <p:nvPr/>
            </p:nvCxnSpPr>
            <p:spPr>
              <a:xfrm>
                <a:off x="7862600" y="41374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99" name="Google Shape;999;p48"/>
              <p:cNvCxnSpPr/>
              <p:nvPr/>
            </p:nvCxnSpPr>
            <p:spPr>
              <a:xfrm>
                <a:off x="6262400" y="39088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0" name="Google Shape;1000;p48"/>
              <p:cNvCxnSpPr/>
              <p:nvPr/>
            </p:nvCxnSpPr>
            <p:spPr>
              <a:xfrm>
                <a:off x="7062500" y="39088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1" name="Google Shape;1001;p48"/>
              <p:cNvCxnSpPr/>
              <p:nvPr/>
            </p:nvCxnSpPr>
            <p:spPr>
              <a:xfrm>
                <a:off x="7862600" y="39088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2" name="Google Shape;1002;p48"/>
              <p:cNvCxnSpPr/>
              <p:nvPr/>
            </p:nvCxnSpPr>
            <p:spPr>
              <a:xfrm>
                <a:off x="6262400" y="36802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3" name="Google Shape;1003;p48"/>
              <p:cNvCxnSpPr/>
              <p:nvPr/>
            </p:nvCxnSpPr>
            <p:spPr>
              <a:xfrm>
                <a:off x="7062500" y="36802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4" name="Google Shape;1004;p48"/>
              <p:cNvCxnSpPr/>
              <p:nvPr/>
            </p:nvCxnSpPr>
            <p:spPr>
              <a:xfrm>
                <a:off x="7862600" y="36802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5" name="Google Shape;1005;p48"/>
              <p:cNvCxnSpPr/>
              <p:nvPr/>
            </p:nvCxnSpPr>
            <p:spPr>
              <a:xfrm>
                <a:off x="6262400" y="34516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6" name="Google Shape;1006;p48"/>
              <p:cNvCxnSpPr/>
              <p:nvPr/>
            </p:nvCxnSpPr>
            <p:spPr>
              <a:xfrm>
                <a:off x="7062500" y="34516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7" name="Google Shape;1007;p48"/>
              <p:cNvCxnSpPr/>
              <p:nvPr/>
            </p:nvCxnSpPr>
            <p:spPr>
              <a:xfrm>
                <a:off x="7862600" y="34516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8" name="Google Shape;1008;p48"/>
              <p:cNvCxnSpPr/>
              <p:nvPr/>
            </p:nvCxnSpPr>
            <p:spPr>
              <a:xfrm>
                <a:off x="6262400" y="32230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9" name="Google Shape;1009;p48"/>
              <p:cNvCxnSpPr/>
              <p:nvPr/>
            </p:nvCxnSpPr>
            <p:spPr>
              <a:xfrm>
                <a:off x="7062500" y="32230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0" name="Google Shape;1010;p48"/>
              <p:cNvCxnSpPr/>
              <p:nvPr/>
            </p:nvCxnSpPr>
            <p:spPr>
              <a:xfrm>
                <a:off x="7862600" y="32230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1" name="Google Shape;1011;p48"/>
              <p:cNvCxnSpPr/>
              <p:nvPr/>
            </p:nvCxnSpPr>
            <p:spPr>
              <a:xfrm>
                <a:off x="6262400" y="29944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2" name="Google Shape;1012;p48"/>
              <p:cNvCxnSpPr/>
              <p:nvPr/>
            </p:nvCxnSpPr>
            <p:spPr>
              <a:xfrm>
                <a:off x="7062500" y="29944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3" name="Google Shape;1013;p48"/>
              <p:cNvCxnSpPr/>
              <p:nvPr/>
            </p:nvCxnSpPr>
            <p:spPr>
              <a:xfrm>
                <a:off x="7862600" y="29944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4" name="Google Shape;1014;p48"/>
              <p:cNvCxnSpPr/>
              <p:nvPr/>
            </p:nvCxnSpPr>
            <p:spPr>
              <a:xfrm>
                <a:off x="6262400" y="27658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5" name="Google Shape;1015;p48"/>
              <p:cNvCxnSpPr/>
              <p:nvPr/>
            </p:nvCxnSpPr>
            <p:spPr>
              <a:xfrm>
                <a:off x="7062500" y="27658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6" name="Google Shape;1016;p48"/>
              <p:cNvCxnSpPr/>
              <p:nvPr/>
            </p:nvCxnSpPr>
            <p:spPr>
              <a:xfrm>
                <a:off x="7862600" y="27658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7" name="Google Shape;1017;p48"/>
              <p:cNvCxnSpPr/>
              <p:nvPr/>
            </p:nvCxnSpPr>
            <p:spPr>
              <a:xfrm>
                <a:off x="6262400" y="25372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8" name="Google Shape;1018;p48"/>
              <p:cNvCxnSpPr/>
              <p:nvPr/>
            </p:nvCxnSpPr>
            <p:spPr>
              <a:xfrm>
                <a:off x="7062500" y="25372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9" name="Google Shape;1019;p48"/>
              <p:cNvCxnSpPr/>
              <p:nvPr/>
            </p:nvCxnSpPr>
            <p:spPr>
              <a:xfrm>
                <a:off x="7862600" y="2537275"/>
                <a:ext cx="4497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0" name="Google Shape;1020;p48"/>
              <p:cNvCxnSpPr/>
              <p:nvPr/>
            </p:nvCxnSpPr>
            <p:spPr>
              <a:xfrm>
                <a:off x="6262400" y="23086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1" name="Google Shape;1021;p48"/>
              <p:cNvCxnSpPr/>
              <p:nvPr/>
            </p:nvCxnSpPr>
            <p:spPr>
              <a:xfrm>
                <a:off x="7062500" y="23086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2" name="Google Shape;1022;p48"/>
              <p:cNvCxnSpPr/>
              <p:nvPr/>
            </p:nvCxnSpPr>
            <p:spPr>
              <a:xfrm>
                <a:off x="6262400" y="20800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3" name="Google Shape;1023;p48"/>
              <p:cNvCxnSpPr/>
              <p:nvPr/>
            </p:nvCxnSpPr>
            <p:spPr>
              <a:xfrm>
                <a:off x="7062500" y="20800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4" name="Google Shape;1024;p48"/>
              <p:cNvCxnSpPr/>
              <p:nvPr/>
            </p:nvCxnSpPr>
            <p:spPr>
              <a:xfrm>
                <a:off x="6262400" y="18514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5" name="Google Shape;1025;p48"/>
              <p:cNvCxnSpPr/>
              <p:nvPr/>
            </p:nvCxnSpPr>
            <p:spPr>
              <a:xfrm>
                <a:off x="7062500" y="1851475"/>
                <a:ext cx="4188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6" name="Google Shape;1026;p48"/>
              <p:cNvCxnSpPr/>
              <p:nvPr/>
            </p:nvCxnSpPr>
            <p:spPr>
              <a:xfrm>
                <a:off x="7862600" y="2308675"/>
                <a:ext cx="2466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027" name="Google Shape;1027;p48"/>
            <p:cNvSpPr txBox="1"/>
            <p:nvPr/>
          </p:nvSpPr>
          <p:spPr>
            <a:xfrm>
              <a:off x="2505000" y="2844800"/>
              <a:ext cx="948300" cy="33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200">
                  <a:latin typeface="Courier New"/>
                  <a:ea typeface="Courier New"/>
                  <a:cs typeface="Courier New"/>
                  <a:sym typeface="Courier New"/>
                </a:rPr>
                <a:t>-f 1,3</a:t>
              </a:r>
              <a:endParaRPr sz="120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028" name="Google Shape;1028;p48"/>
            <p:cNvSpPr/>
            <p:nvPr/>
          </p:nvSpPr>
          <p:spPr>
            <a:xfrm>
              <a:off x="2505000" y="3208725"/>
              <a:ext cx="349800" cy="1228200"/>
            </a:xfrm>
            <a:prstGeom prst="rect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48"/>
            <p:cNvSpPr/>
            <p:nvPr/>
          </p:nvSpPr>
          <p:spPr>
            <a:xfrm>
              <a:off x="3135394" y="3208725"/>
              <a:ext cx="392400" cy="1228200"/>
            </a:xfrm>
            <a:prstGeom prst="rect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30" name="Google Shape;1030;p48"/>
          <p:cNvGrpSpPr/>
          <p:nvPr/>
        </p:nvGrpSpPr>
        <p:grpSpPr>
          <a:xfrm>
            <a:off x="4009187" y="2844800"/>
            <a:ext cx="1485576" cy="1592125"/>
            <a:chOff x="4009187" y="2844800"/>
            <a:chExt cx="1485576" cy="1592125"/>
          </a:xfrm>
        </p:grpSpPr>
        <p:grpSp>
          <p:nvGrpSpPr>
            <p:cNvPr id="1031" name="Google Shape;1031;p48"/>
            <p:cNvGrpSpPr/>
            <p:nvPr/>
          </p:nvGrpSpPr>
          <p:grpSpPr>
            <a:xfrm>
              <a:off x="4009187" y="3252772"/>
              <a:ext cx="1485576" cy="1136049"/>
              <a:chOff x="5673200" y="1373350"/>
              <a:chExt cx="3430100" cy="3430100"/>
            </a:xfrm>
          </p:grpSpPr>
          <p:pic>
            <p:nvPicPr>
              <p:cNvPr id="1032" name="Google Shape;1032;p48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5673200" y="1373350"/>
                <a:ext cx="3430100" cy="3430100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033" name="Google Shape;1033;p48"/>
              <p:cNvCxnSpPr/>
              <p:nvPr/>
            </p:nvCxnSpPr>
            <p:spPr>
              <a:xfrm>
                <a:off x="6262400" y="43660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34" name="Google Shape;1034;p48"/>
              <p:cNvCxnSpPr/>
              <p:nvPr/>
            </p:nvCxnSpPr>
            <p:spPr>
              <a:xfrm>
                <a:off x="7062500" y="43660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35" name="Google Shape;1035;p48"/>
              <p:cNvCxnSpPr/>
              <p:nvPr/>
            </p:nvCxnSpPr>
            <p:spPr>
              <a:xfrm>
                <a:off x="7862600" y="43660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36" name="Google Shape;1036;p48"/>
              <p:cNvCxnSpPr/>
              <p:nvPr/>
            </p:nvCxnSpPr>
            <p:spPr>
              <a:xfrm>
                <a:off x="6262400" y="41374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37" name="Google Shape;1037;p48"/>
              <p:cNvCxnSpPr/>
              <p:nvPr/>
            </p:nvCxnSpPr>
            <p:spPr>
              <a:xfrm>
                <a:off x="7062500" y="41374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38" name="Google Shape;1038;p48"/>
              <p:cNvCxnSpPr/>
              <p:nvPr/>
            </p:nvCxnSpPr>
            <p:spPr>
              <a:xfrm>
                <a:off x="7862600" y="41374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39" name="Google Shape;1039;p48"/>
              <p:cNvCxnSpPr/>
              <p:nvPr/>
            </p:nvCxnSpPr>
            <p:spPr>
              <a:xfrm>
                <a:off x="6262400" y="39088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40" name="Google Shape;1040;p48"/>
              <p:cNvCxnSpPr/>
              <p:nvPr/>
            </p:nvCxnSpPr>
            <p:spPr>
              <a:xfrm>
                <a:off x="7062500" y="39088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41" name="Google Shape;1041;p48"/>
              <p:cNvCxnSpPr/>
              <p:nvPr/>
            </p:nvCxnSpPr>
            <p:spPr>
              <a:xfrm>
                <a:off x="7862600" y="39088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42" name="Google Shape;1042;p48"/>
              <p:cNvCxnSpPr/>
              <p:nvPr/>
            </p:nvCxnSpPr>
            <p:spPr>
              <a:xfrm>
                <a:off x="6262400" y="36802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43" name="Google Shape;1043;p48"/>
              <p:cNvCxnSpPr/>
              <p:nvPr/>
            </p:nvCxnSpPr>
            <p:spPr>
              <a:xfrm>
                <a:off x="7062500" y="36802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44" name="Google Shape;1044;p48"/>
              <p:cNvCxnSpPr/>
              <p:nvPr/>
            </p:nvCxnSpPr>
            <p:spPr>
              <a:xfrm>
                <a:off x="7862600" y="36802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45" name="Google Shape;1045;p48"/>
              <p:cNvCxnSpPr/>
              <p:nvPr/>
            </p:nvCxnSpPr>
            <p:spPr>
              <a:xfrm>
                <a:off x="6262400" y="34516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46" name="Google Shape;1046;p48"/>
              <p:cNvCxnSpPr/>
              <p:nvPr/>
            </p:nvCxnSpPr>
            <p:spPr>
              <a:xfrm>
                <a:off x="7062500" y="34516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47" name="Google Shape;1047;p48"/>
              <p:cNvCxnSpPr/>
              <p:nvPr/>
            </p:nvCxnSpPr>
            <p:spPr>
              <a:xfrm>
                <a:off x="7862600" y="34516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48" name="Google Shape;1048;p48"/>
              <p:cNvCxnSpPr/>
              <p:nvPr/>
            </p:nvCxnSpPr>
            <p:spPr>
              <a:xfrm>
                <a:off x="6262400" y="32230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49" name="Google Shape;1049;p48"/>
              <p:cNvCxnSpPr/>
              <p:nvPr/>
            </p:nvCxnSpPr>
            <p:spPr>
              <a:xfrm>
                <a:off x="7062500" y="32230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50" name="Google Shape;1050;p48"/>
              <p:cNvCxnSpPr/>
              <p:nvPr/>
            </p:nvCxnSpPr>
            <p:spPr>
              <a:xfrm>
                <a:off x="7862600" y="32230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51" name="Google Shape;1051;p48"/>
              <p:cNvCxnSpPr/>
              <p:nvPr/>
            </p:nvCxnSpPr>
            <p:spPr>
              <a:xfrm>
                <a:off x="6262400" y="29944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52" name="Google Shape;1052;p48"/>
              <p:cNvCxnSpPr/>
              <p:nvPr/>
            </p:nvCxnSpPr>
            <p:spPr>
              <a:xfrm>
                <a:off x="7062500" y="29944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53" name="Google Shape;1053;p48"/>
              <p:cNvCxnSpPr/>
              <p:nvPr/>
            </p:nvCxnSpPr>
            <p:spPr>
              <a:xfrm>
                <a:off x="7862600" y="29944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54" name="Google Shape;1054;p48"/>
              <p:cNvCxnSpPr/>
              <p:nvPr/>
            </p:nvCxnSpPr>
            <p:spPr>
              <a:xfrm>
                <a:off x="6262400" y="27658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55" name="Google Shape;1055;p48"/>
              <p:cNvCxnSpPr/>
              <p:nvPr/>
            </p:nvCxnSpPr>
            <p:spPr>
              <a:xfrm>
                <a:off x="7062500" y="27658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56" name="Google Shape;1056;p48"/>
              <p:cNvCxnSpPr/>
              <p:nvPr/>
            </p:nvCxnSpPr>
            <p:spPr>
              <a:xfrm>
                <a:off x="7862600" y="27658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57" name="Google Shape;1057;p48"/>
              <p:cNvCxnSpPr/>
              <p:nvPr/>
            </p:nvCxnSpPr>
            <p:spPr>
              <a:xfrm>
                <a:off x="6262400" y="25372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58" name="Google Shape;1058;p48"/>
              <p:cNvCxnSpPr/>
              <p:nvPr/>
            </p:nvCxnSpPr>
            <p:spPr>
              <a:xfrm>
                <a:off x="7062500" y="25372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59" name="Google Shape;1059;p48"/>
              <p:cNvCxnSpPr/>
              <p:nvPr/>
            </p:nvCxnSpPr>
            <p:spPr>
              <a:xfrm>
                <a:off x="7862600" y="2537275"/>
                <a:ext cx="4497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60" name="Google Shape;1060;p48"/>
              <p:cNvCxnSpPr/>
              <p:nvPr/>
            </p:nvCxnSpPr>
            <p:spPr>
              <a:xfrm>
                <a:off x="6262400" y="23086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61" name="Google Shape;1061;p48"/>
              <p:cNvCxnSpPr/>
              <p:nvPr/>
            </p:nvCxnSpPr>
            <p:spPr>
              <a:xfrm>
                <a:off x="7062500" y="23086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62" name="Google Shape;1062;p48"/>
              <p:cNvCxnSpPr/>
              <p:nvPr/>
            </p:nvCxnSpPr>
            <p:spPr>
              <a:xfrm>
                <a:off x="6262400" y="20800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63" name="Google Shape;1063;p48"/>
              <p:cNvCxnSpPr/>
              <p:nvPr/>
            </p:nvCxnSpPr>
            <p:spPr>
              <a:xfrm>
                <a:off x="7062500" y="20800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64" name="Google Shape;1064;p48"/>
              <p:cNvCxnSpPr/>
              <p:nvPr/>
            </p:nvCxnSpPr>
            <p:spPr>
              <a:xfrm>
                <a:off x="6262400" y="1851475"/>
                <a:ext cx="554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65" name="Google Shape;1065;p48"/>
              <p:cNvCxnSpPr/>
              <p:nvPr/>
            </p:nvCxnSpPr>
            <p:spPr>
              <a:xfrm>
                <a:off x="7062500" y="1851475"/>
                <a:ext cx="4188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66" name="Google Shape;1066;p48"/>
              <p:cNvCxnSpPr/>
              <p:nvPr/>
            </p:nvCxnSpPr>
            <p:spPr>
              <a:xfrm>
                <a:off x="7862600" y="2308675"/>
                <a:ext cx="2466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067" name="Google Shape;1067;p48"/>
            <p:cNvSpPr txBox="1"/>
            <p:nvPr/>
          </p:nvSpPr>
          <p:spPr>
            <a:xfrm>
              <a:off x="4129275" y="2844800"/>
              <a:ext cx="1265100" cy="33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200">
                  <a:latin typeface="Courier New"/>
                  <a:ea typeface="Courier New"/>
                  <a:cs typeface="Courier New"/>
                  <a:sym typeface="Courier New"/>
                </a:rPr>
                <a:t>-f 2 -d’,’</a:t>
              </a:r>
              <a:endParaRPr sz="120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068" name="Google Shape;1068;p48"/>
            <p:cNvSpPr/>
            <p:nvPr/>
          </p:nvSpPr>
          <p:spPr>
            <a:xfrm>
              <a:off x="4622463" y="3208725"/>
              <a:ext cx="230700" cy="1228200"/>
            </a:xfrm>
            <a:prstGeom prst="rect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48"/>
            <p:cNvSpPr txBox="1"/>
            <p:nvPr/>
          </p:nvSpPr>
          <p:spPr>
            <a:xfrm>
              <a:off x="4428425" y="3294288"/>
              <a:ext cx="230700" cy="13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800"/>
                <a:t>,</a:t>
              </a:r>
              <a:endParaRPr sz="1800"/>
            </a:p>
          </p:txBody>
        </p:sp>
        <p:sp>
          <p:nvSpPr>
            <p:cNvPr id="1070" name="Google Shape;1070;p48"/>
            <p:cNvSpPr txBox="1"/>
            <p:nvPr/>
          </p:nvSpPr>
          <p:spPr>
            <a:xfrm>
              <a:off x="4428425" y="3446688"/>
              <a:ext cx="230700" cy="13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800"/>
                <a:t>,</a:t>
              </a:r>
              <a:endParaRPr sz="1800"/>
            </a:p>
          </p:txBody>
        </p:sp>
        <p:sp>
          <p:nvSpPr>
            <p:cNvPr id="1071" name="Google Shape;1071;p48"/>
            <p:cNvSpPr txBox="1"/>
            <p:nvPr/>
          </p:nvSpPr>
          <p:spPr>
            <a:xfrm>
              <a:off x="4428425" y="3599088"/>
              <a:ext cx="230700" cy="13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800"/>
                <a:t>,</a:t>
              </a:r>
              <a:endParaRPr sz="1800"/>
            </a:p>
          </p:txBody>
        </p:sp>
        <p:sp>
          <p:nvSpPr>
            <p:cNvPr id="1072" name="Google Shape;1072;p48"/>
            <p:cNvSpPr txBox="1"/>
            <p:nvPr/>
          </p:nvSpPr>
          <p:spPr>
            <a:xfrm>
              <a:off x="4428425" y="3751488"/>
              <a:ext cx="230700" cy="13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800"/>
                <a:t>,</a:t>
              </a:r>
              <a:endParaRPr sz="1800"/>
            </a:p>
          </p:txBody>
        </p:sp>
        <p:sp>
          <p:nvSpPr>
            <p:cNvPr id="1073" name="Google Shape;1073;p48"/>
            <p:cNvSpPr txBox="1"/>
            <p:nvPr/>
          </p:nvSpPr>
          <p:spPr>
            <a:xfrm>
              <a:off x="4428425" y="3903888"/>
              <a:ext cx="230700" cy="13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800"/>
                <a:t>,</a:t>
              </a:r>
              <a:endParaRPr sz="1800"/>
            </a:p>
          </p:txBody>
        </p:sp>
        <p:sp>
          <p:nvSpPr>
            <p:cNvPr id="1074" name="Google Shape;1074;p48"/>
            <p:cNvSpPr txBox="1"/>
            <p:nvPr/>
          </p:nvSpPr>
          <p:spPr>
            <a:xfrm>
              <a:off x="4428425" y="4056288"/>
              <a:ext cx="230700" cy="13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800"/>
                <a:t>,</a:t>
              </a:r>
              <a:endParaRPr sz="1800"/>
            </a:p>
          </p:txBody>
        </p:sp>
        <p:sp>
          <p:nvSpPr>
            <p:cNvPr id="1075" name="Google Shape;1075;p48"/>
            <p:cNvSpPr txBox="1"/>
            <p:nvPr/>
          </p:nvSpPr>
          <p:spPr>
            <a:xfrm>
              <a:off x="4781722" y="3446688"/>
              <a:ext cx="230700" cy="13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800"/>
                <a:t>,</a:t>
              </a:r>
              <a:endParaRPr sz="1800"/>
            </a:p>
          </p:txBody>
        </p:sp>
        <p:sp>
          <p:nvSpPr>
            <p:cNvPr id="1076" name="Google Shape;1076;p48"/>
            <p:cNvSpPr txBox="1"/>
            <p:nvPr/>
          </p:nvSpPr>
          <p:spPr>
            <a:xfrm>
              <a:off x="4781722" y="3599088"/>
              <a:ext cx="230700" cy="13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800"/>
                <a:t>,</a:t>
              </a:r>
              <a:endParaRPr sz="1800"/>
            </a:p>
          </p:txBody>
        </p:sp>
        <p:sp>
          <p:nvSpPr>
            <p:cNvPr id="1077" name="Google Shape;1077;p48"/>
            <p:cNvSpPr txBox="1"/>
            <p:nvPr/>
          </p:nvSpPr>
          <p:spPr>
            <a:xfrm>
              <a:off x="4781722" y="3751488"/>
              <a:ext cx="230700" cy="13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800"/>
                <a:t>,</a:t>
              </a:r>
              <a:endParaRPr sz="1800"/>
            </a:p>
          </p:txBody>
        </p:sp>
        <p:sp>
          <p:nvSpPr>
            <p:cNvPr id="1078" name="Google Shape;1078;p48"/>
            <p:cNvSpPr txBox="1"/>
            <p:nvPr/>
          </p:nvSpPr>
          <p:spPr>
            <a:xfrm>
              <a:off x="4781722" y="3903888"/>
              <a:ext cx="230700" cy="13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800"/>
                <a:t>,</a:t>
              </a:r>
              <a:endParaRPr sz="1800"/>
            </a:p>
          </p:txBody>
        </p:sp>
        <p:sp>
          <p:nvSpPr>
            <p:cNvPr id="1079" name="Google Shape;1079;p48"/>
            <p:cNvSpPr txBox="1"/>
            <p:nvPr/>
          </p:nvSpPr>
          <p:spPr>
            <a:xfrm>
              <a:off x="4781722" y="4056288"/>
              <a:ext cx="230700" cy="13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800"/>
                <a:t>,</a:t>
              </a:r>
              <a:endParaRPr sz="1800"/>
            </a:p>
          </p:txBody>
        </p:sp>
      </p:grpSp>
      <p:sp>
        <p:nvSpPr>
          <p:cNvPr id="1080" name="Google Shape;1080;p48"/>
          <p:cNvSpPr/>
          <p:nvPr/>
        </p:nvSpPr>
        <p:spPr>
          <a:xfrm>
            <a:off x="6927250" y="1260475"/>
            <a:ext cx="775800" cy="36753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1" name="Google Shape;1081;p48"/>
          <p:cNvSpPr txBox="1">
            <a:spLocks noGrp="1"/>
          </p:cNvSpPr>
          <p:nvPr>
            <p:ph type="sldNum" idx="12"/>
          </p:nvPr>
        </p:nvSpPr>
        <p:spPr>
          <a:xfrm>
            <a:off x="8625000" y="4939350"/>
            <a:ext cx="519000" cy="2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30</a:t>
            </a:fld>
            <a:endParaRPr/>
          </a:p>
        </p:txBody>
      </p:sp>
      <p:sp>
        <p:nvSpPr>
          <p:cNvPr id="1082" name="Google Shape;1082;p48"/>
          <p:cNvSpPr txBox="1">
            <a:spLocks noGrp="1"/>
          </p:cNvSpPr>
          <p:nvPr>
            <p:ph type="title"/>
          </p:nvPr>
        </p:nvSpPr>
        <p:spPr>
          <a:xfrm>
            <a:off x="0" y="-11925"/>
            <a:ext cx="9143700" cy="7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40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Manipulation</a:t>
            </a:r>
            <a:endParaRPr sz="4000" b="1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p49"/>
          <p:cNvSpPr/>
          <p:nvPr/>
        </p:nvSpPr>
        <p:spPr>
          <a:xfrm>
            <a:off x="0" y="665225"/>
            <a:ext cx="9143700" cy="41400"/>
          </a:xfrm>
          <a:prstGeom prst="rect">
            <a:avLst/>
          </a:prstGeom>
          <a:gradFill>
            <a:gsLst>
              <a:gs pos="0">
                <a:srgbClr val="CD0920"/>
              </a:gs>
              <a:gs pos="9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8" name="Google Shape;1088;p49"/>
          <p:cNvSpPr txBox="1"/>
          <p:nvPr/>
        </p:nvSpPr>
        <p:spPr>
          <a:xfrm>
            <a:off x="22175" y="666800"/>
            <a:ext cx="1662300" cy="7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000">
                <a:latin typeface="Courier New"/>
                <a:ea typeface="Courier New"/>
                <a:cs typeface="Courier New"/>
                <a:sym typeface="Courier New"/>
              </a:rPr>
              <a:t>sort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89" name="Google Shape;1089;p49"/>
          <p:cNvSpPr txBox="1"/>
          <p:nvPr/>
        </p:nvSpPr>
        <p:spPr>
          <a:xfrm>
            <a:off x="1684475" y="818300"/>
            <a:ext cx="29619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/>
              <a:t>Trie le document</a:t>
            </a:r>
            <a:endParaRPr sz="1800"/>
          </a:p>
        </p:txBody>
      </p:sp>
      <p:graphicFrame>
        <p:nvGraphicFramePr>
          <p:cNvPr id="1090" name="Google Shape;1090;p49"/>
          <p:cNvGraphicFramePr/>
          <p:nvPr/>
        </p:nvGraphicFramePr>
        <p:xfrm>
          <a:off x="4187700" y="3310744"/>
          <a:ext cx="4539875" cy="1584840"/>
        </p:xfrm>
        <a:graphic>
          <a:graphicData uri="http://schemas.openxmlformats.org/drawingml/2006/table">
            <a:tbl>
              <a:tblPr>
                <a:noFill/>
                <a:tableStyleId>{C986AE7D-AF4A-4FAC-BD20-953C9C73A9C3}</a:tableStyleId>
              </a:tblPr>
              <a:tblGrid>
                <a:gridCol w="97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0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b="1">
                          <a:solidFill>
                            <a:srgbClr val="C00000"/>
                          </a:solidFill>
                        </a:rPr>
                        <a:t>Option(s)</a:t>
                      </a:r>
                      <a:endParaRPr b="1">
                        <a:solidFill>
                          <a:srgbClr val="C00000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b="1">
                          <a:solidFill>
                            <a:srgbClr val="C00000"/>
                          </a:solidFill>
                        </a:rPr>
                        <a:t>Description</a:t>
                      </a:r>
                      <a:endParaRPr b="1">
                        <a:solidFill>
                          <a:srgbClr val="C00000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-k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>
                          <a:solidFill>
                            <a:schemeClr val="dk1"/>
                          </a:solidFill>
                        </a:rPr>
                        <a:t>Sélectionner la colonne à utiliser pour le tri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-n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/>
                        <a:t>Tri numérique</a:t>
                      </a:r>
                      <a:endParaRPr sz="12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-r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/>
                        <a:t>Tri en ordre décroissant</a:t>
                      </a:r>
                      <a:endParaRPr sz="12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91" name="Google Shape;1091;p49"/>
          <p:cNvSpPr txBox="1"/>
          <p:nvPr/>
        </p:nvSpPr>
        <p:spPr>
          <a:xfrm>
            <a:off x="320275" y="4610675"/>
            <a:ext cx="3688800" cy="284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sort -k3 -n ./mon_fichier.txt</a:t>
            </a:r>
            <a:endParaRPr b="1">
              <a:solidFill>
                <a:srgbClr val="00FF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092" name="Google Shape;1092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603" y="1638575"/>
            <a:ext cx="2669400" cy="2669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93" name="Google Shape;1093;p49"/>
          <p:cNvCxnSpPr/>
          <p:nvPr/>
        </p:nvCxnSpPr>
        <p:spPr>
          <a:xfrm>
            <a:off x="1791698" y="3964220"/>
            <a:ext cx="12180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94" name="Google Shape;1094;p49"/>
          <p:cNvSpPr txBox="1"/>
          <p:nvPr/>
        </p:nvSpPr>
        <p:spPr>
          <a:xfrm>
            <a:off x="1395737" y="3797347"/>
            <a:ext cx="288300" cy="2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</a:t>
            </a:r>
            <a:endParaRPr/>
          </a:p>
        </p:txBody>
      </p:sp>
      <p:cxnSp>
        <p:nvCxnSpPr>
          <p:cNvPr id="1095" name="Google Shape;1095;p49"/>
          <p:cNvCxnSpPr/>
          <p:nvPr/>
        </p:nvCxnSpPr>
        <p:spPr>
          <a:xfrm>
            <a:off x="1791698" y="3689663"/>
            <a:ext cx="12180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96" name="Google Shape;1096;p49"/>
          <p:cNvSpPr txBox="1"/>
          <p:nvPr/>
        </p:nvSpPr>
        <p:spPr>
          <a:xfrm>
            <a:off x="1395737" y="3522790"/>
            <a:ext cx="288300" cy="2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e</a:t>
            </a:r>
            <a:endParaRPr/>
          </a:p>
        </p:txBody>
      </p:sp>
      <p:cxnSp>
        <p:nvCxnSpPr>
          <p:cNvPr id="1097" name="Google Shape;1097;p49"/>
          <p:cNvCxnSpPr/>
          <p:nvPr/>
        </p:nvCxnSpPr>
        <p:spPr>
          <a:xfrm>
            <a:off x="1791698" y="3415105"/>
            <a:ext cx="12180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98" name="Google Shape;1098;p49"/>
          <p:cNvSpPr txBox="1"/>
          <p:nvPr/>
        </p:nvSpPr>
        <p:spPr>
          <a:xfrm>
            <a:off x="1395737" y="3248232"/>
            <a:ext cx="288300" cy="2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</a:t>
            </a:r>
            <a:endParaRPr/>
          </a:p>
        </p:txBody>
      </p:sp>
      <p:cxnSp>
        <p:nvCxnSpPr>
          <p:cNvPr id="1099" name="Google Shape;1099;p49"/>
          <p:cNvCxnSpPr/>
          <p:nvPr/>
        </p:nvCxnSpPr>
        <p:spPr>
          <a:xfrm>
            <a:off x="1791698" y="3140548"/>
            <a:ext cx="12180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00" name="Google Shape;1100;p49"/>
          <p:cNvSpPr txBox="1"/>
          <p:nvPr/>
        </p:nvSpPr>
        <p:spPr>
          <a:xfrm>
            <a:off x="1395737" y="2973675"/>
            <a:ext cx="288300" cy="2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</a:t>
            </a:r>
            <a:endParaRPr/>
          </a:p>
        </p:txBody>
      </p:sp>
      <p:cxnSp>
        <p:nvCxnSpPr>
          <p:cNvPr id="1101" name="Google Shape;1101;p49"/>
          <p:cNvCxnSpPr/>
          <p:nvPr/>
        </p:nvCxnSpPr>
        <p:spPr>
          <a:xfrm>
            <a:off x="1791698" y="2865990"/>
            <a:ext cx="12180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02" name="Google Shape;1102;p49"/>
          <p:cNvSpPr txBox="1"/>
          <p:nvPr/>
        </p:nvSpPr>
        <p:spPr>
          <a:xfrm>
            <a:off x="1395737" y="2699117"/>
            <a:ext cx="288300" cy="2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b</a:t>
            </a:r>
            <a:endParaRPr/>
          </a:p>
        </p:txBody>
      </p:sp>
      <p:pic>
        <p:nvPicPr>
          <p:cNvPr id="1103" name="Google Shape;1103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10250" y="966687"/>
            <a:ext cx="2222575" cy="22225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04" name="Google Shape;1104;p49"/>
          <p:cNvCxnSpPr/>
          <p:nvPr/>
        </p:nvCxnSpPr>
        <p:spPr>
          <a:xfrm>
            <a:off x="7547857" y="2839603"/>
            <a:ext cx="10140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05" name="Google Shape;1105;p49"/>
          <p:cNvSpPr txBox="1"/>
          <p:nvPr/>
        </p:nvSpPr>
        <p:spPr>
          <a:xfrm>
            <a:off x="7218175" y="2700663"/>
            <a:ext cx="2400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e</a:t>
            </a:r>
            <a:endParaRPr/>
          </a:p>
        </p:txBody>
      </p:sp>
      <p:cxnSp>
        <p:nvCxnSpPr>
          <p:cNvPr id="1106" name="Google Shape;1106;p49"/>
          <p:cNvCxnSpPr/>
          <p:nvPr/>
        </p:nvCxnSpPr>
        <p:spPr>
          <a:xfrm>
            <a:off x="7547857" y="2611003"/>
            <a:ext cx="10140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07" name="Google Shape;1107;p49"/>
          <p:cNvSpPr txBox="1"/>
          <p:nvPr/>
        </p:nvSpPr>
        <p:spPr>
          <a:xfrm>
            <a:off x="7218175" y="2472063"/>
            <a:ext cx="2400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</a:t>
            </a:r>
            <a:endParaRPr/>
          </a:p>
        </p:txBody>
      </p:sp>
      <p:cxnSp>
        <p:nvCxnSpPr>
          <p:cNvPr id="1108" name="Google Shape;1108;p49"/>
          <p:cNvCxnSpPr/>
          <p:nvPr/>
        </p:nvCxnSpPr>
        <p:spPr>
          <a:xfrm>
            <a:off x="7547857" y="2382403"/>
            <a:ext cx="10140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09" name="Google Shape;1109;p49"/>
          <p:cNvSpPr txBox="1"/>
          <p:nvPr/>
        </p:nvSpPr>
        <p:spPr>
          <a:xfrm>
            <a:off x="7218175" y="2243463"/>
            <a:ext cx="2400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</a:t>
            </a:r>
            <a:endParaRPr/>
          </a:p>
        </p:txBody>
      </p:sp>
      <p:cxnSp>
        <p:nvCxnSpPr>
          <p:cNvPr id="1110" name="Google Shape;1110;p49"/>
          <p:cNvCxnSpPr/>
          <p:nvPr/>
        </p:nvCxnSpPr>
        <p:spPr>
          <a:xfrm>
            <a:off x="7547857" y="2153803"/>
            <a:ext cx="10140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11" name="Google Shape;1111;p49"/>
          <p:cNvSpPr txBox="1"/>
          <p:nvPr/>
        </p:nvSpPr>
        <p:spPr>
          <a:xfrm>
            <a:off x="7218175" y="2014863"/>
            <a:ext cx="2400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b</a:t>
            </a:r>
            <a:endParaRPr/>
          </a:p>
        </p:txBody>
      </p:sp>
      <p:cxnSp>
        <p:nvCxnSpPr>
          <p:cNvPr id="1112" name="Google Shape;1112;p49"/>
          <p:cNvCxnSpPr/>
          <p:nvPr/>
        </p:nvCxnSpPr>
        <p:spPr>
          <a:xfrm>
            <a:off x="7547857" y="1925203"/>
            <a:ext cx="10140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13" name="Google Shape;1113;p49"/>
          <p:cNvSpPr txBox="1"/>
          <p:nvPr/>
        </p:nvSpPr>
        <p:spPr>
          <a:xfrm>
            <a:off x="7218175" y="1786263"/>
            <a:ext cx="2400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</a:t>
            </a:r>
            <a:endParaRPr/>
          </a:p>
        </p:txBody>
      </p:sp>
      <p:sp>
        <p:nvSpPr>
          <p:cNvPr id="1114" name="Google Shape;1114;p49"/>
          <p:cNvSpPr txBox="1">
            <a:spLocks noGrp="1"/>
          </p:cNvSpPr>
          <p:nvPr>
            <p:ph type="sldNum" idx="12"/>
          </p:nvPr>
        </p:nvSpPr>
        <p:spPr>
          <a:xfrm>
            <a:off x="8625000" y="4939350"/>
            <a:ext cx="519000" cy="2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31</a:t>
            </a:fld>
            <a:endParaRPr/>
          </a:p>
        </p:txBody>
      </p:sp>
      <p:sp>
        <p:nvSpPr>
          <p:cNvPr id="1115" name="Google Shape;1115;p49"/>
          <p:cNvSpPr txBox="1">
            <a:spLocks noGrp="1"/>
          </p:cNvSpPr>
          <p:nvPr>
            <p:ph type="title"/>
          </p:nvPr>
        </p:nvSpPr>
        <p:spPr>
          <a:xfrm>
            <a:off x="0" y="-11925"/>
            <a:ext cx="9143700" cy="7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40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Manipulation</a:t>
            </a:r>
            <a:endParaRPr sz="4000" b="1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p50"/>
          <p:cNvSpPr/>
          <p:nvPr/>
        </p:nvSpPr>
        <p:spPr>
          <a:xfrm>
            <a:off x="0" y="665225"/>
            <a:ext cx="9143700" cy="41400"/>
          </a:xfrm>
          <a:prstGeom prst="rect">
            <a:avLst/>
          </a:prstGeom>
          <a:gradFill>
            <a:gsLst>
              <a:gs pos="0">
                <a:srgbClr val="CD0920"/>
              </a:gs>
              <a:gs pos="9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1" name="Google Shape;1121;p50"/>
          <p:cNvSpPr txBox="1"/>
          <p:nvPr/>
        </p:nvSpPr>
        <p:spPr>
          <a:xfrm>
            <a:off x="22175" y="666800"/>
            <a:ext cx="1662300" cy="7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000">
                <a:latin typeface="Courier New"/>
                <a:ea typeface="Courier New"/>
                <a:cs typeface="Courier New"/>
                <a:sym typeface="Courier New"/>
              </a:rPr>
              <a:t>wc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22" name="Google Shape;1122;p50"/>
          <p:cNvSpPr txBox="1"/>
          <p:nvPr/>
        </p:nvSpPr>
        <p:spPr>
          <a:xfrm>
            <a:off x="1684475" y="818300"/>
            <a:ext cx="48696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/>
              <a:t>Compte le nombre de lignes, de mots</a:t>
            </a:r>
            <a:endParaRPr sz="1800"/>
          </a:p>
        </p:txBody>
      </p:sp>
      <p:sp>
        <p:nvSpPr>
          <p:cNvPr id="1123" name="Google Shape;1123;p50"/>
          <p:cNvSpPr txBox="1">
            <a:spLocks noGrp="1"/>
          </p:cNvSpPr>
          <p:nvPr>
            <p:ph type="sldNum" idx="12"/>
          </p:nvPr>
        </p:nvSpPr>
        <p:spPr>
          <a:xfrm>
            <a:off x="8625000" y="4939350"/>
            <a:ext cx="519000" cy="2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32</a:t>
            </a:fld>
            <a:endParaRPr/>
          </a:p>
        </p:txBody>
      </p:sp>
      <p:sp>
        <p:nvSpPr>
          <p:cNvPr id="1124" name="Google Shape;1124;p50"/>
          <p:cNvSpPr txBox="1">
            <a:spLocks noGrp="1"/>
          </p:cNvSpPr>
          <p:nvPr>
            <p:ph type="title"/>
          </p:nvPr>
        </p:nvSpPr>
        <p:spPr>
          <a:xfrm>
            <a:off x="0" y="-11925"/>
            <a:ext cx="9143700" cy="7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40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Manipulation</a:t>
            </a:r>
            <a:endParaRPr sz="4000" b="1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25" name="Google Shape;1125;p50"/>
          <p:cNvGraphicFramePr/>
          <p:nvPr/>
        </p:nvGraphicFramePr>
        <p:xfrm>
          <a:off x="149100" y="1615875"/>
          <a:ext cx="5355575" cy="792420"/>
        </p:xfrm>
        <a:graphic>
          <a:graphicData uri="http://schemas.openxmlformats.org/drawingml/2006/table">
            <a:tbl>
              <a:tblPr>
                <a:noFill/>
                <a:tableStyleId>{C986AE7D-AF4A-4FAC-BD20-953C9C73A9C3}</a:tableStyleId>
              </a:tblPr>
              <a:tblGrid>
                <a:gridCol w="1020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35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b="1">
                          <a:solidFill>
                            <a:srgbClr val="C00000"/>
                          </a:solidFill>
                        </a:rPr>
                        <a:t>Option(s)</a:t>
                      </a:r>
                      <a:endParaRPr b="1">
                        <a:solidFill>
                          <a:srgbClr val="C00000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b="1">
                          <a:solidFill>
                            <a:srgbClr val="C00000"/>
                          </a:solidFill>
                        </a:rPr>
                        <a:t>Description</a:t>
                      </a:r>
                      <a:endParaRPr b="1">
                        <a:solidFill>
                          <a:srgbClr val="C00000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-l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>
                          <a:solidFill>
                            <a:schemeClr val="dk1"/>
                          </a:solidFill>
                        </a:rPr>
                        <a:t>nombre de ligne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26" name="Google Shape;1126;p50"/>
          <p:cNvSpPr txBox="1"/>
          <p:nvPr/>
        </p:nvSpPr>
        <p:spPr>
          <a:xfrm>
            <a:off x="320275" y="4610675"/>
            <a:ext cx="3688800" cy="284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wc -l fichier.txt</a:t>
            </a:r>
            <a:endParaRPr b="1">
              <a:solidFill>
                <a:srgbClr val="00FF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p51"/>
          <p:cNvSpPr/>
          <p:nvPr/>
        </p:nvSpPr>
        <p:spPr>
          <a:xfrm>
            <a:off x="0" y="665225"/>
            <a:ext cx="9143700" cy="41400"/>
          </a:xfrm>
          <a:prstGeom prst="rect">
            <a:avLst/>
          </a:prstGeom>
          <a:gradFill>
            <a:gsLst>
              <a:gs pos="0">
                <a:srgbClr val="CD0920"/>
              </a:gs>
              <a:gs pos="9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2" name="Google Shape;1132;p51"/>
          <p:cNvSpPr txBox="1"/>
          <p:nvPr/>
        </p:nvSpPr>
        <p:spPr>
          <a:xfrm>
            <a:off x="22175" y="666800"/>
            <a:ext cx="1662300" cy="7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000">
                <a:latin typeface="Courier New"/>
                <a:ea typeface="Courier New"/>
                <a:cs typeface="Courier New"/>
                <a:sym typeface="Courier New"/>
              </a:rPr>
              <a:t>sed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33" name="Google Shape;1133;p51"/>
          <p:cNvSpPr txBox="1"/>
          <p:nvPr/>
        </p:nvSpPr>
        <p:spPr>
          <a:xfrm>
            <a:off x="1684475" y="818300"/>
            <a:ext cx="29619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/>
              <a:t>Edite le document</a:t>
            </a:r>
            <a:endParaRPr sz="1800"/>
          </a:p>
        </p:txBody>
      </p:sp>
      <p:grpSp>
        <p:nvGrpSpPr>
          <p:cNvPr id="1134" name="Google Shape;1134;p51"/>
          <p:cNvGrpSpPr/>
          <p:nvPr/>
        </p:nvGrpSpPr>
        <p:grpSpPr>
          <a:xfrm>
            <a:off x="219968" y="1790921"/>
            <a:ext cx="2381372" cy="2381372"/>
            <a:chOff x="829603" y="1409975"/>
            <a:chExt cx="2669400" cy="2669400"/>
          </a:xfrm>
        </p:grpSpPr>
        <p:pic>
          <p:nvPicPr>
            <p:cNvPr id="1135" name="Google Shape;1135;p5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29603" y="1409975"/>
              <a:ext cx="2669400" cy="26694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136" name="Google Shape;1136;p51"/>
            <p:cNvCxnSpPr/>
            <p:nvPr/>
          </p:nvCxnSpPr>
          <p:spPr>
            <a:xfrm rot="10800000" flipH="1">
              <a:off x="1405150" y="3735725"/>
              <a:ext cx="1604400" cy="18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37" name="Google Shape;1137;p51"/>
            <p:cNvCxnSpPr/>
            <p:nvPr/>
          </p:nvCxnSpPr>
          <p:spPr>
            <a:xfrm rot="10800000" flipH="1">
              <a:off x="1405150" y="3430925"/>
              <a:ext cx="1604400" cy="18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38" name="Google Shape;1138;p51"/>
            <p:cNvCxnSpPr/>
            <p:nvPr/>
          </p:nvCxnSpPr>
          <p:spPr>
            <a:xfrm rot="10800000" flipH="1">
              <a:off x="1405150" y="3126125"/>
              <a:ext cx="1604400" cy="18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39" name="Google Shape;1139;p51"/>
            <p:cNvCxnSpPr/>
            <p:nvPr/>
          </p:nvCxnSpPr>
          <p:spPr>
            <a:xfrm rot="10800000" flipH="1">
              <a:off x="1405150" y="2821325"/>
              <a:ext cx="1604400" cy="18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40" name="Google Shape;1140;p51"/>
            <p:cNvCxnSpPr/>
            <p:nvPr/>
          </p:nvCxnSpPr>
          <p:spPr>
            <a:xfrm rot="10800000" flipH="1">
              <a:off x="1405150" y="2516525"/>
              <a:ext cx="1604400" cy="18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41" name="Google Shape;1141;p51"/>
            <p:cNvSpPr txBox="1"/>
            <p:nvPr/>
          </p:nvSpPr>
          <p:spPr>
            <a:xfrm>
              <a:off x="1756077" y="2327142"/>
              <a:ext cx="976500" cy="16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b="1"/>
                <a:t>voiture</a:t>
              </a:r>
              <a:endParaRPr b="1"/>
            </a:p>
          </p:txBody>
        </p:sp>
        <p:sp>
          <p:nvSpPr>
            <p:cNvPr id="1142" name="Google Shape;1142;p51"/>
            <p:cNvSpPr txBox="1"/>
            <p:nvPr/>
          </p:nvSpPr>
          <p:spPr>
            <a:xfrm>
              <a:off x="1365841" y="2641187"/>
              <a:ext cx="849600" cy="16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/>
                <a:t>bateau</a:t>
              </a:r>
              <a:endParaRPr/>
            </a:p>
          </p:txBody>
        </p:sp>
        <p:sp>
          <p:nvSpPr>
            <p:cNvPr id="1143" name="Google Shape;1143;p51"/>
            <p:cNvSpPr txBox="1"/>
            <p:nvPr/>
          </p:nvSpPr>
          <p:spPr>
            <a:xfrm>
              <a:off x="2090766" y="2945994"/>
              <a:ext cx="849600" cy="16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/>
                <a:t>camion</a:t>
              </a:r>
              <a:endParaRPr/>
            </a:p>
          </p:txBody>
        </p:sp>
        <p:sp>
          <p:nvSpPr>
            <p:cNvPr id="1144" name="Google Shape;1144;p51"/>
            <p:cNvSpPr txBox="1"/>
            <p:nvPr/>
          </p:nvSpPr>
          <p:spPr>
            <a:xfrm>
              <a:off x="1252575" y="3250805"/>
              <a:ext cx="976500" cy="16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b="1"/>
                <a:t>voiture</a:t>
              </a:r>
              <a:endParaRPr b="1"/>
            </a:p>
          </p:txBody>
        </p:sp>
        <p:sp>
          <p:nvSpPr>
            <p:cNvPr id="1145" name="Google Shape;1145;p51"/>
            <p:cNvSpPr txBox="1"/>
            <p:nvPr/>
          </p:nvSpPr>
          <p:spPr>
            <a:xfrm>
              <a:off x="2166960" y="3250805"/>
              <a:ext cx="927900" cy="16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b="1"/>
                <a:t>voiture</a:t>
              </a:r>
              <a:endParaRPr b="1"/>
            </a:p>
          </p:txBody>
        </p:sp>
      </p:grpSp>
      <p:grpSp>
        <p:nvGrpSpPr>
          <p:cNvPr id="1146" name="Google Shape;1146;p51"/>
          <p:cNvGrpSpPr/>
          <p:nvPr/>
        </p:nvGrpSpPr>
        <p:grpSpPr>
          <a:xfrm>
            <a:off x="3381314" y="2171921"/>
            <a:ext cx="2381372" cy="2381372"/>
            <a:chOff x="5020603" y="1409975"/>
            <a:chExt cx="2669400" cy="2669400"/>
          </a:xfrm>
        </p:grpSpPr>
        <p:pic>
          <p:nvPicPr>
            <p:cNvPr id="1147" name="Google Shape;1147;p5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020603" y="1409975"/>
              <a:ext cx="2669400" cy="26694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148" name="Google Shape;1148;p51"/>
            <p:cNvCxnSpPr/>
            <p:nvPr/>
          </p:nvCxnSpPr>
          <p:spPr>
            <a:xfrm rot="10800000" flipH="1">
              <a:off x="5596150" y="3735725"/>
              <a:ext cx="1604400" cy="18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49" name="Google Shape;1149;p51"/>
            <p:cNvCxnSpPr/>
            <p:nvPr/>
          </p:nvCxnSpPr>
          <p:spPr>
            <a:xfrm rot="10800000" flipH="1">
              <a:off x="5596150" y="3430925"/>
              <a:ext cx="1604400" cy="18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50" name="Google Shape;1150;p51"/>
            <p:cNvCxnSpPr/>
            <p:nvPr/>
          </p:nvCxnSpPr>
          <p:spPr>
            <a:xfrm rot="10800000" flipH="1">
              <a:off x="5596150" y="3126125"/>
              <a:ext cx="1604400" cy="18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51" name="Google Shape;1151;p51"/>
            <p:cNvCxnSpPr/>
            <p:nvPr/>
          </p:nvCxnSpPr>
          <p:spPr>
            <a:xfrm rot="10800000" flipH="1">
              <a:off x="5596150" y="2821325"/>
              <a:ext cx="1604400" cy="18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52" name="Google Shape;1152;p51"/>
            <p:cNvCxnSpPr/>
            <p:nvPr/>
          </p:nvCxnSpPr>
          <p:spPr>
            <a:xfrm rot="10800000" flipH="1">
              <a:off x="5596150" y="2516525"/>
              <a:ext cx="1604400" cy="18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53" name="Google Shape;1153;p51"/>
            <p:cNvSpPr txBox="1"/>
            <p:nvPr/>
          </p:nvSpPr>
          <p:spPr>
            <a:xfrm>
              <a:off x="5947075" y="2327153"/>
              <a:ext cx="849600" cy="16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b="1">
                  <a:solidFill>
                    <a:srgbClr val="C00000"/>
                  </a:solidFill>
                </a:rPr>
                <a:t>avion</a:t>
              </a:r>
              <a:endParaRPr b="1">
                <a:solidFill>
                  <a:srgbClr val="C00000"/>
                </a:solidFill>
              </a:endParaRPr>
            </a:p>
          </p:txBody>
        </p:sp>
        <p:sp>
          <p:nvSpPr>
            <p:cNvPr id="1154" name="Google Shape;1154;p51"/>
            <p:cNvSpPr txBox="1"/>
            <p:nvPr/>
          </p:nvSpPr>
          <p:spPr>
            <a:xfrm>
              <a:off x="5556841" y="2641187"/>
              <a:ext cx="849600" cy="16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/>
                <a:t>bateau</a:t>
              </a:r>
              <a:endParaRPr/>
            </a:p>
          </p:txBody>
        </p:sp>
        <p:sp>
          <p:nvSpPr>
            <p:cNvPr id="1155" name="Google Shape;1155;p51"/>
            <p:cNvSpPr txBox="1"/>
            <p:nvPr/>
          </p:nvSpPr>
          <p:spPr>
            <a:xfrm>
              <a:off x="6281766" y="2945994"/>
              <a:ext cx="849600" cy="16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/>
                <a:t>camion</a:t>
              </a:r>
              <a:endParaRPr/>
            </a:p>
          </p:txBody>
        </p:sp>
        <p:sp>
          <p:nvSpPr>
            <p:cNvPr id="1156" name="Google Shape;1156;p51"/>
            <p:cNvSpPr txBox="1"/>
            <p:nvPr/>
          </p:nvSpPr>
          <p:spPr>
            <a:xfrm>
              <a:off x="5443564" y="3250805"/>
              <a:ext cx="924900" cy="16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b="1">
                  <a:solidFill>
                    <a:srgbClr val="C00000"/>
                  </a:solidFill>
                </a:rPr>
                <a:t>avion</a:t>
              </a:r>
              <a:endParaRPr b="1">
                <a:solidFill>
                  <a:srgbClr val="C00000"/>
                </a:solidFill>
              </a:endParaRPr>
            </a:p>
          </p:txBody>
        </p:sp>
        <p:sp>
          <p:nvSpPr>
            <p:cNvPr id="1157" name="Google Shape;1157;p51"/>
            <p:cNvSpPr txBox="1"/>
            <p:nvPr/>
          </p:nvSpPr>
          <p:spPr>
            <a:xfrm>
              <a:off x="6357981" y="3250805"/>
              <a:ext cx="924900" cy="16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b="1"/>
                <a:t>voiture</a:t>
              </a:r>
              <a:endParaRPr b="1"/>
            </a:p>
          </p:txBody>
        </p:sp>
      </p:grpSp>
      <p:sp>
        <p:nvSpPr>
          <p:cNvPr id="1158" name="Google Shape;1158;p51"/>
          <p:cNvSpPr txBox="1"/>
          <p:nvPr/>
        </p:nvSpPr>
        <p:spPr>
          <a:xfrm>
            <a:off x="2875200" y="4758500"/>
            <a:ext cx="3393600" cy="284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sed 's/voiture/avion/' fichier</a:t>
            </a:r>
            <a:endParaRPr b="1">
              <a:solidFill>
                <a:srgbClr val="00FF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1159" name="Google Shape;1159;p51"/>
          <p:cNvGrpSpPr/>
          <p:nvPr/>
        </p:nvGrpSpPr>
        <p:grpSpPr>
          <a:xfrm>
            <a:off x="6703951" y="1257521"/>
            <a:ext cx="2381372" cy="2381372"/>
            <a:chOff x="5020603" y="1409975"/>
            <a:chExt cx="2669400" cy="2669400"/>
          </a:xfrm>
        </p:grpSpPr>
        <p:pic>
          <p:nvPicPr>
            <p:cNvPr id="1160" name="Google Shape;1160;p5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020603" y="1409975"/>
              <a:ext cx="2669400" cy="26694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161" name="Google Shape;1161;p51"/>
            <p:cNvCxnSpPr/>
            <p:nvPr/>
          </p:nvCxnSpPr>
          <p:spPr>
            <a:xfrm rot="10800000" flipH="1">
              <a:off x="5596150" y="3735725"/>
              <a:ext cx="1604400" cy="18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62" name="Google Shape;1162;p51"/>
            <p:cNvCxnSpPr/>
            <p:nvPr/>
          </p:nvCxnSpPr>
          <p:spPr>
            <a:xfrm rot="10800000" flipH="1">
              <a:off x="5596150" y="3430925"/>
              <a:ext cx="1604400" cy="18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63" name="Google Shape;1163;p51"/>
            <p:cNvCxnSpPr/>
            <p:nvPr/>
          </p:nvCxnSpPr>
          <p:spPr>
            <a:xfrm rot="10800000" flipH="1">
              <a:off x="5596150" y="3126125"/>
              <a:ext cx="1604400" cy="18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64" name="Google Shape;1164;p51"/>
            <p:cNvCxnSpPr/>
            <p:nvPr/>
          </p:nvCxnSpPr>
          <p:spPr>
            <a:xfrm rot="10800000" flipH="1">
              <a:off x="5596150" y="2821325"/>
              <a:ext cx="1604400" cy="18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65" name="Google Shape;1165;p51"/>
            <p:cNvCxnSpPr/>
            <p:nvPr/>
          </p:nvCxnSpPr>
          <p:spPr>
            <a:xfrm rot="10800000" flipH="1">
              <a:off x="5596150" y="2516525"/>
              <a:ext cx="1604400" cy="18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66" name="Google Shape;1166;p51"/>
            <p:cNvSpPr txBox="1"/>
            <p:nvPr/>
          </p:nvSpPr>
          <p:spPr>
            <a:xfrm>
              <a:off x="5947075" y="2327153"/>
              <a:ext cx="849600" cy="16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b="1">
                  <a:solidFill>
                    <a:srgbClr val="C00000"/>
                  </a:solidFill>
                </a:rPr>
                <a:t>avion</a:t>
              </a:r>
              <a:endParaRPr b="1">
                <a:solidFill>
                  <a:srgbClr val="C00000"/>
                </a:solidFill>
              </a:endParaRPr>
            </a:p>
          </p:txBody>
        </p:sp>
        <p:sp>
          <p:nvSpPr>
            <p:cNvPr id="1167" name="Google Shape;1167;p51"/>
            <p:cNvSpPr txBox="1"/>
            <p:nvPr/>
          </p:nvSpPr>
          <p:spPr>
            <a:xfrm>
              <a:off x="5556841" y="2641187"/>
              <a:ext cx="849600" cy="16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/>
                <a:t>bateau</a:t>
              </a:r>
              <a:endParaRPr/>
            </a:p>
          </p:txBody>
        </p:sp>
        <p:sp>
          <p:nvSpPr>
            <p:cNvPr id="1168" name="Google Shape;1168;p51"/>
            <p:cNvSpPr txBox="1"/>
            <p:nvPr/>
          </p:nvSpPr>
          <p:spPr>
            <a:xfrm>
              <a:off x="6281766" y="2945994"/>
              <a:ext cx="849600" cy="16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/>
                <a:t>camion</a:t>
              </a:r>
              <a:endParaRPr/>
            </a:p>
          </p:txBody>
        </p:sp>
        <p:sp>
          <p:nvSpPr>
            <p:cNvPr id="1169" name="Google Shape;1169;p51"/>
            <p:cNvSpPr txBox="1"/>
            <p:nvPr/>
          </p:nvSpPr>
          <p:spPr>
            <a:xfrm>
              <a:off x="5443566" y="3250794"/>
              <a:ext cx="849600" cy="16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b="1">
                  <a:solidFill>
                    <a:srgbClr val="C00000"/>
                  </a:solidFill>
                </a:rPr>
                <a:t>avion</a:t>
              </a:r>
              <a:endParaRPr b="1">
                <a:solidFill>
                  <a:srgbClr val="C00000"/>
                </a:solidFill>
              </a:endParaRPr>
            </a:p>
          </p:txBody>
        </p:sp>
        <p:sp>
          <p:nvSpPr>
            <p:cNvPr id="1170" name="Google Shape;1170;p51"/>
            <p:cNvSpPr txBox="1"/>
            <p:nvPr/>
          </p:nvSpPr>
          <p:spPr>
            <a:xfrm>
              <a:off x="6357966" y="3250794"/>
              <a:ext cx="849600" cy="16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b="1">
                  <a:solidFill>
                    <a:srgbClr val="C00000"/>
                  </a:solidFill>
                </a:rPr>
                <a:t>avion</a:t>
              </a:r>
              <a:endParaRPr b="1">
                <a:solidFill>
                  <a:srgbClr val="C00000"/>
                </a:solidFill>
              </a:endParaRPr>
            </a:p>
          </p:txBody>
        </p:sp>
      </p:grpSp>
      <p:sp>
        <p:nvSpPr>
          <p:cNvPr id="1171" name="Google Shape;1171;p51"/>
          <p:cNvSpPr txBox="1"/>
          <p:nvPr/>
        </p:nvSpPr>
        <p:spPr>
          <a:xfrm>
            <a:off x="5440525" y="843825"/>
            <a:ext cx="3644700" cy="284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sed 's/voiture/avion/g' fichier</a:t>
            </a:r>
            <a:endParaRPr b="1">
              <a:solidFill>
                <a:srgbClr val="00FF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72" name="Google Shape;1172;p51"/>
          <p:cNvSpPr/>
          <p:nvPr/>
        </p:nvSpPr>
        <p:spPr>
          <a:xfrm>
            <a:off x="6918125" y="1320175"/>
            <a:ext cx="267900" cy="1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3" name="Google Shape;1173;p51"/>
          <p:cNvSpPr/>
          <p:nvPr/>
        </p:nvSpPr>
        <p:spPr>
          <a:xfrm>
            <a:off x="2083925" y="2068525"/>
            <a:ext cx="267900" cy="1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174" name="Google Shape;1174;p51"/>
          <p:cNvCxnSpPr>
            <a:stCxn id="1173" idx="3"/>
            <a:endCxn id="1172" idx="1"/>
          </p:cNvCxnSpPr>
          <p:nvPr/>
        </p:nvCxnSpPr>
        <p:spPr>
          <a:xfrm rot="10800000" flipH="1">
            <a:off x="2351825" y="1410175"/>
            <a:ext cx="4566300" cy="748200"/>
          </a:xfrm>
          <a:prstGeom prst="curvedConnector3">
            <a:avLst>
              <a:gd name="adj1" fmla="val 36296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75" name="Google Shape;1175;p51"/>
          <p:cNvSpPr/>
          <p:nvPr/>
        </p:nvSpPr>
        <p:spPr>
          <a:xfrm>
            <a:off x="3598325" y="2481900"/>
            <a:ext cx="267900" cy="1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176" name="Google Shape;1176;p51"/>
          <p:cNvCxnSpPr>
            <a:stCxn id="1173" idx="3"/>
            <a:endCxn id="1175" idx="1"/>
          </p:cNvCxnSpPr>
          <p:nvPr/>
        </p:nvCxnSpPr>
        <p:spPr>
          <a:xfrm>
            <a:off x="2351825" y="2158375"/>
            <a:ext cx="1246500" cy="413400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77" name="Google Shape;1177;p51"/>
          <p:cNvSpPr txBox="1">
            <a:spLocks noGrp="1"/>
          </p:cNvSpPr>
          <p:nvPr>
            <p:ph type="sldNum" idx="12"/>
          </p:nvPr>
        </p:nvSpPr>
        <p:spPr>
          <a:xfrm>
            <a:off x="8625000" y="4939350"/>
            <a:ext cx="519000" cy="2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33</a:t>
            </a:fld>
            <a:endParaRPr/>
          </a:p>
        </p:txBody>
      </p:sp>
      <p:sp>
        <p:nvSpPr>
          <p:cNvPr id="1178" name="Google Shape;1178;p51"/>
          <p:cNvSpPr txBox="1">
            <a:spLocks noGrp="1"/>
          </p:cNvSpPr>
          <p:nvPr>
            <p:ph type="title"/>
          </p:nvPr>
        </p:nvSpPr>
        <p:spPr>
          <a:xfrm>
            <a:off x="0" y="-11925"/>
            <a:ext cx="9143700" cy="7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40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Manipulation</a:t>
            </a:r>
            <a:endParaRPr sz="4000" b="1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9DAF8"/>
        </a:solidFill>
        <a:effectLst/>
      </p:bgPr>
    </p:bg>
    <p:spTree>
      <p:nvGrpSpPr>
        <p:cNvPr id="1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83" name="Google Shape;1183;p52"/>
          <p:cNvGraphicFramePr/>
          <p:nvPr/>
        </p:nvGraphicFramePr>
        <p:xfrm>
          <a:off x="6196925" y="1319700"/>
          <a:ext cx="2718675" cy="3398838"/>
        </p:xfrm>
        <a:graphic>
          <a:graphicData uri="http://schemas.openxmlformats.org/drawingml/2006/table">
            <a:tbl>
              <a:tblPr>
                <a:noFill/>
                <a:tableStyleId>{33B7DFEB-9B15-4894-83CC-29472E7CCF78}</a:tableStyleId>
              </a:tblPr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3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0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FRUIT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COULEUR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QUANTITE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Fraise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Rouge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10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Banane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Jaune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5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Abricot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Orange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4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ananas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Jaune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5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pomme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Rouge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7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Melon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Orange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1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Kiwi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Vert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2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Cerise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Rouge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3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Citron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Jaune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9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Citron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Vert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8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Framboise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Rouge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2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Raisin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Rouge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1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Prune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Rouge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1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Poire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Vert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8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Pasteque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Rouge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7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Orange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Orange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3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1184" name="Google Shape;1184;p52"/>
          <p:cNvSpPr txBox="1"/>
          <p:nvPr/>
        </p:nvSpPr>
        <p:spPr>
          <a:xfrm>
            <a:off x="138200" y="823925"/>
            <a:ext cx="5849100" cy="41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dirty="0">
                <a:solidFill>
                  <a:schemeClr val="dk1"/>
                </a:solidFill>
              </a:rPr>
              <a:t>Dans le terminal, tapez la ligne: </a:t>
            </a:r>
            <a:r>
              <a:rPr lang="fr" b="1" dirty="0">
                <a:solidFill>
                  <a:srgbClr val="00FF00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/home/public/linux/exo3.sh</a:t>
            </a:r>
            <a:endParaRPr b="1" dirty="0">
              <a:solidFill>
                <a:srgbClr val="00FF00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/>
              <a:t>Le fichier </a:t>
            </a:r>
            <a:r>
              <a:rPr lang="fr" b="1" dirty="0">
                <a:highlight>
                  <a:srgbClr val="00FFFF"/>
                </a:highlight>
                <a:latin typeface="Courier New"/>
                <a:ea typeface="Courier New"/>
                <a:cs typeface="Courier New"/>
                <a:sym typeface="Courier New"/>
              </a:rPr>
              <a:t>~/exo3/</a:t>
            </a:r>
            <a:r>
              <a:rPr lang="fr" b="1" dirty="0" err="1">
                <a:highlight>
                  <a:srgbClr val="00FFFF"/>
                </a:highlight>
                <a:latin typeface="Courier New"/>
                <a:ea typeface="Courier New"/>
                <a:cs typeface="Courier New"/>
                <a:sym typeface="Courier New"/>
              </a:rPr>
              <a:t>fruit.tsv</a:t>
            </a:r>
            <a:r>
              <a:rPr lang="fr" dirty="0"/>
              <a:t> est une liste de fruits contenant leur désignation, leur couleur et une quantité associée. Quels sont les </a:t>
            </a:r>
            <a:r>
              <a:rPr lang="fr" b="1" dirty="0"/>
              <a:t>commandes</a:t>
            </a:r>
            <a:r>
              <a:rPr lang="fr" dirty="0"/>
              <a:t> qui vous permettent d’afficher le résultats des requêtes suivantes: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fr" dirty="0"/>
              <a:t>Afficher le contenu du fichier</a:t>
            </a:r>
            <a:endParaRPr dirty="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fr" dirty="0"/>
              <a:t>Afficher les 9 premières lignes du fichiers</a:t>
            </a:r>
            <a:endParaRPr dirty="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fr" dirty="0"/>
              <a:t>Afficher toutes les lignes, sauf l’entête</a:t>
            </a:r>
            <a:endParaRPr dirty="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fr" dirty="0"/>
              <a:t>Afficher la liste des fruits seulement</a:t>
            </a:r>
            <a:endParaRPr dirty="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fr" dirty="0"/>
              <a:t>Combien de lignes contient le fichier ?</a:t>
            </a:r>
            <a:endParaRPr dirty="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fr" dirty="0"/>
              <a:t>Afficher les lignes dont la </a:t>
            </a:r>
            <a:r>
              <a:rPr lang="fr" b="1" dirty="0"/>
              <a:t>couleur</a:t>
            </a:r>
            <a:r>
              <a:rPr lang="fr" dirty="0"/>
              <a:t> du fruit est </a:t>
            </a:r>
            <a:r>
              <a:rPr lang="fr" dirty="0">
                <a:solidFill>
                  <a:srgbClr val="FF0000"/>
                </a:solidFill>
              </a:rPr>
              <a:t>Rouge</a:t>
            </a:r>
            <a:endParaRPr dirty="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fr" dirty="0"/>
              <a:t>Afficher les lignes dont le </a:t>
            </a:r>
            <a:r>
              <a:rPr lang="fr" b="1" dirty="0"/>
              <a:t>nom</a:t>
            </a:r>
            <a:r>
              <a:rPr lang="fr" dirty="0"/>
              <a:t> du fruit commence par la lettre </a:t>
            </a:r>
            <a:r>
              <a:rPr lang="fr" b="1" dirty="0"/>
              <a:t>A</a:t>
            </a:r>
            <a:endParaRPr dirty="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fr" dirty="0"/>
              <a:t>Afficher les lignes dont le </a:t>
            </a:r>
            <a:r>
              <a:rPr lang="fr" b="1" dirty="0"/>
              <a:t>nom</a:t>
            </a:r>
            <a:r>
              <a:rPr lang="fr" dirty="0"/>
              <a:t> du fruit commence par la lettre </a:t>
            </a:r>
            <a:r>
              <a:rPr lang="fr" b="1" dirty="0"/>
              <a:t>O</a:t>
            </a:r>
            <a:endParaRPr dirty="0"/>
          </a:p>
        </p:txBody>
      </p:sp>
      <p:sp>
        <p:nvSpPr>
          <p:cNvPr id="1185" name="Google Shape;1185;p52"/>
          <p:cNvSpPr txBox="1">
            <a:spLocks noGrp="1"/>
          </p:cNvSpPr>
          <p:nvPr>
            <p:ph type="title"/>
          </p:nvPr>
        </p:nvSpPr>
        <p:spPr>
          <a:xfrm>
            <a:off x="0" y="-11925"/>
            <a:ext cx="9143700" cy="7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4000" b="1">
                <a:solidFill>
                  <a:srgbClr val="1C4587"/>
                </a:solidFill>
                <a:latin typeface="Calibri"/>
                <a:ea typeface="Calibri"/>
                <a:cs typeface="Calibri"/>
                <a:sym typeface="Calibri"/>
              </a:rPr>
              <a:t>Exercice 3</a:t>
            </a:r>
            <a:endParaRPr sz="4000" b="1">
              <a:solidFill>
                <a:srgbClr val="1C458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6" name="Google Shape;1186;p52"/>
          <p:cNvSpPr/>
          <p:nvPr/>
        </p:nvSpPr>
        <p:spPr>
          <a:xfrm>
            <a:off x="0" y="665225"/>
            <a:ext cx="9143700" cy="41400"/>
          </a:xfrm>
          <a:prstGeom prst="rect">
            <a:avLst/>
          </a:prstGeom>
          <a:gradFill>
            <a:gsLst>
              <a:gs pos="0">
                <a:srgbClr val="1C4587"/>
              </a:gs>
              <a:gs pos="9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7" name="Google Shape;1187;p52"/>
          <p:cNvSpPr txBox="1">
            <a:spLocks noGrp="1"/>
          </p:cNvSpPr>
          <p:nvPr>
            <p:ph type="sldNum" idx="12"/>
          </p:nvPr>
        </p:nvSpPr>
        <p:spPr>
          <a:xfrm>
            <a:off x="8625000" y="4939350"/>
            <a:ext cx="519000" cy="2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34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p53"/>
          <p:cNvSpPr txBox="1">
            <a:spLocks noGrp="1"/>
          </p:cNvSpPr>
          <p:nvPr>
            <p:ph type="title"/>
          </p:nvPr>
        </p:nvSpPr>
        <p:spPr>
          <a:xfrm>
            <a:off x="0" y="-11925"/>
            <a:ext cx="9143700" cy="7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40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Les flux</a:t>
            </a:r>
            <a:endParaRPr sz="4000" b="1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3" name="Google Shape;1193;p53"/>
          <p:cNvSpPr/>
          <p:nvPr/>
        </p:nvSpPr>
        <p:spPr>
          <a:xfrm>
            <a:off x="0" y="665225"/>
            <a:ext cx="9143700" cy="41400"/>
          </a:xfrm>
          <a:prstGeom prst="rect">
            <a:avLst/>
          </a:prstGeom>
          <a:gradFill>
            <a:gsLst>
              <a:gs pos="0">
                <a:srgbClr val="CD0920"/>
              </a:gs>
              <a:gs pos="9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94" name="Google Shape;1194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7725" y="1098700"/>
            <a:ext cx="1429225" cy="142922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195" name="Google Shape;1195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2563" y="1195676"/>
            <a:ext cx="1235274" cy="1235274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196" name="Google Shape;1196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31074" y="1327025"/>
            <a:ext cx="1361501" cy="845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7" name="Google Shape;1197;p53"/>
          <p:cNvSpPr/>
          <p:nvPr/>
        </p:nvSpPr>
        <p:spPr>
          <a:xfrm>
            <a:off x="2787775" y="1694525"/>
            <a:ext cx="1156800" cy="237600"/>
          </a:xfrm>
          <a:prstGeom prst="rightArrow">
            <a:avLst>
              <a:gd name="adj1" fmla="val 28114"/>
              <a:gd name="adj2" fmla="val 167171"/>
            </a:avLst>
          </a:prstGeom>
          <a:solidFill>
            <a:srgbClr val="4A86E8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8" name="Google Shape;1198;p53"/>
          <p:cNvSpPr txBox="1"/>
          <p:nvPr/>
        </p:nvSpPr>
        <p:spPr>
          <a:xfrm>
            <a:off x="408775" y="3393500"/>
            <a:ext cx="2295300" cy="5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/>
              <a:t>Entrée(s) </a:t>
            </a:r>
            <a:r>
              <a:rPr lang="fr" b="1" i="1"/>
              <a:t>standard input</a:t>
            </a:r>
            <a:endParaRPr b="1" i="1"/>
          </a:p>
        </p:txBody>
      </p:sp>
      <p:sp>
        <p:nvSpPr>
          <p:cNvPr id="1199" name="Google Shape;1199;p53"/>
          <p:cNvSpPr txBox="1"/>
          <p:nvPr/>
        </p:nvSpPr>
        <p:spPr>
          <a:xfrm>
            <a:off x="341875" y="4116750"/>
            <a:ext cx="2538000" cy="528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ma_commande input</a:t>
            </a:r>
            <a:br>
              <a:rPr lang="fr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fr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ma_commande &lt;input</a:t>
            </a:r>
            <a:endParaRPr b="1">
              <a:solidFill>
                <a:srgbClr val="00FF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00" name="Google Shape;1200;p53"/>
          <p:cNvSpPr/>
          <p:nvPr/>
        </p:nvSpPr>
        <p:spPr>
          <a:xfrm rot="5400000">
            <a:off x="5895125" y="1850550"/>
            <a:ext cx="929400" cy="906900"/>
          </a:xfrm>
          <a:prstGeom prst="bentUpArrow">
            <a:avLst>
              <a:gd name="adj1" fmla="val 7131"/>
              <a:gd name="adj2" fmla="val 12971"/>
              <a:gd name="adj3" fmla="val 34698"/>
            </a:avLst>
          </a:prstGeom>
          <a:solidFill>
            <a:srgbClr val="00FF00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FF00"/>
              </a:solidFill>
            </a:endParaRPr>
          </a:p>
        </p:txBody>
      </p:sp>
      <p:pic>
        <p:nvPicPr>
          <p:cNvPr id="1201" name="Google Shape;1201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31080" y="2353050"/>
            <a:ext cx="845550" cy="84555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02" name="Google Shape;1202;p53"/>
          <p:cNvSpPr/>
          <p:nvPr/>
        </p:nvSpPr>
        <p:spPr>
          <a:xfrm>
            <a:off x="5661042" y="1694521"/>
            <a:ext cx="1156800" cy="237600"/>
          </a:xfrm>
          <a:prstGeom prst="rightArrow">
            <a:avLst>
              <a:gd name="adj1" fmla="val 28114"/>
              <a:gd name="adj2" fmla="val 167171"/>
            </a:avLst>
          </a:prstGeom>
          <a:solidFill>
            <a:srgbClr val="00FF00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3" name="Google Shape;1203;p53"/>
          <p:cNvSpPr txBox="1"/>
          <p:nvPr/>
        </p:nvSpPr>
        <p:spPr>
          <a:xfrm>
            <a:off x="5056975" y="3393500"/>
            <a:ext cx="3246300" cy="5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/>
              <a:t>Sorties(s) </a:t>
            </a:r>
            <a:r>
              <a:rPr lang="fr" b="1" i="1"/>
              <a:t>standard output</a:t>
            </a:r>
            <a:endParaRPr b="1" i="1"/>
          </a:p>
        </p:txBody>
      </p:sp>
      <p:sp>
        <p:nvSpPr>
          <p:cNvPr id="1204" name="Google Shape;1204;p53"/>
          <p:cNvSpPr txBox="1"/>
          <p:nvPr/>
        </p:nvSpPr>
        <p:spPr>
          <a:xfrm>
            <a:off x="4990075" y="4116750"/>
            <a:ext cx="3641700" cy="792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ma_commande input</a:t>
            </a:r>
            <a:br>
              <a:rPr lang="fr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fr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ma_commande input &gt; output.txt</a:t>
            </a:r>
            <a:endParaRPr b="1">
              <a:solidFill>
                <a:srgbClr val="00FF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ma_commande input 1&gt; output.txt</a:t>
            </a:r>
            <a:endParaRPr b="1">
              <a:solidFill>
                <a:srgbClr val="00FF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05" name="Google Shape;1205;p53"/>
          <p:cNvSpPr txBox="1"/>
          <p:nvPr/>
        </p:nvSpPr>
        <p:spPr>
          <a:xfrm>
            <a:off x="5064025" y="3706650"/>
            <a:ext cx="3493800" cy="3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Sortie standard sur le terminal </a:t>
            </a:r>
            <a:r>
              <a:rPr lang="fr" b="1"/>
              <a:t>par défaut</a:t>
            </a:r>
            <a:endParaRPr b="1"/>
          </a:p>
        </p:txBody>
      </p:sp>
      <p:sp>
        <p:nvSpPr>
          <p:cNvPr id="1206" name="Google Shape;1206;p53"/>
          <p:cNvSpPr txBox="1"/>
          <p:nvPr/>
        </p:nvSpPr>
        <p:spPr>
          <a:xfrm>
            <a:off x="2883075" y="1456925"/>
            <a:ext cx="8148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stdin</a:t>
            </a:r>
            <a:endParaRPr/>
          </a:p>
        </p:txBody>
      </p:sp>
      <p:sp>
        <p:nvSpPr>
          <p:cNvPr id="1207" name="Google Shape;1207;p53"/>
          <p:cNvSpPr txBox="1"/>
          <p:nvPr/>
        </p:nvSpPr>
        <p:spPr>
          <a:xfrm>
            <a:off x="5762525" y="1456925"/>
            <a:ext cx="8148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stdout</a:t>
            </a:r>
            <a:endParaRPr/>
          </a:p>
        </p:txBody>
      </p:sp>
      <p:sp>
        <p:nvSpPr>
          <p:cNvPr id="1208" name="Google Shape;1208;p53"/>
          <p:cNvSpPr txBox="1"/>
          <p:nvPr/>
        </p:nvSpPr>
        <p:spPr>
          <a:xfrm>
            <a:off x="6003500" y="2291393"/>
            <a:ext cx="471900" cy="2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>
                <a:highlight>
                  <a:srgbClr val="FFFF00"/>
                </a:highlight>
              </a:rPr>
              <a:t>&gt;</a:t>
            </a:r>
            <a:endParaRPr b="1">
              <a:highlight>
                <a:srgbClr val="FFFF00"/>
              </a:highlight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>
                <a:highlight>
                  <a:srgbClr val="FFFF00"/>
                </a:highlight>
              </a:rPr>
              <a:t>1&gt;</a:t>
            </a:r>
            <a:endParaRPr b="1">
              <a:highlight>
                <a:srgbClr val="FFFF00"/>
              </a:highlight>
            </a:endParaRPr>
          </a:p>
        </p:txBody>
      </p:sp>
      <p:sp>
        <p:nvSpPr>
          <p:cNvPr id="1209" name="Google Shape;1209;p53"/>
          <p:cNvSpPr txBox="1"/>
          <p:nvPr/>
        </p:nvSpPr>
        <p:spPr>
          <a:xfrm>
            <a:off x="5871650" y="2785325"/>
            <a:ext cx="735600" cy="2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>
                <a:highlight>
                  <a:srgbClr val="FFFF00"/>
                </a:highlight>
              </a:rPr>
              <a:t>&gt;&gt;</a:t>
            </a:r>
            <a:endParaRPr b="1">
              <a:highlight>
                <a:srgbClr val="FFFF00"/>
              </a:highlight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>
                <a:highlight>
                  <a:srgbClr val="FFFF00"/>
                </a:highlight>
              </a:rPr>
              <a:t>1&gt;&gt;</a:t>
            </a:r>
            <a:endParaRPr b="1">
              <a:highlight>
                <a:srgbClr val="FFFF00"/>
              </a:highlight>
            </a:endParaRPr>
          </a:p>
        </p:txBody>
      </p:sp>
      <p:sp>
        <p:nvSpPr>
          <p:cNvPr id="1210" name="Google Shape;1210;p53"/>
          <p:cNvSpPr txBox="1">
            <a:spLocks noGrp="1"/>
          </p:cNvSpPr>
          <p:nvPr>
            <p:ph type="sldNum" idx="12"/>
          </p:nvPr>
        </p:nvSpPr>
        <p:spPr>
          <a:xfrm>
            <a:off x="8625000" y="4939350"/>
            <a:ext cx="519000" cy="2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35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p54"/>
          <p:cNvSpPr txBox="1">
            <a:spLocks noGrp="1"/>
          </p:cNvSpPr>
          <p:nvPr>
            <p:ph type="title"/>
          </p:nvPr>
        </p:nvSpPr>
        <p:spPr>
          <a:xfrm>
            <a:off x="0" y="-11925"/>
            <a:ext cx="9143700" cy="7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40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Les flux</a:t>
            </a:r>
            <a:endParaRPr sz="4000" b="1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6" name="Google Shape;1216;p54"/>
          <p:cNvSpPr/>
          <p:nvPr/>
        </p:nvSpPr>
        <p:spPr>
          <a:xfrm>
            <a:off x="0" y="665225"/>
            <a:ext cx="9143700" cy="41400"/>
          </a:xfrm>
          <a:prstGeom prst="rect">
            <a:avLst/>
          </a:prstGeom>
          <a:gradFill>
            <a:gsLst>
              <a:gs pos="0">
                <a:srgbClr val="CD0920"/>
              </a:gs>
              <a:gs pos="9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17" name="Google Shape;1217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7725" y="1860700"/>
            <a:ext cx="1429225" cy="142922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218" name="Google Shape;1218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2563" y="1957676"/>
            <a:ext cx="1235274" cy="1235274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219" name="Google Shape;1219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31075" y="2828549"/>
            <a:ext cx="906900" cy="563226"/>
          </a:xfrm>
          <a:prstGeom prst="rect">
            <a:avLst/>
          </a:prstGeom>
          <a:noFill/>
          <a:ln>
            <a:noFill/>
          </a:ln>
        </p:spPr>
      </p:pic>
      <p:sp>
        <p:nvSpPr>
          <p:cNvPr id="1220" name="Google Shape;1220;p54"/>
          <p:cNvSpPr/>
          <p:nvPr/>
        </p:nvSpPr>
        <p:spPr>
          <a:xfrm>
            <a:off x="2787775" y="2456525"/>
            <a:ext cx="1156800" cy="237600"/>
          </a:xfrm>
          <a:prstGeom prst="rightArrow">
            <a:avLst>
              <a:gd name="adj1" fmla="val 28114"/>
              <a:gd name="adj2" fmla="val 167171"/>
            </a:avLst>
          </a:prstGeom>
          <a:solidFill>
            <a:srgbClr val="4A86E8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1" name="Google Shape;1221;p54"/>
          <p:cNvSpPr/>
          <p:nvPr/>
        </p:nvSpPr>
        <p:spPr>
          <a:xfrm rot="5400000">
            <a:off x="5895125" y="2993550"/>
            <a:ext cx="929400" cy="906900"/>
          </a:xfrm>
          <a:prstGeom prst="bentUpArrow">
            <a:avLst>
              <a:gd name="adj1" fmla="val 7131"/>
              <a:gd name="adj2" fmla="val 12971"/>
              <a:gd name="adj3" fmla="val 34698"/>
            </a:avLst>
          </a:prstGeom>
          <a:solidFill>
            <a:srgbClr val="00FF00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FF00"/>
              </a:solidFill>
            </a:endParaRPr>
          </a:p>
        </p:txBody>
      </p:sp>
      <p:pic>
        <p:nvPicPr>
          <p:cNvPr id="1222" name="Google Shape;1222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31076" y="3648450"/>
            <a:ext cx="718500" cy="7185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23" name="Google Shape;1223;p54"/>
          <p:cNvSpPr/>
          <p:nvPr/>
        </p:nvSpPr>
        <p:spPr>
          <a:xfrm>
            <a:off x="5661042" y="2837521"/>
            <a:ext cx="1156800" cy="237600"/>
          </a:xfrm>
          <a:prstGeom prst="rightArrow">
            <a:avLst>
              <a:gd name="adj1" fmla="val 28114"/>
              <a:gd name="adj2" fmla="val 167171"/>
            </a:avLst>
          </a:prstGeom>
          <a:solidFill>
            <a:srgbClr val="00FF00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24" name="Google Shape;1224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31075" y="1895638"/>
            <a:ext cx="906900" cy="563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5" name="Google Shape;1225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31076" y="962940"/>
            <a:ext cx="718500" cy="7185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26" name="Google Shape;1226;p54"/>
          <p:cNvSpPr/>
          <p:nvPr/>
        </p:nvSpPr>
        <p:spPr>
          <a:xfrm rot="5400000" flipH="1">
            <a:off x="5895133" y="1338171"/>
            <a:ext cx="929400" cy="906900"/>
          </a:xfrm>
          <a:prstGeom prst="bentUpArrow">
            <a:avLst>
              <a:gd name="adj1" fmla="val 7131"/>
              <a:gd name="adj2" fmla="val 12971"/>
              <a:gd name="adj3" fmla="val 34698"/>
            </a:avLst>
          </a:prstGeom>
          <a:solidFill>
            <a:srgbClr val="FF0000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FF00"/>
              </a:solidFill>
            </a:endParaRPr>
          </a:p>
        </p:txBody>
      </p:sp>
      <p:sp>
        <p:nvSpPr>
          <p:cNvPr id="1227" name="Google Shape;1227;p54"/>
          <p:cNvSpPr/>
          <p:nvPr/>
        </p:nvSpPr>
        <p:spPr>
          <a:xfrm rot="10800000" flipH="1">
            <a:off x="5661050" y="2163540"/>
            <a:ext cx="1156800" cy="237600"/>
          </a:xfrm>
          <a:prstGeom prst="rightArrow">
            <a:avLst>
              <a:gd name="adj1" fmla="val 28114"/>
              <a:gd name="adj2" fmla="val 167171"/>
            </a:avLst>
          </a:prstGeom>
          <a:solidFill>
            <a:srgbClr val="FF0000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8" name="Google Shape;1228;p54"/>
          <p:cNvSpPr txBox="1"/>
          <p:nvPr/>
        </p:nvSpPr>
        <p:spPr>
          <a:xfrm>
            <a:off x="2952363" y="2172585"/>
            <a:ext cx="8148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stdin</a:t>
            </a:r>
            <a:endParaRPr/>
          </a:p>
        </p:txBody>
      </p:sp>
      <p:sp>
        <p:nvSpPr>
          <p:cNvPr id="1229" name="Google Shape;1229;p54"/>
          <p:cNvSpPr txBox="1"/>
          <p:nvPr/>
        </p:nvSpPr>
        <p:spPr>
          <a:xfrm>
            <a:off x="5832038" y="1087698"/>
            <a:ext cx="8148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stderr</a:t>
            </a:r>
            <a:endParaRPr/>
          </a:p>
        </p:txBody>
      </p:sp>
      <p:sp>
        <p:nvSpPr>
          <p:cNvPr id="1230" name="Google Shape;1230;p54"/>
          <p:cNvSpPr txBox="1"/>
          <p:nvPr/>
        </p:nvSpPr>
        <p:spPr>
          <a:xfrm>
            <a:off x="5832038" y="3757173"/>
            <a:ext cx="8148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stdout</a:t>
            </a:r>
            <a:endParaRPr/>
          </a:p>
        </p:txBody>
      </p:sp>
      <p:sp>
        <p:nvSpPr>
          <p:cNvPr id="1231" name="Google Shape;1231;p54"/>
          <p:cNvSpPr txBox="1"/>
          <p:nvPr/>
        </p:nvSpPr>
        <p:spPr>
          <a:xfrm>
            <a:off x="547650" y="4444000"/>
            <a:ext cx="5423400" cy="343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ma_commande input 1&gt; output.txt 2&gt; error.txt</a:t>
            </a:r>
            <a:endParaRPr b="1">
              <a:solidFill>
                <a:srgbClr val="00FF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32" name="Google Shape;1232;p54"/>
          <p:cNvSpPr txBox="1"/>
          <p:nvPr/>
        </p:nvSpPr>
        <p:spPr>
          <a:xfrm>
            <a:off x="6767000" y="1314788"/>
            <a:ext cx="471900" cy="2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>
                <a:highlight>
                  <a:srgbClr val="FFFF00"/>
                </a:highlight>
              </a:rPr>
              <a:t>2&gt;</a:t>
            </a:r>
            <a:endParaRPr b="1">
              <a:highlight>
                <a:srgbClr val="FFFF00"/>
              </a:highlight>
            </a:endParaRPr>
          </a:p>
        </p:txBody>
      </p:sp>
      <p:sp>
        <p:nvSpPr>
          <p:cNvPr id="1233" name="Google Shape;1233;p54"/>
          <p:cNvSpPr txBox="1"/>
          <p:nvPr/>
        </p:nvSpPr>
        <p:spPr>
          <a:xfrm>
            <a:off x="6767000" y="3761460"/>
            <a:ext cx="471900" cy="2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>
                <a:highlight>
                  <a:srgbClr val="FFFF00"/>
                </a:highlight>
              </a:rPr>
              <a:t>&gt;</a:t>
            </a:r>
            <a:endParaRPr b="1">
              <a:highlight>
                <a:srgbClr val="FFFF00"/>
              </a:highlight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>
                <a:highlight>
                  <a:srgbClr val="FFFF00"/>
                </a:highlight>
              </a:rPr>
              <a:t>1&gt;</a:t>
            </a:r>
            <a:endParaRPr b="1">
              <a:highlight>
                <a:srgbClr val="FFFF00"/>
              </a:highlight>
            </a:endParaRPr>
          </a:p>
        </p:txBody>
      </p:sp>
      <p:sp>
        <p:nvSpPr>
          <p:cNvPr id="1234" name="Google Shape;1234;p54"/>
          <p:cNvSpPr txBox="1">
            <a:spLocks noGrp="1"/>
          </p:cNvSpPr>
          <p:nvPr>
            <p:ph type="sldNum" idx="12"/>
          </p:nvPr>
        </p:nvSpPr>
        <p:spPr>
          <a:xfrm>
            <a:off x="8625000" y="4939350"/>
            <a:ext cx="519000" cy="2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36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p55"/>
          <p:cNvSpPr txBox="1">
            <a:spLocks noGrp="1"/>
          </p:cNvSpPr>
          <p:nvPr>
            <p:ph type="title"/>
          </p:nvPr>
        </p:nvSpPr>
        <p:spPr>
          <a:xfrm>
            <a:off x="0" y="-11925"/>
            <a:ext cx="9143700" cy="7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40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Les flux</a:t>
            </a:r>
            <a:endParaRPr sz="4000" b="1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0" name="Google Shape;1240;p55"/>
          <p:cNvSpPr/>
          <p:nvPr/>
        </p:nvSpPr>
        <p:spPr>
          <a:xfrm>
            <a:off x="0" y="665225"/>
            <a:ext cx="9143700" cy="41400"/>
          </a:xfrm>
          <a:prstGeom prst="rect">
            <a:avLst/>
          </a:prstGeom>
          <a:gradFill>
            <a:gsLst>
              <a:gs pos="0">
                <a:srgbClr val="CD0920"/>
              </a:gs>
              <a:gs pos="9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41" name="Google Shape;1241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924" y="1043450"/>
            <a:ext cx="989690" cy="989692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242" name="Google Shape;1242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18657" y="1110603"/>
            <a:ext cx="855386" cy="85538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43" name="Google Shape;1243;p55"/>
          <p:cNvSpPr/>
          <p:nvPr/>
        </p:nvSpPr>
        <p:spPr>
          <a:xfrm>
            <a:off x="1162435" y="1456025"/>
            <a:ext cx="596400" cy="164700"/>
          </a:xfrm>
          <a:prstGeom prst="rightArrow">
            <a:avLst>
              <a:gd name="adj1" fmla="val 28114"/>
              <a:gd name="adj2" fmla="val 167171"/>
            </a:avLst>
          </a:prstGeom>
          <a:solidFill>
            <a:srgbClr val="4A86E8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44" name="Google Shape;1244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86585" y="1043525"/>
            <a:ext cx="989690" cy="989692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45" name="Google Shape;1245;p55"/>
          <p:cNvSpPr/>
          <p:nvPr/>
        </p:nvSpPr>
        <p:spPr>
          <a:xfrm>
            <a:off x="2733863" y="1442750"/>
            <a:ext cx="492900" cy="191100"/>
          </a:xfrm>
          <a:prstGeom prst="rightArrow">
            <a:avLst>
              <a:gd name="adj1" fmla="val 28114"/>
              <a:gd name="adj2" fmla="val 167171"/>
            </a:avLst>
          </a:prstGeom>
          <a:solidFill>
            <a:srgbClr val="00FF00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46" name="Google Shape;1246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1999" y="1043488"/>
            <a:ext cx="989690" cy="989692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247" name="Google Shape;1247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77732" y="1110640"/>
            <a:ext cx="855386" cy="85538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48" name="Google Shape;1248;p55"/>
          <p:cNvSpPr/>
          <p:nvPr/>
        </p:nvSpPr>
        <p:spPr>
          <a:xfrm>
            <a:off x="5621510" y="1456063"/>
            <a:ext cx="596400" cy="164700"/>
          </a:xfrm>
          <a:prstGeom prst="rightArrow">
            <a:avLst>
              <a:gd name="adj1" fmla="val 28114"/>
              <a:gd name="adj2" fmla="val 167171"/>
            </a:avLst>
          </a:prstGeom>
          <a:solidFill>
            <a:srgbClr val="4A86E8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49" name="Google Shape;1249;p5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45660" y="1043563"/>
            <a:ext cx="989690" cy="989692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50" name="Google Shape;1250;p55"/>
          <p:cNvSpPr/>
          <p:nvPr/>
        </p:nvSpPr>
        <p:spPr>
          <a:xfrm>
            <a:off x="7192938" y="1442788"/>
            <a:ext cx="492900" cy="191100"/>
          </a:xfrm>
          <a:prstGeom prst="rightArrow">
            <a:avLst>
              <a:gd name="adj1" fmla="val 28114"/>
              <a:gd name="adj2" fmla="val 167171"/>
            </a:avLst>
          </a:prstGeom>
          <a:solidFill>
            <a:srgbClr val="00FF00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1" name="Google Shape;1251;p55"/>
          <p:cNvSpPr txBox="1"/>
          <p:nvPr/>
        </p:nvSpPr>
        <p:spPr>
          <a:xfrm>
            <a:off x="1630350" y="2033150"/>
            <a:ext cx="13605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Commande 1</a:t>
            </a:r>
            <a:endParaRPr/>
          </a:p>
        </p:txBody>
      </p:sp>
      <p:sp>
        <p:nvSpPr>
          <p:cNvPr id="1252" name="Google Shape;1252;p55"/>
          <p:cNvSpPr txBox="1"/>
          <p:nvPr/>
        </p:nvSpPr>
        <p:spPr>
          <a:xfrm>
            <a:off x="6025175" y="2033150"/>
            <a:ext cx="13605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Commande 2</a:t>
            </a:r>
            <a:endParaRPr/>
          </a:p>
        </p:txBody>
      </p:sp>
      <p:pic>
        <p:nvPicPr>
          <p:cNvPr id="1253" name="Google Shape;1253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2287" y="2805719"/>
            <a:ext cx="989690" cy="989692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254" name="Google Shape;1254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27318" y="2872872"/>
            <a:ext cx="855386" cy="85538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55" name="Google Shape;1255;p55"/>
          <p:cNvSpPr/>
          <p:nvPr/>
        </p:nvSpPr>
        <p:spPr>
          <a:xfrm>
            <a:off x="2856447" y="3218215"/>
            <a:ext cx="596400" cy="164700"/>
          </a:xfrm>
          <a:prstGeom prst="rightArrow">
            <a:avLst>
              <a:gd name="adj1" fmla="val 28114"/>
              <a:gd name="adj2" fmla="val 167171"/>
            </a:avLst>
          </a:prstGeom>
          <a:solidFill>
            <a:srgbClr val="4A86E8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6" name="Google Shape;1256;p55"/>
          <p:cNvSpPr/>
          <p:nvPr/>
        </p:nvSpPr>
        <p:spPr>
          <a:xfrm>
            <a:off x="4457174" y="3205015"/>
            <a:ext cx="492900" cy="191100"/>
          </a:xfrm>
          <a:prstGeom prst="rightArrow">
            <a:avLst>
              <a:gd name="adj1" fmla="val 28114"/>
              <a:gd name="adj2" fmla="val 167171"/>
            </a:avLst>
          </a:prstGeom>
          <a:solidFill>
            <a:srgbClr val="00FF00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57" name="Google Shape;1257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4545" y="2872872"/>
            <a:ext cx="855386" cy="85538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258" name="Google Shape;1258;p5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21772" y="2805719"/>
            <a:ext cx="989690" cy="989692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59" name="Google Shape;1259;p55"/>
          <p:cNvSpPr/>
          <p:nvPr/>
        </p:nvSpPr>
        <p:spPr>
          <a:xfrm>
            <a:off x="5954401" y="3205015"/>
            <a:ext cx="492900" cy="191100"/>
          </a:xfrm>
          <a:prstGeom prst="rightArrow">
            <a:avLst>
              <a:gd name="adj1" fmla="val 28114"/>
              <a:gd name="adj2" fmla="val 167171"/>
            </a:avLst>
          </a:prstGeom>
          <a:solidFill>
            <a:srgbClr val="00FF00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0" name="Google Shape;1260;p55"/>
          <p:cNvSpPr txBox="1"/>
          <p:nvPr/>
        </p:nvSpPr>
        <p:spPr>
          <a:xfrm>
            <a:off x="3309713" y="3795425"/>
            <a:ext cx="13605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Commande 1</a:t>
            </a:r>
            <a:endParaRPr/>
          </a:p>
        </p:txBody>
      </p:sp>
      <p:sp>
        <p:nvSpPr>
          <p:cNvPr id="1261" name="Google Shape;1261;p55"/>
          <p:cNvSpPr txBox="1"/>
          <p:nvPr/>
        </p:nvSpPr>
        <p:spPr>
          <a:xfrm>
            <a:off x="4801288" y="3795300"/>
            <a:ext cx="13605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Commande 2</a:t>
            </a:r>
            <a:endParaRPr/>
          </a:p>
        </p:txBody>
      </p:sp>
      <p:sp>
        <p:nvSpPr>
          <p:cNvPr id="1262" name="Google Shape;1262;p55"/>
          <p:cNvSpPr txBox="1"/>
          <p:nvPr/>
        </p:nvSpPr>
        <p:spPr>
          <a:xfrm>
            <a:off x="1210800" y="4533400"/>
            <a:ext cx="6722400" cy="333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cat nom_fichier | grep chr1 | cut -f1-3 &gt; fichier_chr1</a:t>
            </a:r>
            <a:endParaRPr b="1">
              <a:solidFill>
                <a:srgbClr val="00FF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63" name="Google Shape;1263;p55"/>
          <p:cNvSpPr txBox="1"/>
          <p:nvPr/>
        </p:nvSpPr>
        <p:spPr>
          <a:xfrm>
            <a:off x="3020651" y="1160475"/>
            <a:ext cx="2892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1"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64" name="Google Shape;1264;p55"/>
          <p:cNvSpPr txBox="1"/>
          <p:nvPr/>
        </p:nvSpPr>
        <p:spPr>
          <a:xfrm>
            <a:off x="7530026" y="1160475"/>
            <a:ext cx="2892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1"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65" name="Google Shape;1265;p55"/>
          <p:cNvSpPr txBox="1"/>
          <p:nvPr/>
        </p:nvSpPr>
        <p:spPr>
          <a:xfrm>
            <a:off x="6321926" y="2796675"/>
            <a:ext cx="2892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1"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66" name="Google Shape;1266;p55"/>
          <p:cNvSpPr txBox="1"/>
          <p:nvPr/>
        </p:nvSpPr>
        <p:spPr>
          <a:xfrm>
            <a:off x="4507276" y="2796675"/>
            <a:ext cx="2892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 dirty="0"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|</a:t>
            </a:r>
            <a:endParaRPr b="1" dirty="0"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267" name="Google Shape;1267;p55"/>
          <p:cNvCxnSpPr/>
          <p:nvPr/>
        </p:nvCxnSpPr>
        <p:spPr>
          <a:xfrm>
            <a:off x="4434725" y="989975"/>
            <a:ext cx="0" cy="1194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68" name="Google Shape;1268;p55"/>
          <p:cNvSpPr txBox="1">
            <a:spLocks noGrp="1"/>
          </p:cNvSpPr>
          <p:nvPr>
            <p:ph type="sldNum" idx="12"/>
          </p:nvPr>
        </p:nvSpPr>
        <p:spPr>
          <a:xfrm>
            <a:off x="8625000" y="4939350"/>
            <a:ext cx="519000" cy="2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37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9DAF8"/>
        </a:solidFill>
        <a:effectLst/>
      </p:bgPr>
    </p:bg>
    <p:spTree>
      <p:nvGrpSpPr>
        <p:cNvPr id="1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p56"/>
          <p:cNvSpPr txBox="1">
            <a:spLocks noGrp="1"/>
          </p:cNvSpPr>
          <p:nvPr>
            <p:ph type="title"/>
          </p:nvPr>
        </p:nvSpPr>
        <p:spPr>
          <a:xfrm>
            <a:off x="0" y="-11925"/>
            <a:ext cx="9143700" cy="7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4000" b="1">
                <a:solidFill>
                  <a:srgbClr val="1C4587"/>
                </a:solidFill>
                <a:latin typeface="Calibri"/>
                <a:ea typeface="Calibri"/>
                <a:cs typeface="Calibri"/>
                <a:sym typeface="Calibri"/>
              </a:rPr>
              <a:t>Exercice 4 </a:t>
            </a:r>
            <a:endParaRPr sz="4000" b="1">
              <a:solidFill>
                <a:srgbClr val="1C458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4" name="Google Shape;1274;p56"/>
          <p:cNvSpPr/>
          <p:nvPr/>
        </p:nvSpPr>
        <p:spPr>
          <a:xfrm>
            <a:off x="0" y="665225"/>
            <a:ext cx="9143700" cy="41400"/>
          </a:xfrm>
          <a:prstGeom prst="rect">
            <a:avLst/>
          </a:prstGeom>
          <a:gradFill>
            <a:gsLst>
              <a:gs pos="0">
                <a:srgbClr val="1C4587"/>
              </a:gs>
              <a:gs pos="9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5" name="Google Shape;1275;p56"/>
          <p:cNvSpPr txBox="1"/>
          <p:nvPr/>
        </p:nvSpPr>
        <p:spPr>
          <a:xfrm>
            <a:off x="315925" y="985850"/>
            <a:ext cx="87153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 dirty="0"/>
              <a:t>Partie 1. </a:t>
            </a:r>
            <a:r>
              <a:rPr lang="fr" dirty="0"/>
              <a:t>En utilisant les opérateurs de redirections: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fr" dirty="0"/>
              <a:t>Ecrivez "</a:t>
            </a:r>
            <a:r>
              <a:rPr lang="fr" b="1" dirty="0" err="1"/>
              <a:t>helloworld</a:t>
            </a:r>
            <a:r>
              <a:rPr lang="fr" dirty="0"/>
              <a:t>" dans le fichier </a:t>
            </a:r>
            <a:r>
              <a:rPr lang="fr" dirty="0">
                <a:highlight>
                  <a:srgbClr val="00FF00"/>
                </a:highlight>
                <a:latin typeface="Courier New"/>
                <a:ea typeface="Courier New"/>
                <a:cs typeface="Courier New"/>
                <a:sym typeface="Courier New"/>
              </a:rPr>
              <a:t>~/exo4/</a:t>
            </a:r>
            <a:r>
              <a:rPr lang="fr" dirty="0" err="1">
                <a:highlight>
                  <a:srgbClr val="00FF00"/>
                </a:highlight>
                <a:latin typeface="Courier New"/>
                <a:ea typeface="Courier New"/>
                <a:cs typeface="Courier New"/>
                <a:sym typeface="Courier New"/>
              </a:rPr>
              <a:t>HT.txt</a:t>
            </a:r>
            <a:endParaRPr dirty="0">
              <a:highlight>
                <a:srgbClr val="00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fr" dirty="0"/>
              <a:t>Ajoutez "</a:t>
            </a:r>
            <a:r>
              <a:rPr lang="fr" b="1" dirty="0"/>
              <a:t>bonjour le monde</a:t>
            </a:r>
            <a:r>
              <a:rPr lang="fr" dirty="0"/>
              <a:t>" dans le même fichier.</a:t>
            </a:r>
            <a:br>
              <a:rPr lang="fr" dirty="0"/>
            </a:br>
            <a:r>
              <a:rPr lang="fr" dirty="0"/>
              <a:t>et vérifier avec </a:t>
            </a:r>
            <a:r>
              <a:rPr lang="fr" b="1" dirty="0" err="1">
                <a:solidFill>
                  <a:srgbClr val="00FF00"/>
                </a:solidFill>
                <a:highlight>
                  <a:srgbClr val="000000"/>
                </a:highlight>
                <a:latin typeface="Courier New"/>
                <a:ea typeface="Courier New"/>
                <a:cs typeface="Courier New"/>
                <a:sym typeface="Courier New"/>
              </a:rPr>
              <a:t>less</a:t>
            </a:r>
            <a:r>
              <a:rPr lang="fr" dirty="0"/>
              <a:t> que les 2 lignes sont présentes.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fr" dirty="0"/>
              <a:t>Essayer de créer le répertoire</a:t>
            </a:r>
            <a:r>
              <a:rPr lang="fr" dirty="0">
                <a:solidFill>
                  <a:schemeClr val="dk1"/>
                </a:solidFill>
              </a:rPr>
              <a:t> </a:t>
            </a:r>
            <a:r>
              <a:rPr lang="fr" b="1" dirty="0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fr" dirty="0" err="1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HelloWorld</a:t>
            </a:r>
            <a:r>
              <a:rPr lang="fr" dirty="0">
                <a:solidFill>
                  <a:schemeClr val="dk1"/>
                </a:solidFill>
              </a:rPr>
              <a:t>,</a:t>
            </a:r>
            <a:br>
              <a:rPr lang="fr" dirty="0">
                <a:solidFill>
                  <a:schemeClr val="dk1"/>
                </a:solidFill>
              </a:rPr>
            </a:br>
            <a:r>
              <a:rPr lang="fr" dirty="0">
                <a:solidFill>
                  <a:schemeClr val="dk1"/>
                </a:solidFill>
              </a:rPr>
              <a:t>rediriger l’erreur standard dans le fichier </a:t>
            </a:r>
            <a:r>
              <a:rPr lang="fr" dirty="0">
                <a:solidFill>
                  <a:schemeClr val="dk1"/>
                </a:solidFill>
                <a:highlight>
                  <a:srgbClr val="F4CCCC"/>
                </a:highlight>
                <a:latin typeface="Courier New"/>
                <a:ea typeface="Courier New"/>
                <a:cs typeface="Courier New"/>
                <a:sym typeface="Courier New"/>
              </a:rPr>
              <a:t>~/exo4/</a:t>
            </a:r>
            <a:r>
              <a:rPr lang="fr" dirty="0" err="1">
                <a:solidFill>
                  <a:schemeClr val="dk1"/>
                </a:solidFill>
                <a:highlight>
                  <a:srgbClr val="F4CCCC"/>
                </a:highlight>
                <a:latin typeface="Courier New"/>
                <a:ea typeface="Courier New"/>
                <a:cs typeface="Courier New"/>
                <a:sym typeface="Courier New"/>
              </a:rPr>
              <a:t>HT.err</a:t>
            </a:r>
            <a:endParaRPr dirty="0">
              <a:solidFill>
                <a:schemeClr val="dk1"/>
              </a:solidFill>
              <a:highlight>
                <a:srgbClr val="F4CCC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fr" dirty="0">
                <a:solidFill>
                  <a:schemeClr val="dk1"/>
                </a:solidFill>
              </a:rPr>
              <a:t>Essayer d’écrire "</a:t>
            </a:r>
            <a:r>
              <a:rPr lang="fr" b="1" dirty="0">
                <a:solidFill>
                  <a:schemeClr val="dk1"/>
                </a:solidFill>
              </a:rPr>
              <a:t>Allo</a:t>
            </a:r>
            <a:r>
              <a:rPr lang="fr" dirty="0">
                <a:solidFill>
                  <a:schemeClr val="dk1"/>
                </a:solidFill>
              </a:rPr>
              <a:t>" dans le fichier</a:t>
            </a:r>
            <a:r>
              <a:rPr lang="fr" b="1" dirty="0">
                <a:solidFill>
                  <a:schemeClr val="dk1"/>
                </a:solidFill>
              </a:rPr>
              <a:t> </a:t>
            </a:r>
            <a:r>
              <a:rPr lang="fr" b="1" dirty="0">
                <a:solidFill>
                  <a:schemeClr val="dk1"/>
                </a:solidFill>
                <a:highlight>
                  <a:srgbClr val="00FF00"/>
                </a:highlight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fr" dirty="0">
                <a:solidFill>
                  <a:schemeClr val="dk1"/>
                </a:solidFill>
                <a:highlight>
                  <a:srgbClr val="00FF00"/>
                </a:highlight>
                <a:latin typeface="Courier New"/>
                <a:ea typeface="Courier New"/>
                <a:cs typeface="Courier New"/>
                <a:sym typeface="Courier New"/>
              </a:rPr>
              <a:t>bin/</a:t>
            </a:r>
            <a:r>
              <a:rPr lang="fr" dirty="0" err="1">
                <a:solidFill>
                  <a:schemeClr val="dk1"/>
                </a:solidFill>
                <a:highlight>
                  <a:srgbClr val="00FF00"/>
                </a:highlight>
                <a:latin typeface="Courier New"/>
                <a:ea typeface="Courier New"/>
                <a:cs typeface="Courier New"/>
                <a:sym typeface="Courier New"/>
              </a:rPr>
              <a:t>allo.txt</a:t>
            </a:r>
            <a:r>
              <a:rPr lang="fr" dirty="0">
                <a:solidFill>
                  <a:schemeClr val="dk1"/>
                </a:solidFill>
              </a:rPr>
              <a:t>, ajouter l’erreur au fichier  </a:t>
            </a:r>
            <a:r>
              <a:rPr lang="fr" dirty="0">
                <a:solidFill>
                  <a:schemeClr val="dk1"/>
                </a:solidFill>
                <a:highlight>
                  <a:srgbClr val="F4CCCC"/>
                </a:highlight>
                <a:latin typeface="Courier New"/>
                <a:ea typeface="Courier New"/>
                <a:cs typeface="Courier New"/>
                <a:sym typeface="Courier New"/>
              </a:rPr>
              <a:t>~/exo4/</a:t>
            </a:r>
            <a:r>
              <a:rPr lang="fr" dirty="0" err="1">
                <a:solidFill>
                  <a:schemeClr val="dk1"/>
                </a:solidFill>
                <a:highlight>
                  <a:srgbClr val="F4CCCC"/>
                </a:highlight>
                <a:latin typeface="Courier New"/>
                <a:ea typeface="Courier New"/>
                <a:cs typeface="Courier New"/>
                <a:sym typeface="Courier New"/>
              </a:rPr>
              <a:t>HT.err</a:t>
            </a:r>
            <a:endParaRPr dirty="0">
              <a:solidFill>
                <a:schemeClr val="dk1"/>
              </a:solidFill>
              <a:highlight>
                <a:srgbClr val="F4CCC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fr" dirty="0"/>
            </a:br>
            <a:br>
              <a:rPr lang="fr" dirty="0"/>
            </a:br>
            <a:br>
              <a:rPr lang="fr" dirty="0"/>
            </a:br>
            <a:endParaRPr dirty="0"/>
          </a:p>
        </p:txBody>
      </p:sp>
      <p:sp>
        <p:nvSpPr>
          <p:cNvPr id="1276" name="Google Shape;1276;p56"/>
          <p:cNvSpPr txBox="1"/>
          <p:nvPr/>
        </p:nvSpPr>
        <p:spPr>
          <a:xfrm>
            <a:off x="315925" y="2881325"/>
            <a:ext cx="8827800" cy="21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 dirty="0"/>
              <a:t>Partie 2. </a:t>
            </a:r>
            <a:r>
              <a:rPr lang="fr" dirty="0"/>
              <a:t>Les séquences biologiques sont stockées dans dans des fichiers FASTA dont la structure est représentée ci-dessus. En utilisant le fichier </a:t>
            </a:r>
            <a:r>
              <a:rPr lang="fr" b="1" dirty="0">
                <a:highlight>
                  <a:srgbClr val="00FFFF"/>
                </a:highlight>
                <a:latin typeface="Courier New"/>
                <a:ea typeface="Courier New"/>
                <a:cs typeface="Courier New"/>
                <a:sym typeface="Courier New"/>
              </a:rPr>
              <a:t>~/exo4/</a:t>
            </a:r>
            <a:r>
              <a:rPr lang="fr" b="1" dirty="0" err="1">
                <a:highlight>
                  <a:srgbClr val="00FFFF"/>
                </a:highlight>
                <a:latin typeface="Courier New"/>
                <a:ea typeface="Courier New"/>
                <a:cs typeface="Courier New"/>
                <a:sym typeface="Courier New"/>
              </a:rPr>
              <a:t>sample_swissprot.fa</a:t>
            </a:r>
            <a:r>
              <a:rPr lang="fr" dirty="0"/>
              <a:t>, répondez aux questions suivantes.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fr" dirty="0"/>
              <a:t>Combien de séquences contient ce fichier ?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fr" dirty="0"/>
              <a:t>Combien de séquences sont des séquences appartenant à l’homme </a:t>
            </a:r>
            <a:r>
              <a:rPr lang="fr" i="1" dirty="0"/>
              <a:t>(OS=Homo sapiens)</a:t>
            </a:r>
            <a:r>
              <a:rPr lang="fr" dirty="0"/>
              <a:t> ?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fr" dirty="0"/>
              <a:t>Dans un fichier </a:t>
            </a:r>
            <a:r>
              <a:rPr lang="fr" dirty="0" err="1">
                <a:highlight>
                  <a:srgbClr val="00FF00"/>
                </a:highlight>
                <a:latin typeface="Courier New"/>
                <a:ea typeface="Courier New"/>
                <a:cs typeface="Courier New"/>
                <a:sym typeface="Courier New"/>
              </a:rPr>
              <a:t>header.txt</a:t>
            </a:r>
            <a:r>
              <a:rPr lang="fr" dirty="0"/>
              <a:t>, inscrivez la liste des entêtes des séquences.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fr" dirty="0"/>
              <a:t>Dans le fichier </a:t>
            </a:r>
            <a:r>
              <a:rPr lang="fr" dirty="0" err="1">
                <a:highlight>
                  <a:srgbClr val="00FF00"/>
                </a:highlight>
                <a:latin typeface="Courier New"/>
                <a:ea typeface="Courier New"/>
                <a:cs typeface="Courier New"/>
                <a:sym typeface="Courier New"/>
              </a:rPr>
              <a:t>gene.fa</a:t>
            </a:r>
            <a:r>
              <a:rPr lang="fr" dirty="0"/>
              <a:t>, stockez la séquence </a:t>
            </a:r>
            <a:r>
              <a:rPr lang="fr" dirty="0" err="1"/>
              <a:t>fasta</a:t>
            </a:r>
            <a:r>
              <a:rPr lang="fr" dirty="0"/>
              <a:t> (header + séquence) du gène </a:t>
            </a:r>
            <a:r>
              <a:rPr lang="fr" b="1" dirty="0"/>
              <a:t>CDIA_ENTCC</a:t>
            </a:r>
            <a:endParaRPr b="1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fr" dirty="0"/>
              <a:t>Cherchez les séquences qui ont le motif protéique "</a:t>
            </a:r>
            <a:r>
              <a:rPr lang="fr" b="1" dirty="0"/>
              <a:t>TATA</a:t>
            </a:r>
            <a:r>
              <a:rPr lang="fr" dirty="0"/>
              <a:t>", inscrivez leurs headers dans le fichier </a:t>
            </a:r>
            <a:r>
              <a:rPr lang="fr" dirty="0" err="1">
                <a:highlight>
                  <a:srgbClr val="00FF00"/>
                </a:highlight>
                <a:latin typeface="Courier New"/>
                <a:ea typeface="Courier New"/>
                <a:cs typeface="Courier New"/>
                <a:sym typeface="Courier New"/>
              </a:rPr>
              <a:t>tata_header.txt</a:t>
            </a:r>
            <a:endParaRPr dirty="0">
              <a:highlight>
                <a:srgbClr val="00FF00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77" name="Google Shape;1277;p56"/>
          <p:cNvSpPr txBox="1">
            <a:spLocks noGrp="1"/>
          </p:cNvSpPr>
          <p:nvPr>
            <p:ph type="sldNum" idx="12"/>
          </p:nvPr>
        </p:nvSpPr>
        <p:spPr>
          <a:xfrm>
            <a:off x="8625000" y="4939350"/>
            <a:ext cx="519000" cy="2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38</a:t>
            </a:fld>
            <a:endParaRPr/>
          </a:p>
        </p:txBody>
      </p:sp>
      <p:sp>
        <p:nvSpPr>
          <p:cNvPr id="1278" name="Google Shape;1278;p56"/>
          <p:cNvSpPr txBox="1"/>
          <p:nvPr/>
        </p:nvSpPr>
        <p:spPr>
          <a:xfrm>
            <a:off x="5840425" y="868550"/>
            <a:ext cx="3190800" cy="139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 dirty="0">
                <a:latin typeface="Courier New"/>
                <a:ea typeface="Courier New"/>
                <a:cs typeface="Courier New"/>
                <a:sym typeface="Courier New"/>
              </a:rPr>
              <a:t>&gt;seq_1 (header, </a:t>
            </a:r>
            <a:r>
              <a:rPr lang="fr" sz="11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....)</a:t>
            </a:r>
            <a:endParaRPr sz="11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 dirty="0">
                <a:latin typeface="Courier New"/>
                <a:ea typeface="Courier New"/>
                <a:cs typeface="Courier New"/>
                <a:sym typeface="Courier New"/>
              </a:rPr>
              <a:t>ATCGGTACTCTGATCTAGCTAGCTATCGCTGCTAGATCTCTTCTATCTATCATCAT</a:t>
            </a:r>
            <a:endParaRPr sz="11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 dirty="0">
                <a:latin typeface="Courier New"/>
                <a:ea typeface="Courier New"/>
                <a:cs typeface="Courier New"/>
                <a:sym typeface="Courier New"/>
              </a:rPr>
              <a:t>&gt;seq_2 (header, ....)</a:t>
            </a:r>
            <a:endParaRPr sz="11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 dirty="0">
                <a:latin typeface="Courier New"/>
                <a:ea typeface="Courier New"/>
                <a:cs typeface="Courier New"/>
                <a:sym typeface="Courier New"/>
              </a:rPr>
              <a:t>ATCTGCTGCTAGCTAGCTATGCATCAGATCGGATATTGTCGATGCTAGTCGATATAT</a:t>
            </a:r>
            <a:endParaRPr sz="11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 dirty="0"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sz="1100" dirty="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79" name="Google Shape;1279;p56"/>
          <p:cNvSpPr txBox="1"/>
          <p:nvPr/>
        </p:nvSpPr>
        <p:spPr>
          <a:xfrm>
            <a:off x="0" y="706625"/>
            <a:ext cx="7164300" cy="6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>
                <a:solidFill>
                  <a:schemeClr val="dk1"/>
                </a:solidFill>
              </a:rPr>
              <a:t>Dans le terminal, tapez la ligne: </a:t>
            </a:r>
            <a:r>
              <a:rPr lang="fr" b="1" dirty="0">
                <a:solidFill>
                  <a:srgbClr val="00FF00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/home/public/linux/exo4.sh</a:t>
            </a:r>
            <a:endParaRPr b="1" dirty="0">
              <a:solidFill>
                <a:srgbClr val="00FF00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0F8CEA-1383-634F-8C03-9DBAFB494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rgbClr val="56FF00"/>
                </a:solidFill>
              </a:rPr>
              <a:t>Questions CC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0FC8224-100B-B04D-A0FD-BEAF2785B2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Clr>
                <a:srgbClr val="56FF00"/>
              </a:buClr>
              <a:buNone/>
            </a:pPr>
            <a:r>
              <a:rPr lang="fr-FR" sz="1300" b="1" dirty="0">
                <a:solidFill>
                  <a:srgbClr val="56FF00"/>
                </a:solidFill>
                <a:latin typeface="+mn-lt"/>
              </a:rPr>
              <a:t>Donnez les commandes pour répondre aux questions suivantes:</a:t>
            </a:r>
          </a:p>
          <a:p>
            <a:pPr marL="342900" indent="-228600">
              <a:buClr>
                <a:srgbClr val="56FF00"/>
              </a:buClr>
              <a:buFont typeface="+mj-lt"/>
              <a:buAutoNum type="arabicPeriod"/>
            </a:pPr>
            <a:r>
              <a:rPr lang="fr-FR" sz="1300" dirty="0">
                <a:solidFill>
                  <a:srgbClr val="56FF00"/>
                </a:solidFill>
                <a:latin typeface="+mn-lt"/>
              </a:rPr>
              <a:t> A partir de votre home, déplacez-vous dans le répertoire </a:t>
            </a:r>
            <a:r>
              <a:rPr lang="fr" sz="1300" b="1" dirty="0">
                <a:highlight>
                  <a:srgbClr val="00FFFF"/>
                </a:highlight>
                <a:latin typeface="+mn-lt"/>
                <a:ea typeface="Courier New"/>
                <a:cs typeface="Courier New"/>
                <a:sym typeface="Courier New"/>
              </a:rPr>
              <a:t>~/exo2/</a:t>
            </a:r>
            <a:r>
              <a:rPr lang="fr" sz="1300" b="1" dirty="0">
                <a:latin typeface="+mn-lt"/>
                <a:ea typeface="Courier New"/>
                <a:cs typeface="Courier New"/>
                <a:sym typeface="Courier New"/>
              </a:rPr>
              <a:t>, </a:t>
            </a:r>
            <a:r>
              <a:rPr lang="fr" sz="1300" dirty="0">
                <a:solidFill>
                  <a:srgbClr val="56FF00"/>
                </a:solidFill>
                <a:latin typeface="+mn-lt"/>
                <a:ea typeface="Courier New"/>
                <a:cs typeface="Courier New"/>
                <a:sym typeface="Courier New"/>
              </a:rPr>
              <a:t>quel est le chemin absolu du votre répertoire courant?</a:t>
            </a:r>
          </a:p>
          <a:p>
            <a:pPr marL="342900" indent="-228600">
              <a:buClr>
                <a:srgbClr val="56FF00"/>
              </a:buClr>
              <a:buFont typeface="+mj-lt"/>
              <a:buAutoNum type="arabicPeriod"/>
            </a:pPr>
            <a:r>
              <a:rPr lang="fr-FR" sz="1300" dirty="0">
                <a:solidFill>
                  <a:srgbClr val="56FF00"/>
                </a:solidFill>
                <a:latin typeface="+mn-lt"/>
              </a:rPr>
              <a:t>Combien il y a de fichiers dans le répertoire </a:t>
            </a:r>
            <a:r>
              <a:rPr lang="fr" sz="1300" b="1" dirty="0">
                <a:highlight>
                  <a:srgbClr val="00FFFF"/>
                </a:highlight>
                <a:latin typeface="+mn-lt"/>
                <a:ea typeface="Courier New"/>
                <a:cs typeface="Courier New"/>
                <a:sym typeface="Courier New"/>
              </a:rPr>
              <a:t>~/exo2/</a:t>
            </a:r>
            <a:r>
              <a:rPr lang="fr-FR" sz="1300" dirty="0">
                <a:solidFill>
                  <a:srgbClr val="56FF00"/>
                </a:solidFill>
              </a:rPr>
              <a:t>?</a:t>
            </a:r>
            <a:endParaRPr lang="fr" sz="1300" b="1" dirty="0">
              <a:latin typeface="+mn-lt"/>
              <a:ea typeface="Courier New"/>
              <a:cs typeface="Courier New"/>
              <a:sym typeface="Courier New"/>
            </a:endParaRPr>
          </a:p>
          <a:p>
            <a:pPr marL="342900" indent="-228600">
              <a:buClr>
                <a:srgbClr val="56FF00"/>
              </a:buClr>
              <a:buFont typeface="+mj-lt"/>
              <a:buAutoNum type="arabicPeriod"/>
            </a:pPr>
            <a:r>
              <a:rPr lang="fr-FR" sz="1300" dirty="0">
                <a:solidFill>
                  <a:srgbClr val="56FF00"/>
                </a:solidFill>
                <a:latin typeface="+mn-lt"/>
              </a:rPr>
              <a:t>A partir du fichier </a:t>
            </a:r>
            <a:r>
              <a:rPr lang="fr" sz="1300" b="1" dirty="0">
                <a:highlight>
                  <a:srgbClr val="00FFFF"/>
                </a:highlight>
                <a:latin typeface="+mn-lt"/>
                <a:ea typeface="Courier New"/>
                <a:cs typeface="Courier New"/>
                <a:sym typeface="Courier New"/>
              </a:rPr>
              <a:t>~/exo3/</a:t>
            </a:r>
            <a:r>
              <a:rPr lang="fr" sz="1300" b="1" dirty="0" err="1">
                <a:highlight>
                  <a:srgbClr val="00FFFF"/>
                </a:highlight>
                <a:latin typeface="+mn-lt"/>
                <a:ea typeface="Courier New"/>
                <a:cs typeface="Courier New"/>
                <a:sym typeface="Courier New"/>
              </a:rPr>
              <a:t>fruit.tsv</a:t>
            </a:r>
            <a:r>
              <a:rPr lang="fr-FR" sz="1300" dirty="0">
                <a:solidFill>
                  <a:srgbClr val="56FF00"/>
                </a:solidFill>
                <a:latin typeface="+mn-lt"/>
              </a:rPr>
              <a:t> combien de type de fruits différents sont Rouge ?</a:t>
            </a:r>
            <a:endParaRPr lang="fr" sz="1300" b="1" dirty="0">
              <a:highlight>
                <a:srgbClr val="00FFFF"/>
              </a:highlight>
              <a:latin typeface="+mn-lt"/>
              <a:ea typeface="Courier New"/>
              <a:cs typeface="Courier New"/>
              <a:sym typeface="Courier New"/>
            </a:endParaRPr>
          </a:p>
          <a:p>
            <a:pPr marL="114300" indent="0">
              <a:buNone/>
            </a:pPr>
            <a:endParaRPr lang="fr-FR" sz="1300" dirty="0">
              <a:solidFill>
                <a:srgbClr val="56FF00"/>
              </a:solidFill>
              <a:latin typeface="+mn-lt"/>
            </a:endParaRPr>
          </a:p>
          <a:p>
            <a:pPr marL="114300" indent="0">
              <a:buNone/>
            </a:pPr>
            <a:r>
              <a:rPr lang="fr-FR" sz="1300" dirty="0">
                <a:solidFill>
                  <a:srgbClr val="56FF00"/>
                </a:solidFill>
                <a:latin typeface="+mn-lt"/>
              </a:rPr>
              <a:t>(English)</a:t>
            </a:r>
          </a:p>
          <a:p>
            <a:pPr marL="114300" indent="0">
              <a:buNone/>
            </a:pPr>
            <a:r>
              <a:rPr lang="fr-FR" sz="1300" b="1" dirty="0" err="1">
                <a:solidFill>
                  <a:srgbClr val="56FF00"/>
                </a:solidFill>
                <a:latin typeface="+mn-lt"/>
              </a:rPr>
              <a:t>Give</a:t>
            </a:r>
            <a:r>
              <a:rPr lang="fr-FR" sz="1300" b="1" dirty="0">
                <a:solidFill>
                  <a:srgbClr val="56FF00"/>
                </a:solidFill>
                <a:latin typeface="+mn-lt"/>
              </a:rPr>
              <a:t> the </a:t>
            </a:r>
            <a:r>
              <a:rPr lang="fr-FR" sz="1300" b="1" dirty="0" err="1">
                <a:solidFill>
                  <a:srgbClr val="56FF00"/>
                </a:solidFill>
                <a:latin typeface="+mn-lt"/>
              </a:rPr>
              <a:t>commands</a:t>
            </a:r>
            <a:r>
              <a:rPr lang="fr-FR" sz="1300" b="1" dirty="0">
                <a:solidFill>
                  <a:srgbClr val="56FF00"/>
                </a:solidFill>
                <a:latin typeface="+mn-lt"/>
              </a:rPr>
              <a:t> to </a:t>
            </a:r>
            <a:r>
              <a:rPr lang="fr-FR" sz="1300" b="1" dirty="0" err="1">
                <a:solidFill>
                  <a:srgbClr val="56FF00"/>
                </a:solidFill>
                <a:latin typeface="+mn-lt"/>
              </a:rPr>
              <a:t>answer</a:t>
            </a:r>
            <a:r>
              <a:rPr lang="fr-FR" sz="1300" b="1" dirty="0">
                <a:solidFill>
                  <a:srgbClr val="56FF00"/>
                </a:solidFill>
                <a:latin typeface="+mn-lt"/>
              </a:rPr>
              <a:t> the </a:t>
            </a:r>
            <a:r>
              <a:rPr lang="fr-FR" sz="1300" b="1" dirty="0" err="1">
                <a:solidFill>
                  <a:srgbClr val="56FF00"/>
                </a:solidFill>
                <a:latin typeface="+mn-lt"/>
              </a:rPr>
              <a:t>following</a:t>
            </a:r>
            <a:r>
              <a:rPr lang="fr-FR" sz="1300" b="1" dirty="0">
                <a:solidFill>
                  <a:srgbClr val="56FF00"/>
                </a:solidFill>
                <a:latin typeface="+mn-lt"/>
              </a:rPr>
              <a:t> questions:</a:t>
            </a:r>
          </a:p>
          <a:p>
            <a:pPr>
              <a:buClr>
                <a:srgbClr val="56FF00"/>
              </a:buClr>
              <a:buFont typeface="+mj-lt"/>
              <a:buAutoNum type="arabicPeriod"/>
            </a:pPr>
            <a:r>
              <a:rPr lang="fr-FR" sz="1300" dirty="0" err="1">
                <a:solidFill>
                  <a:srgbClr val="56FF00"/>
                </a:solidFill>
                <a:latin typeface="+mn-lt"/>
              </a:rPr>
              <a:t>From</a:t>
            </a:r>
            <a:r>
              <a:rPr lang="fr-FR" sz="1300" dirty="0">
                <a:solidFill>
                  <a:srgbClr val="56FF00"/>
                </a:solidFill>
                <a:latin typeface="+mn-lt"/>
              </a:rPr>
              <a:t> </a:t>
            </a:r>
            <a:r>
              <a:rPr lang="fr-FR" sz="1300" dirty="0" err="1">
                <a:solidFill>
                  <a:srgbClr val="56FF00"/>
                </a:solidFill>
                <a:latin typeface="+mn-lt"/>
              </a:rPr>
              <a:t>your</a:t>
            </a:r>
            <a:r>
              <a:rPr lang="fr-FR" sz="1300" dirty="0">
                <a:solidFill>
                  <a:srgbClr val="56FF00"/>
                </a:solidFill>
                <a:latin typeface="+mn-lt"/>
              </a:rPr>
              <a:t> home, move to the </a:t>
            </a:r>
            <a:r>
              <a:rPr lang="fr" sz="1300" b="1" dirty="0">
                <a:highlight>
                  <a:srgbClr val="00FFFF"/>
                </a:highlight>
                <a:latin typeface="+mn-lt"/>
                <a:ea typeface="Courier New"/>
                <a:cs typeface="Courier New"/>
                <a:sym typeface="Courier New"/>
              </a:rPr>
              <a:t>~/exo2/</a:t>
            </a:r>
            <a:r>
              <a:rPr lang="fr" sz="1300" b="1" dirty="0">
                <a:latin typeface="+mn-lt"/>
                <a:ea typeface="Courier New"/>
                <a:cs typeface="Courier New"/>
                <a:sym typeface="Courier New"/>
              </a:rPr>
              <a:t> </a:t>
            </a:r>
            <a:r>
              <a:rPr lang="fr-FR" sz="1300" dirty="0">
                <a:solidFill>
                  <a:srgbClr val="56FF00"/>
                </a:solidFill>
                <a:latin typeface="+mn-lt"/>
              </a:rPr>
              <a:t>directory, </a:t>
            </a:r>
            <a:r>
              <a:rPr lang="fr-FR" sz="1300" dirty="0" err="1">
                <a:solidFill>
                  <a:srgbClr val="56FF00"/>
                </a:solidFill>
                <a:latin typeface="+mn-lt"/>
              </a:rPr>
              <a:t>what</a:t>
            </a:r>
            <a:r>
              <a:rPr lang="fr-FR" sz="1300" dirty="0">
                <a:solidFill>
                  <a:srgbClr val="56FF00"/>
                </a:solidFill>
                <a:latin typeface="+mn-lt"/>
              </a:rPr>
              <a:t> </a:t>
            </a:r>
            <a:r>
              <a:rPr lang="fr-FR" sz="1300" dirty="0" err="1">
                <a:solidFill>
                  <a:srgbClr val="56FF00"/>
                </a:solidFill>
                <a:latin typeface="+mn-lt"/>
              </a:rPr>
              <a:t>is</a:t>
            </a:r>
            <a:r>
              <a:rPr lang="fr-FR" sz="1300" dirty="0">
                <a:solidFill>
                  <a:srgbClr val="56FF00"/>
                </a:solidFill>
                <a:latin typeface="+mn-lt"/>
              </a:rPr>
              <a:t> the </a:t>
            </a:r>
            <a:r>
              <a:rPr lang="fr-FR" sz="1300" dirty="0" err="1">
                <a:solidFill>
                  <a:srgbClr val="56FF00"/>
                </a:solidFill>
                <a:latin typeface="+mn-lt"/>
              </a:rPr>
              <a:t>absolute</a:t>
            </a:r>
            <a:r>
              <a:rPr lang="fr-FR" sz="1300" dirty="0">
                <a:solidFill>
                  <a:srgbClr val="56FF00"/>
                </a:solidFill>
                <a:latin typeface="+mn-lt"/>
              </a:rPr>
              <a:t> </a:t>
            </a:r>
            <a:r>
              <a:rPr lang="fr-FR" sz="1300" dirty="0" err="1">
                <a:solidFill>
                  <a:srgbClr val="56FF00"/>
                </a:solidFill>
                <a:latin typeface="+mn-lt"/>
              </a:rPr>
              <a:t>path</a:t>
            </a:r>
            <a:r>
              <a:rPr lang="fr-FR" sz="1300" dirty="0">
                <a:solidFill>
                  <a:srgbClr val="56FF00"/>
                </a:solidFill>
                <a:latin typeface="+mn-lt"/>
              </a:rPr>
              <a:t> to </a:t>
            </a:r>
            <a:r>
              <a:rPr lang="fr-FR" sz="1300" dirty="0" err="1">
                <a:solidFill>
                  <a:srgbClr val="56FF00"/>
                </a:solidFill>
                <a:latin typeface="+mn-lt"/>
              </a:rPr>
              <a:t>your</a:t>
            </a:r>
            <a:r>
              <a:rPr lang="fr-FR" sz="1300" dirty="0">
                <a:solidFill>
                  <a:srgbClr val="56FF00"/>
                </a:solidFill>
                <a:latin typeface="+mn-lt"/>
              </a:rPr>
              <a:t> </a:t>
            </a:r>
            <a:r>
              <a:rPr lang="fr-FR" sz="1300" dirty="0" err="1">
                <a:solidFill>
                  <a:srgbClr val="56FF00"/>
                </a:solidFill>
                <a:latin typeface="+mn-lt"/>
              </a:rPr>
              <a:t>current</a:t>
            </a:r>
            <a:r>
              <a:rPr lang="fr-FR" sz="1300" dirty="0">
                <a:solidFill>
                  <a:srgbClr val="56FF00"/>
                </a:solidFill>
                <a:latin typeface="+mn-lt"/>
              </a:rPr>
              <a:t> directory?</a:t>
            </a:r>
          </a:p>
          <a:p>
            <a:pPr>
              <a:buClr>
                <a:srgbClr val="56FF00"/>
              </a:buClr>
              <a:buFont typeface="+mj-lt"/>
              <a:buAutoNum type="arabicPeriod"/>
            </a:pPr>
            <a:r>
              <a:rPr lang="fr-FR" sz="1300" dirty="0">
                <a:solidFill>
                  <a:srgbClr val="56FF00"/>
                </a:solidFill>
                <a:latin typeface="+mn-lt"/>
              </a:rPr>
              <a:t>How </a:t>
            </a:r>
            <a:r>
              <a:rPr lang="fr-FR" sz="1300" dirty="0" err="1">
                <a:solidFill>
                  <a:srgbClr val="56FF00"/>
                </a:solidFill>
                <a:latin typeface="+mn-lt"/>
              </a:rPr>
              <a:t>many</a:t>
            </a:r>
            <a:r>
              <a:rPr lang="fr-FR" sz="1300" dirty="0">
                <a:solidFill>
                  <a:srgbClr val="56FF00"/>
                </a:solidFill>
                <a:latin typeface="+mn-lt"/>
              </a:rPr>
              <a:t> files are in the </a:t>
            </a:r>
            <a:r>
              <a:rPr lang="fr" sz="1300" b="1" dirty="0">
                <a:highlight>
                  <a:srgbClr val="00FFFF"/>
                </a:highlight>
                <a:latin typeface="+mn-lt"/>
                <a:ea typeface="Courier New"/>
                <a:cs typeface="Courier New"/>
                <a:sym typeface="Courier New"/>
              </a:rPr>
              <a:t>~/exo2/</a:t>
            </a:r>
            <a:r>
              <a:rPr lang="fr-FR" sz="1300" dirty="0">
                <a:solidFill>
                  <a:srgbClr val="56FF00"/>
                </a:solidFill>
                <a:latin typeface="+mn-lt"/>
              </a:rPr>
              <a:t> directory?</a:t>
            </a:r>
          </a:p>
          <a:p>
            <a:pPr>
              <a:buClr>
                <a:srgbClr val="56FF00"/>
              </a:buClr>
              <a:buFont typeface="+mj-lt"/>
              <a:buAutoNum type="arabicPeriod"/>
            </a:pPr>
            <a:r>
              <a:rPr lang="fr-FR" sz="1300" dirty="0" err="1">
                <a:solidFill>
                  <a:srgbClr val="56FF00"/>
                </a:solidFill>
                <a:latin typeface="+mn-lt"/>
              </a:rPr>
              <a:t>From</a:t>
            </a:r>
            <a:r>
              <a:rPr lang="fr-FR" sz="1300" dirty="0">
                <a:solidFill>
                  <a:srgbClr val="56FF00"/>
                </a:solidFill>
                <a:latin typeface="+mn-lt"/>
              </a:rPr>
              <a:t> the file </a:t>
            </a:r>
            <a:r>
              <a:rPr lang="fr" sz="1300" b="1" dirty="0">
                <a:highlight>
                  <a:srgbClr val="00FFFF"/>
                </a:highlight>
                <a:latin typeface="+mn-lt"/>
                <a:ea typeface="Courier New"/>
                <a:cs typeface="Courier New"/>
                <a:sym typeface="Courier New"/>
              </a:rPr>
              <a:t>~/exo3/</a:t>
            </a:r>
            <a:r>
              <a:rPr lang="fr" sz="1300" b="1" dirty="0" err="1">
                <a:highlight>
                  <a:srgbClr val="00FFFF"/>
                </a:highlight>
                <a:latin typeface="+mn-lt"/>
                <a:ea typeface="Courier New"/>
                <a:cs typeface="Courier New"/>
                <a:sym typeface="Courier New"/>
              </a:rPr>
              <a:t>fruit.tsv</a:t>
            </a:r>
            <a:r>
              <a:rPr lang="fr-FR" sz="1300" dirty="0">
                <a:solidFill>
                  <a:srgbClr val="56FF00"/>
                </a:solidFill>
                <a:latin typeface="+mn-lt"/>
              </a:rPr>
              <a:t> how </a:t>
            </a:r>
            <a:r>
              <a:rPr lang="fr-FR" sz="1300" dirty="0" err="1">
                <a:solidFill>
                  <a:srgbClr val="56FF00"/>
                </a:solidFill>
                <a:latin typeface="+mn-lt"/>
              </a:rPr>
              <a:t>many</a:t>
            </a:r>
            <a:r>
              <a:rPr lang="fr-FR" sz="1300" dirty="0">
                <a:solidFill>
                  <a:srgbClr val="56FF00"/>
                </a:solidFill>
                <a:latin typeface="+mn-lt"/>
              </a:rPr>
              <a:t> </a:t>
            </a:r>
            <a:r>
              <a:rPr lang="fr-FR" sz="1300" dirty="0" err="1">
                <a:solidFill>
                  <a:srgbClr val="56FF00"/>
                </a:solidFill>
                <a:latin typeface="+mn-lt"/>
              </a:rPr>
              <a:t>different</a:t>
            </a:r>
            <a:r>
              <a:rPr lang="fr-FR" sz="1300" dirty="0">
                <a:solidFill>
                  <a:srgbClr val="56FF00"/>
                </a:solidFill>
                <a:latin typeface="+mn-lt"/>
              </a:rPr>
              <a:t> types of fruits are </a:t>
            </a:r>
            <a:r>
              <a:rPr lang="fr-FR" sz="1300" dirty="0" err="1">
                <a:solidFill>
                  <a:srgbClr val="56FF00"/>
                </a:solidFill>
                <a:latin typeface="+mn-lt"/>
              </a:rPr>
              <a:t>Red</a:t>
            </a:r>
            <a:r>
              <a:rPr lang="fr-FR" sz="1300" dirty="0">
                <a:solidFill>
                  <a:srgbClr val="56FF00"/>
                </a:solidFill>
                <a:latin typeface="+mn-lt"/>
              </a:rPr>
              <a:t>?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EB33E3C-0DD5-D44B-8A72-F9F1C5B0028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 smtClean="0"/>
              <a:t>39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0899261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9DAF8"/>
        </a:solidFill>
        <a:effectLst/>
      </p:bgPr>
    </p:bg>
    <p:spTree>
      <p:nvGrpSpPr>
        <p:cNvPr id="1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84" name="Google Shape;1284;p57"/>
          <p:cNvGraphicFramePr/>
          <p:nvPr/>
        </p:nvGraphicFramePr>
        <p:xfrm>
          <a:off x="6196925" y="1319700"/>
          <a:ext cx="2718675" cy="3398838"/>
        </p:xfrm>
        <a:graphic>
          <a:graphicData uri="http://schemas.openxmlformats.org/drawingml/2006/table">
            <a:tbl>
              <a:tblPr>
                <a:noFill/>
                <a:tableStyleId>{33B7DFEB-9B15-4894-83CC-29472E7CCF78}</a:tableStyleId>
              </a:tblPr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3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0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FRUIT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COULEUR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QUANTITE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Fraise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Rouge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10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Banane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Jaune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5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Abricot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Orange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4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ananas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Jaune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5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pomme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Rouge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7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Melon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Orange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1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Kiwi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Vert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2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Cerise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Rouge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3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Citron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Jaune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9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Citron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Vert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8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Framboise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Rouge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2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Raisin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Rouge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1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Prune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Rouge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1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Poire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Vert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8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Pasteque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Rouge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7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Orange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Orange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3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1285" name="Google Shape;1285;p57"/>
          <p:cNvSpPr txBox="1">
            <a:spLocks noGrp="1"/>
          </p:cNvSpPr>
          <p:nvPr>
            <p:ph type="title"/>
          </p:nvPr>
        </p:nvSpPr>
        <p:spPr>
          <a:xfrm>
            <a:off x="0" y="-11925"/>
            <a:ext cx="9143700" cy="7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4000" b="1">
                <a:solidFill>
                  <a:srgbClr val="1C4587"/>
                </a:solidFill>
                <a:latin typeface="Calibri"/>
                <a:ea typeface="Calibri"/>
                <a:cs typeface="Calibri"/>
                <a:sym typeface="Calibri"/>
              </a:rPr>
              <a:t>Exercice 5</a:t>
            </a:r>
            <a:endParaRPr sz="4000" b="1">
              <a:solidFill>
                <a:srgbClr val="1C458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6" name="Google Shape;1286;p57"/>
          <p:cNvSpPr/>
          <p:nvPr/>
        </p:nvSpPr>
        <p:spPr>
          <a:xfrm>
            <a:off x="0" y="665225"/>
            <a:ext cx="9143700" cy="41400"/>
          </a:xfrm>
          <a:prstGeom prst="rect">
            <a:avLst/>
          </a:prstGeom>
          <a:gradFill>
            <a:gsLst>
              <a:gs pos="0">
                <a:srgbClr val="1C4587"/>
              </a:gs>
              <a:gs pos="9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7" name="Google Shape;1287;p57"/>
          <p:cNvSpPr txBox="1"/>
          <p:nvPr/>
        </p:nvSpPr>
        <p:spPr>
          <a:xfrm>
            <a:off x="0" y="1290450"/>
            <a:ext cx="6197100" cy="25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fr" dirty="0"/>
              <a:t>A partir de </a:t>
            </a:r>
            <a:r>
              <a:rPr lang="fr" dirty="0" err="1">
                <a:highlight>
                  <a:srgbClr val="00FFFF"/>
                </a:highlight>
                <a:latin typeface="Courier New"/>
                <a:ea typeface="Courier New"/>
                <a:cs typeface="Courier New"/>
                <a:sym typeface="Courier New"/>
              </a:rPr>
              <a:t>fruit.tsv</a:t>
            </a:r>
            <a:r>
              <a:rPr lang="fr" dirty="0"/>
              <a:t>, afficher toutes les lignes, sauf l’entête et sauvegarder dans </a:t>
            </a:r>
            <a:r>
              <a:rPr lang="fr" dirty="0" err="1">
                <a:highlight>
                  <a:srgbClr val="00FF00"/>
                </a:highlight>
                <a:latin typeface="Courier New"/>
                <a:ea typeface="Courier New"/>
                <a:cs typeface="Courier New"/>
                <a:sym typeface="Courier New"/>
              </a:rPr>
              <a:t>fruit_no_header.tsv</a:t>
            </a:r>
            <a:endParaRPr dirty="0">
              <a:highlight>
                <a:srgbClr val="00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fr" dirty="0"/>
              <a:t>A partir de </a:t>
            </a:r>
            <a:r>
              <a:rPr lang="fr" dirty="0" err="1">
                <a:solidFill>
                  <a:schemeClr val="dk1"/>
                </a:solidFill>
                <a:highlight>
                  <a:srgbClr val="00FFFF"/>
                </a:highlight>
                <a:latin typeface="Courier New"/>
                <a:ea typeface="Courier New"/>
                <a:cs typeface="Courier New"/>
                <a:sym typeface="Courier New"/>
              </a:rPr>
              <a:t>fruit_no_header.tsv</a:t>
            </a:r>
            <a:r>
              <a:rPr lang="fr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fr" dirty="0">
                <a:solidFill>
                  <a:schemeClr val="dk1"/>
                </a:solidFill>
              </a:rPr>
              <a:t> afficher la colonne contenant les fruits.</a:t>
            </a:r>
            <a:endParaRPr dirty="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fr" dirty="0">
                <a:solidFill>
                  <a:schemeClr val="dk1"/>
                </a:solidFill>
              </a:rPr>
              <a:t>A partir de </a:t>
            </a:r>
            <a:r>
              <a:rPr lang="fr" dirty="0" err="1">
                <a:solidFill>
                  <a:schemeClr val="dk1"/>
                </a:solidFill>
                <a:highlight>
                  <a:srgbClr val="00FFFF"/>
                </a:highlight>
              </a:rPr>
              <a:t>f</a:t>
            </a:r>
            <a:r>
              <a:rPr lang="fr" dirty="0" err="1">
                <a:solidFill>
                  <a:schemeClr val="dk1"/>
                </a:solidFill>
                <a:highlight>
                  <a:srgbClr val="00FFFF"/>
                </a:highlight>
                <a:latin typeface="Courier New"/>
                <a:ea typeface="Courier New"/>
                <a:cs typeface="Courier New"/>
                <a:sym typeface="Courier New"/>
              </a:rPr>
              <a:t>ruit_no_header.tsv</a:t>
            </a:r>
            <a:r>
              <a:rPr lang="fr" dirty="0">
                <a:solidFill>
                  <a:schemeClr val="dk1"/>
                </a:solidFill>
              </a:rPr>
              <a:t>, afficher la liste des fruits triés par ordre alphabétique et sauvegarder dans </a:t>
            </a:r>
            <a:r>
              <a:rPr lang="fr" dirty="0" err="1">
                <a:solidFill>
                  <a:schemeClr val="dk1"/>
                </a:solidFill>
                <a:highlight>
                  <a:srgbClr val="00FF00"/>
                </a:highlight>
                <a:latin typeface="Courier New"/>
                <a:ea typeface="Courier New"/>
                <a:cs typeface="Courier New"/>
                <a:sym typeface="Courier New"/>
              </a:rPr>
              <a:t>fruit_sort_alpha.tsv</a:t>
            </a:r>
            <a:endParaRPr dirty="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fr" dirty="0">
                <a:solidFill>
                  <a:schemeClr val="dk1"/>
                </a:solidFill>
              </a:rPr>
              <a:t>A partir de </a:t>
            </a:r>
            <a:r>
              <a:rPr lang="fr" dirty="0" err="1">
                <a:solidFill>
                  <a:schemeClr val="dk1"/>
                </a:solidFill>
                <a:highlight>
                  <a:srgbClr val="00FFFF"/>
                </a:highlight>
              </a:rPr>
              <a:t>f</a:t>
            </a:r>
            <a:r>
              <a:rPr lang="fr" dirty="0" err="1">
                <a:solidFill>
                  <a:schemeClr val="dk1"/>
                </a:solidFill>
                <a:highlight>
                  <a:srgbClr val="00FFFF"/>
                </a:highlight>
                <a:latin typeface="Courier New"/>
                <a:ea typeface="Courier New"/>
                <a:cs typeface="Courier New"/>
                <a:sym typeface="Courier New"/>
              </a:rPr>
              <a:t>ruit_no_header.tsv</a:t>
            </a:r>
            <a:r>
              <a:rPr lang="fr" dirty="0">
                <a:solidFill>
                  <a:schemeClr val="dk1"/>
                </a:solidFill>
              </a:rPr>
              <a:t>, liste des fruits triés par ordre </a:t>
            </a:r>
            <a:r>
              <a:rPr lang="fr" dirty="0" err="1">
                <a:solidFill>
                  <a:schemeClr val="dk1"/>
                </a:solidFill>
              </a:rPr>
              <a:t>decroissant</a:t>
            </a:r>
            <a:r>
              <a:rPr lang="fr" dirty="0">
                <a:solidFill>
                  <a:schemeClr val="dk1"/>
                </a:solidFill>
              </a:rPr>
              <a:t> de quantité et sauvegarder dans </a:t>
            </a:r>
            <a:r>
              <a:rPr lang="fr" dirty="0" err="1">
                <a:solidFill>
                  <a:schemeClr val="dk1"/>
                </a:solidFill>
                <a:highlight>
                  <a:srgbClr val="00FF00"/>
                </a:highlight>
                <a:latin typeface="Courier New"/>
                <a:ea typeface="Courier New"/>
                <a:cs typeface="Courier New"/>
                <a:sym typeface="Courier New"/>
              </a:rPr>
              <a:t>fruit_sort_quant.tsv</a:t>
            </a:r>
            <a:endParaRPr b="1" dirty="0">
              <a:solidFill>
                <a:srgbClr val="FF0000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fr" dirty="0">
                <a:solidFill>
                  <a:schemeClr val="dk1"/>
                </a:solidFill>
              </a:rPr>
              <a:t>A partir de </a:t>
            </a:r>
            <a:r>
              <a:rPr lang="fr" dirty="0" err="1">
                <a:solidFill>
                  <a:schemeClr val="dk1"/>
                </a:solidFill>
                <a:highlight>
                  <a:srgbClr val="00FFFF"/>
                </a:highlight>
                <a:latin typeface="Courier New"/>
                <a:ea typeface="Courier New"/>
                <a:cs typeface="Courier New"/>
                <a:sym typeface="Courier New"/>
              </a:rPr>
              <a:t>fruit.tsv</a:t>
            </a:r>
            <a:r>
              <a:rPr lang="fr" dirty="0">
                <a:solidFill>
                  <a:schemeClr val="dk1"/>
                </a:solidFill>
              </a:rPr>
              <a:t>, remplacer </a:t>
            </a:r>
            <a:r>
              <a:rPr lang="fr" b="1" dirty="0">
                <a:solidFill>
                  <a:schemeClr val="dk1"/>
                </a:solidFill>
              </a:rPr>
              <a:t>Jaune</a:t>
            </a:r>
            <a:r>
              <a:rPr lang="fr" dirty="0">
                <a:solidFill>
                  <a:schemeClr val="dk1"/>
                </a:solidFill>
              </a:rPr>
              <a:t> par </a:t>
            </a:r>
            <a:r>
              <a:rPr lang="fr" b="1" dirty="0">
                <a:solidFill>
                  <a:schemeClr val="dk1"/>
                </a:solidFill>
              </a:rPr>
              <a:t>Vert</a:t>
            </a:r>
            <a:r>
              <a:rPr lang="fr" dirty="0">
                <a:solidFill>
                  <a:schemeClr val="dk1"/>
                </a:solidFill>
              </a:rPr>
              <a:t> et sauvegarder dans </a:t>
            </a:r>
            <a:r>
              <a:rPr lang="fr" dirty="0" err="1">
                <a:solidFill>
                  <a:schemeClr val="dk1"/>
                </a:solidFill>
                <a:highlight>
                  <a:srgbClr val="00FF00"/>
                </a:highlight>
              </a:rPr>
              <a:t>fruit_pas_murs.tsv</a:t>
            </a:r>
            <a:endParaRPr dirty="0">
              <a:solidFill>
                <a:schemeClr val="dk1"/>
              </a:solidFill>
              <a:highlight>
                <a:srgbClr val="00FF00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highlight>
                <a:srgbClr val="00FF00"/>
              </a:highlight>
            </a:endParaRPr>
          </a:p>
        </p:txBody>
      </p:sp>
      <p:sp>
        <p:nvSpPr>
          <p:cNvPr id="1288" name="Google Shape;1288;p57"/>
          <p:cNvSpPr txBox="1">
            <a:spLocks noGrp="1"/>
          </p:cNvSpPr>
          <p:nvPr>
            <p:ph type="sldNum" idx="12"/>
          </p:nvPr>
        </p:nvSpPr>
        <p:spPr>
          <a:xfrm>
            <a:off x="8625000" y="4939350"/>
            <a:ext cx="519000" cy="2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40</a:t>
            </a:fld>
            <a:endParaRPr/>
          </a:p>
        </p:txBody>
      </p:sp>
      <p:sp>
        <p:nvSpPr>
          <p:cNvPr id="1289" name="Google Shape;1289;p57"/>
          <p:cNvSpPr txBox="1"/>
          <p:nvPr/>
        </p:nvSpPr>
        <p:spPr>
          <a:xfrm>
            <a:off x="0" y="914400"/>
            <a:ext cx="3000000" cy="3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>
                <a:solidFill>
                  <a:schemeClr val="dk1"/>
                </a:solidFill>
              </a:rPr>
              <a:t>Partie 1.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9DAF8"/>
        </a:solidFill>
        <a:effectLst/>
      </p:bgPr>
    </p:bg>
    <p:spTree>
      <p:nvGrpSpPr>
        <p:cNvPr id="1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4" name="Google Shape;1294;p58"/>
          <p:cNvGraphicFramePr/>
          <p:nvPr/>
        </p:nvGraphicFramePr>
        <p:xfrm>
          <a:off x="6196925" y="1319700"/>
          <a:ext cx="2718675" cy="3398838"/>
        </p:xfrm>
        <a:graphic>
          <a:graphicData uri="http://schemas.openxmlformats.org/drawingml/2006/table">
            <a:tbl>
              <a:tblPr>
                <a:noFill/>
                <a:tableStyleId>{33B7DFEB-9B15-4894-83CC-29472E7CCF78}</a:tableStyleId>
              </a:tblPr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3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0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FRUIT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COULEUR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QUANTITE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Fraise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Rouge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10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Banane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Jaune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5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Abricot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Orange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4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ananas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Jaune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5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pomme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Rouge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7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Melon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Orange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1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Kiwi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Vert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2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Cerise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Rouge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3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Citron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Jaune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9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Citron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Vert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8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Framboise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Rouge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2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Raisin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Rouge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1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Prune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Rouge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1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Poire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Vert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8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Pasteque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Rouge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7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Orange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Orange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/>
                        <a:t>3</a:t>
                      </a:r>
                      <a:endParaRPr sz="1000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1295" name="Google Shape;1295;p58"/>
          <p:cNvSpPr txBox="1">
            <a:spLocks noGrp="1"/>
          </p:cNvSpPr>
          <p:nvPr>
            <p:ph type="title"/>
          </p:nvPr>
        </p:nvSpPr>
        <p:spPr>
          <a:xfrm>
            <a:off x="0" y="-11925"/>
            <a:ext cx="9143700" cy="7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4000" b="1">
                <a:solidFill>
                  <a:srgbClr val="1C4587"/>
                </a:solidFill>
                <a:latin typeface="Calibri"/>
                <a:ea typeface="Calibri"/>
                <a:cs typeface="Calibri"/>
                <a:sym typeface="Calibri"/>
              </a:rPr>
              <a:t>Exercice 5</a:t>
            </a:r>
            <a:endParaRPr sz="4000" b="1">
              <a:solidFill>
                <a:srgbClr val="1C458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6" name="Google Shape;1296;p58"/>
          <p:cNvSpPr/>
          <p:nvPr/>
        </p:nvSpPr>
        <p:spPr>
          <a:xfrm>
            <a:off x="0" y="665225"/>
            <a:ext cx="9143700" cy="41400"/>
          </a:xfrm>
          <a:prstGeom prst="rect">
            <a:avLst/>
          </a:prstGeom>
          <a:gradFill>
            <a:gsLst>
              <a:gs pos="0">
                <a:srgbClr val="1C4587"/>
              </a:gs>
              <a:gs pos="9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7" name="Google Shape;1297;p58"/>
          <p:cNvSpPr txBox="1"/>
          <p:nvPr/>
        </p:nvSpPr>
        <p:spPr>
          <a:xfrm>
            <a:off x="0" y="1290450"/>
            <a:ext cx="6197100" cy="3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>
                <a:solidFill>
                  <a:schemeClr val="dk1"/>
                </a:solidFill>
              </a:rPr>
              <a:t>Répondez aux requêtes suivantes en </a:t>
            </a:r>
            <a:r>
              <a:rPr lang="fr" b="1" dirty="0">
                <a:solidFill>
                  <a:schemeClr val="dk1"/>
                </a:solidFill>
              </a:rPr>
              <a:t>1 seule commande</a:t>
            </a:r>
            <a:r>
              <a:rPr lang="fr" dirty="0">
                <a:solidFill>
                  <a:schemeClr val="dk1"/>
                </a:solidFill>
              </a:rPr>
              <a:t> (avec pipe)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fr" dirty="0">
                <a:solidFill>
                  <a:schemeClr val="dk1"/>
                </a:solidFill>
              </a:rPr>
              <a:t>Afficher la </a:t>
            </a:r>
            <a:r>
              <a:rPr lang="fr" b="1" dirty="0">
                <a:solidFill>
                  <a:schemeClr val="dk1"/>
                </a:solidFill>
              </a:rPr>
              <a:t>liste de fruits</a:t>
            </a:r>
            <a:r>
              <a:rPr lang="fr" dirty="0">
                <a:solidFill>
                  <a:schemeClr val="dk1"/>
                </a:solidFill>
              </a:rPr>
              <a:t> qui commence par la lettre </a:t>
            </a:r>
            <a:r>
              <a:rPr lang="fr" b="1" dirty="0">
                <a:solidFill>
                  <a:schemeClr val="dk1"/>
                </a:solidFill>
              </a:rPr>
              <a:t>F</a:t>
            </a:r>
            <a:endParaRPr dirty="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fr" dirty="0">
                <a:solidFill>
                  <a:schemeClr val="dk1"/>
                </a:solidFill>
              </a:rPr>
              <a:t>Affichez uniquement les fruits </a:t>
            </a:r>
            <a:r>
              <a:rPr lang="fr" b="1" dirty="0"/>
              <a:t>Rouge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fr" dirty="0"/>
              <a:t>Comptez le nombre de fruit </a:t>
            </a:r>
            <a:r>
              <a:rPr lang="fr" b="1" dirty="0"/>
              <a:t>Orange</a:t>
            </a:r>
            <a:endParaRPr b="1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fr" dirty="0"/>
              <a:t>Affichez le fruit le plus abondant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fr" dirty="0"/>
              <a:t>Affichez la liste des fruits classés en ordre alphabétique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fr" dirty="0"/>
              <a:t>Affichez le fruit le plus abondant et sa quantité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fr" i="1" dirty="0"/>
              <a:t>Affichez les fruits dont la couleur ne se termine pas par un </a:t>
            </a:r>
            <a:r>
              <a:rPr lang="fr" b="1" i="1" dirty="0"/>
              <a:t>E</a:t>
            </a:r>
            <a:endParaRPr i="1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fr" i="1" dirty="0"/>
              <a:t>Affichez le nombre de couleurs différentes </a:t>
            </a:r>
            <a:r>
              <a:rPr lang="fr" b="1" i="1" dirty="0" err="1">
                <a:solidFill>
                  <a:srgbClr val="00FF00"/>
                </a:solidFill>
                <a:highlight>
                  <a:srgbClr val="000000"/>
                </a:highlight>
              </a:rPr>
              <a:t>uniq</a:t>
            </a:r>
            <a:r>
              <a:rPr lang="fr" i="1" dirty="0">
                <a:highlight>
                  <a:srgbClr val="000000"/>
                </a:highlight>
              </a:rPr>
              <a:t> </a:t>
            </a:r>
            <a:endParaRPr i="1" dirty="0"/>
          </a:p>
        </p:txBody>
      </p:sp>
      <p:sp>
        <p:nvSpPr>
          <p:cNvPr id="1298" name="Google Shape;1298;p58"/>
          <p:cNvSpPr txBox="1">
            <a:spLocks noGrp="1"/>
          </p:cNvSpPr>
          <p:nvPr>
            <p:ph type="sldNum" idx="12"/>
          </p:nvPr>
        </p:nvSpPr>
        <p:spPr>
          <a:xfrm>
            <a:off x="8625000" y="4939350"/>
            <a:ext cx="519000" cy="2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41</a:t>
            </a:fld>
            <a:endParaRPr/>
          </a:p>
        </p:txBody>
      </p:sp>
      <p:sp>
        <p:nvSpPr>
          <p:cNvPr id="1299" name="Google Shape;1299;p58"/>
          <p:cNvSpPr txBox="1"/>
          <p:nvPr/>
        </p:nvSpPr>
        <p:spPr>
          <a:xfrm>
            <a:off x="-7375" y="2996100"/>
            <a:ext cx="4287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*</a:t>
            </a:r>
            <a:endParaRPr/>
          </a:p>
        </p:txBody>
      </p:sp>
      <p:sp>
        <p:nvSpPr>
          <p:cNvPr id="1300" name="Google Shape;1300;p58"/>
          <p:cNvSpPr txBox="1"/>
          <p:nvPr/>
        </p:nvSpPr>
        <p:spPr>
          <a:xfrm>
            <a:off x="-7375" y="3207205"/>
            <a:ext cx="4287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*</a:t>
            </a:r>
            <a:endParaRPr/>
          </a:p>
        </p:txBody>
      </p:sp>
      <p:sp>
        <p:nvSpPr>
          <p:cNvPr id="1301" name="Google Shape;1301;p58"/>
          <p:cNvSpPr txBox="1"/>
          <p:nvPr/>
        </p:nvSpPr>
        <p:spPr>
          <a:xfrm>
            <a:off x="0" y="914400"/>
            <a:ext cx="3000000" cy="3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>
                <a:solidFill>
                  <a:schemeClr val="dk1"/>
                </a:solidFill>
              </a:rPr>
              <a:t>Partie 2.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CCCC"/>
        </a:solidFill>
        <a:effectLst/>
      </p:bgPr>
    </p:bg>
    <p:spTree>
      <p:nvGrpSpPr>
        <p:cNvPr id="1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Google Shape;1306;p59"/>
          <p:cNvSpPr txBox="1">
            <a:spLocks noGrp="1"/>
          </p:cNvSpPr>
          <p:nvPr>
            <p:ph type="sldNum" idx="12"/>
          </p:nvPr>
        </p:nvSpPr>
        <p:spPr>
          <a:xfrm>
            <a:off x="8625000" y="4939350"/>
            <a:ext cx="519000" cy="2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42</a:t>
            </a:fld>
            <a:endParaRPr/>
          </a:p>
        </p:txBody>
      </p:sp>
      <p:grpSp>
        <p:nvGrpSpPr>
          <p:cNvPr id="32" name="Google Shape;89;p20">
            <a:extLst>
              <a:ext uri="{FF2B5EF4-FFF2-40B4-BE49-F238E27FC236}">
                <a16:creationId xmlns:a16="http://schemas.microsoft.com/office/drawing/2014/main" id="{B720470E-6400-9A41-BAAC-ACD46D185F0E}"/>
              </a:ext>
            </a:extLst>
          </p:cNvPr>
          <p:cNvGrpSpPr/>
          <p:nvPr/>
        </p:nvGrpSpPr>
        <p:grpSpPr>
          <a:xfrm>
            <a:off x="387862" y="220776"/>
            <a:ext cx="8328791" cy="968148"/>
            <a:chOff x="420923" y="155682"/>
            <a:chExt cx="8328791" cy="1131939"/>
          </a:xfrm>
        </p:grpSpPr>
        <p:grpSp>
          <p:nvGrpSpPr>
            <p:cNvPr id="33" name="Google Shape;90;p20">
              <a:extLst>
                <a:ext uri="{FF2B5EF4-FFF2-40B4-BE49-F238E27FC236}">
                  <a16:creationId xmlns:a16="http://schemas.microsoft.com/office/drawing/2014/main" id="{30DCCB6D-AA15-084D-A504-EA9DF800A893}"/>
                </a:ext>
              </a:extLst>
            </p:cNvPr>
            <p:cNvGrpSpPr/>
            <p:nvPr/>
          </p:nvGrpSpPr>
          <p:grpSpPr>
            <a:xfrm>
              <a:off x="3502704" y="228141"/>
              <a:ext cx="5247010" cy="987029"/>
              <a:chOff x="809518" y="2237179"/>
              <a:chExt cx="5859307" cy="1203400"/>
            </a:xfrm>
          </p:grpSpPr>
          <p:sp>
            <p:nvSpPr>
              <p:cNvPr id="37" name="Google Shape;91;p20">
                <a:extLst>
                  <a:ext uri="{FF2B5EF4-FFF2-40B4-BE49-F238E27FC236}">
                    <a16:creationId xmlns:a16="http://schemas.microsoft.com/office/drawing/2014/main" id="{099D2DEC-B6D2-E945-A668-ECE05BAE7E11}"/>
                  </a:ext>
                </a:extLst>
              </p:cNvPr>
              <p:cNvSpPr/>
              <p:nvPr/>
            </p:nvSpPr>
            <p:spPr>
              <a:xfrm>
                <a:off x="809518" y="2237279"/>
                <a:ext cx="5859300" cy="12033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19050" cap="flat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92;p20">
                <a:extLst>
                  <a:ext uri="{FF2B5EF4-FFF2-40B4-BE49-F238E27FC236}">
                    <a16:creationId xmlns:a16="http://schemas.microsoft.com/office/drawing/2014/main" id="{AD8A25FF-AF56-524F-BFDD-3472BABE0265}"/>
                  </a:ext>
                </a:extLst>
              </p:cNvPr>
              <p:cNvSpPr txBox="1"/>
              <p:nvPr/>
            </p:nvSpPr>
            <p:spPr>
              <a:xfrm>
                <a:off x="809526" y="2237179"/>
                <a:ext cx="5859300" cy="120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1260000" lvl="0" indent="-3175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SzPts val="1400"/>
                  <a:buAutoNum type="arabicPeriod"/>
                </a:pPr>
                <a:r>
                  <a:rPr lang="fr" dirty="0"/>
                  <a:t>GUI / CLI</a:t>
                </a:r>
                <a:endParaRPr dirty="0"/>
              </a:p>
              <a:p>
                <a:pPr marL="1260000" lvl="0" indent="-3175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SzPts val="1400"/>
                  <a:buAutoNum type="arabicPeriod"/>
                </a:pPr>
                <a:r>
                  <a:rPr lang="fr" dirty="0"/>
                  <a:t>Anatomie d’une ligne de commande et Astuces</a:t>
                </a:r>
                <a:endParaRPr dirty="0"/>
              </a:p>
              <a:p>
                <a:pPr marL="1260000" lvl="0" indent="-3175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SzPts val="1400"/>
                  <a:buAutoNum type="arabicPeriod"/>
                </a:pPr>
                <a:r>
                  <a:rPr lang="fr" dirty="0"/>
                  <a:t>Mise en route</a:t>
                </a:r>
                <a:endParaRPr dirty="0"/>
              </a:p>
            </p:txBody>
          </p:sp>
        </p:grpSp>
        <p:grpSp>
          <p:nvGrpSpPr>
            <p:cNvPr id="34" name="Google Shape;93;p20">
              <a:extLst>
                <a:ext uri="{FF2B5EF4-FFF2-40B4-BE49-F238E27FC236}">
                  <a16:creationId xmlns:a16="http://schemas.microsoft.com/office/drawing/2014/main" id="{749B3B90-4487-E74D-B98E-60A268649C98}"/>
                </a:ext>
              </a:extLst>
            </p:cNvPr>
            <p:cNvGrpSpPr/>
            <p:nvPr/>
          </p:nvGrpSpPr>
          <p:grpSpPr>
            <a:xfrm>
              <a:off x="420923" y="155682"/>
              <a:ext cx="3412503" cy="1131939"/>
              <a:chOff x="1081650" y="533375"/>
              <a:chExt cx="6885600" cy="694825"/>
            </a:xfrm>
          </p:grpSpPr>
          <p:sp>
            <p:nvSpPr>
              <p:cNvPr id="35" name="Google Shape;94;p20">
                <a:extLst>
                  <a:ext uri="{FF2B5EF4-FFF2-40B4-BE49-F238E27FC236}">
                    <a16:creationId xmlns:a16="http://schemas.microsoft.com/office/drawing/2014/main" id="{FB5284B3-3C7C-3347-9FF3-E375F19D1282}"/>
                  </a:ext>
                </a:extLst>
              </p:cNvPr>
              <p:cNvSpPr/>
              <p:nvPr/>
            </p:nvSpPr>
            <p:spPr>
              <a:xfrm>
                <a:off x="1098450" y="533400"/>
                <a:ext cx="6852000" cy="694800"/>
              </a:xfrm>
              <a:prstGeom prst="roundRect">
                <a:avLst>
                  <a:gd name="adj" fmla="val 16667"/>
                </a:avLst>
              </a:prstGeom>
              <a:solidFill>
                <a:srgbClr val="C00000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36" name="Google Shape;95;p20">
                <a:extLst>
                  <a:ext uri="{FF2B5EF4-FFF2-40B4-BE49-F238E27FC236}">
                    <a16:creationId xmlns:a16="http://schemas.microsoft.com/office/drawing/2014/main" id="{560572F7-5825-D74D-8570-905CD02C14B6}"/>
                  </a:ext>
                </a:extLst>
              </p:cNvPr>
              <p:cNvSpPr txBox="1"/>
              <p:nvPr/>
            </p:nvSpPr>
            <p:spPr>
              <a:xfrm>
                <a:off x="1081650" y="533375"/>
                <a:ext cx="6885600" cy="6948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" sz="2800" b="1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Introduction</a:t>
                </a:r>
                <a:endParaRPr sz="28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9" name="Google Shape;96;p20">
            <a:extLst>
              <a:ext uri="{FF2B5EF4-FFF2-40B4-BE49-F238E27FC236}">
                <a16:creationId xmlns:a16="http://schemas.microsoft.com/office/drawing/2014/main" id="{44D66912-E3F3-1F4D-B28C-1A98C248B5F7}"/>
              </a:ext>
            </a:extLst>
          </p:cNvPr>
          <p:cNvGrpSpPr/>
          <p:nvPr/>
        </p:nvGrpSpPr>
        <p:grpSpPr>
          <a:xfrm>
            <a:off x="387862" y="1465376"/>
            <a:ext cx="8328791" cy="968148"/>
            <a:chOff x="420923" y="155682"/>
            <a:chExt cx="8328791" cy="1131939"/>
          </a:xfrm>
        </p:grpSpPr>
        <p:grpSp>
          <p:nvGrpSpPr>
            <p:cNvPr id="40" name="Google Shape;97;p20">
              <a:extLst>
                <a:ext uri="{FF2B5EF4-FFF2-40B4-BE49-F238E27FC236}">
                  <a16:creationId xmlns:a16="http://schemas.microsoft.com/office/drawing/2014/main" id="{BB53C766-8212-964E-B78C-37D0290AE138}"/>
                </a:ext>
              </a:extLst>
            </p:cNvPr>
            <p:cNvGrpSpPr/>
            <p:nvPr/>
          </p:nvGrpSpPr>
          <p:grpSpPr>
            <a:xfrm>
              <a:off x="3502704" y="228141"/>
              <a:ext cx="5247010" cy="987029"/>
              <a:chOff x="809518" y="2237179"/>
              <a:chExt cx="5859308" cy="1203400"/>
            </a:xfrm>
          </p:grpSpPr>
          <p:sp>
            <p:nvSpPr>
              <p:cNvPr id="44" name="Google Shape;98;p20">
                <a:extLst>
                  <a:ext uri="{FF2B5EF4-FFF2-40B4-BE49-F238E27FC236}">
                    <a16:creationId xmlns:a16="http://schemas.microsoft.com/office/drawing/2014/main" id="{0384BEAE-172B-2440-A6ED-541D115E62D3}"/>
                  </a:ext>
                </a:extLst>
              </p:cNvPr>
              <p:cNvSpPr/>
              <p:nvPr/>
            </p:nvSpPr>
            <p:spPr>
              <a:xfrm>
                <a:off x="809518" y="2237279"/>
                <a:ext cx="5859300" cy="12033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19050" cap="flat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99;p20">
                <a:extLst>
                  <a:ext uri="{FF2B5EF4-FFF2-40B4-BE49-F238E27FC236}">
                    <a16:creationId xmlns:a16="http://schemas.microsoft.com/office/drawing/2014/main" id="{41523154-92EC-5448-AC68-561A1BADE1AE}"/>
                  </a:ext>
                </a:extLst>
              </p:cNvPr>
              <p:cNvSpPr txBox="1"/>
              <p:nvPr/>
            </p:nvSpPr>
            <p:spPr>
              <a:xfrm>
                <a:off x="809526" y="2237179"/>
                <a:ext cx="5859300" cy="120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1260000" marR="0" lvl="0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Pts val="1200"/>
                  <a:buAutoNum type="arabicPeriod"/>
                </a:pPr>
                <a:r>
                  <a:rPr lang="fr" sz="1200" dirty="0"/>
                  <a:t>Structure de l’arborescence</a:t>
                </a:r>
                <a:endParaRPr sz="1200" dirty="0"/>
              </a:p>
              <a:p>
                <a:pPr marL="1260000" marR="0" lvl="0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Pts val="1200"/>
                  <a:buAutoNum type="arabicPeriod"/>
                </a:pPr>
                <a:r>
                  <a:rPr lang="fr" sz="1200" dirty="0"/>
                  <a:t>Chemins relatifs et absolus</a:t>
                </a:r>
                <a:endParaRPr sz="1200" dirty="0"/>
              </a:p>
              <a:p>
                <a:pPr marL="1260000" marR="0" lvl="0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Pts val="1200"/>
                  <a:buAutoNum type="arabicPeriod"/>
                </a:pPr>
                <a:r>
                  <a:rPr lang="fr" sz="1200" dirty="0"/>
                  <a:t>Commandes utiles : Déplacement             </a:t>
                </a:r>
                <a:r>
                  <a:rPr lang="fr" sz="1200" b="1" dirty="0">
                    <a:solidFill>
                      <a:srgbClr val="C00000"/>
                    </a:solidFill>
                  </a:rPr>
                  <a:t>Exercice 1</a:t>
                </a:r>
                <a:endParaRPr sz="1200" b="1" dirty="0">
                  <a:solidFill>
                    <a:srgbClr val="C00000"/>
                  </a:solidFill>
                </a:endParaRPr>
              </a:p>
              <a:p>
                <a:pPr marL="1260000" marR="0" lvl="0" indent="-3048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SzPts val="1200"/>
                  <a:buAutoNum type="arabicPeriod"/>
                </a:pPr>
                <a:r>
                  <a:rPr lang="fr" sz="1200" dirty="0" err="1"/>
                  <a:t>Métacaractères</a:t>
                </a:r>
                <a:r>
                  <a:rPr lang="fr" sz="1200" dirty="0"/>
                  <a:t>		          </a:t>
                </a:r>
                <a:r>
                  <a:rPr lang="fr" sz="1200" b="1" dirty="0">
                    <a:solidFill>
                      <a:srgbClr val="C00000"/>
                    </a:solidFill>
                  </a:rPr>
                  <a:t>Exercice 2</a:t>
                </a:r>
                <a:endParaRPr sz="1200" b="1" dirty="0">
                  <a:solidFill>
                    <a:srgbClr val="C00000"/>
                  </a:solidFill>
                </a:endParaRPr>
              </a:p>
            </p:txBody>
          </p:sp>
        </p:grpSp>
        <p:grpSp>
          <p:nvGrpSpPr>
            <p:cNvPr id="41" name="Google Shape;100;p20">
              <a:extLst>
                <a:ext uri="{FF2B5EF4-FFF2-40B4-BE49-F238E27FC236}">
                  <a16:creationId xmlns:a16="http://schemas.microsoft.com/office/drawing/2014/main" id="{53ECCF9D-D8B7-BC49-9187-A242EB2CE3D9}"/>
                </a:ext>
              </a:extLst>
            </p:cNvPr>
            <p:cNvGrpSpPr/>
            <p:nvPr/>
          </p:nvGrpSpPr>
          <p:grpSpPr>
            <a:xfrm>
              <a:off x="420923" y="155682"/>
              <a:ext cx="3412503" cy="1131939"/>
              <a:chOff x="1081650" y="533375"/>
              <a:chExt cx="6885600" cy="694825"/>
            </a:xfrm>
          </p:grpSpPr>
          <p:sp>
            <p:nvSpPr>
              <p:cNvPr id="42" name="Google Shape;101;p20">
                <a:extLst>
                  <a:ext uri="{FF2B5EF4-FFF2-40B4-BE49-F238E27FC236}">
                    <a16:creationId xmlns:a16="http://schemas.microsoft.com/office/drawing/2014/main" id="{6322C3D8-C91C-A84A-B0E2-5FE53E81DC5D}"/>
                  </a:ext>
                </a:extLst>
              </p:cNvPr>
              <p:cNvSpPr/>
              <p:nvPr/>
            </p:nvSpPr>
            <p:spPr>
              <a:xfrm>
                <a:off x="1098450" y="533400"/>
                <a:ext cx="6852000" cy="694800"/>
              </a:xfrm>
              <a:prstGeom prst="roundRect">
                <a:avLst>
                  <a:gd name="adj" fmla="val 16667"/>
                </a:avLst>
              </a:prstGeom>
              <a:solidFill>
                <a:srgbClr val="C00000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43" name="Google Shape;102;p20">
                <a:extLst>
                  <a:ext uri="{FF2B5EF4-FFF2-40B4-BE49-F238E27FC236}">
                    <a16:creationId xmlns:a16="http://schemas.microsoft.com/office/drawing/2014/main" id="{8ED3C502-FA58-C340-8575-6C2B695E8674}"/>
                  </a:ext>
                </a:extLst>
              </p:cNvPr>
              <p:cNvSpPr txBox="1"/>
              <p:nvPr/>
            </p:nvSpPr>
            <p:spPr>
              <a:xfrm>
                <a:off x="1081650" y="533375"/>
                <a:ext cx="6885600" cy="6948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" sz="2800" b="1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I. Système de fichier</a:t>
                </a:r>
                <a:endParaRPr sz="28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6" name="Google Shape;103;p20">
            <a:extLst>
              <a:ext uri="{FF2B5EF4-FFF2-40B4-BE49-F238E27FC236}">
                <a16:creationId xmlns:a16="http://schemas.microsoft.com/office/drawing/2014/main" id="{61812D95-B4FA-EF40-BA75-6D72A6EDA77B}"/>
              </a:ext>
            </a:extLst>
          </p:cNvPr>
          <p:cNvGrpSpPr/>
          <p:nvPr/>
        </p:nvGrpSpPr>
        <p:grpSpPr>
          <a:xfrm>
            <a:off x="387862" y="2709976"/>
            <a:ext cx="8368283" cy="968148"/>
            <a:chOff x="420923" y="155682"/>
            <a:chExt cx="8368283" cy="1131939"/>
          </a:xfrm>
        </p:grpSpPr>
        <p:grpSp>
          <p:nvGrpSpPr>
            <p:cNvPr id="47" name="Google Shape;104;p20">
              <a:extLst>
                <a:ext uri="{FF2B5EF4-FFF2-40B4-BE49-F238E27FC236}">
                  <a16:creationId xmlns:a16="http://schemas.microsoft.com/office/drawing/2014/main" id="{76F970F4-217F-724D-81EB-E1B69A38ED9D}"/>
                </a:ext>
              </a:extLst>
            </p:cNvPr>
            <p:cNvGrpSpPr/>
            <p:nvPr/>
          </p:nvGrpSpPr>
          <p:grpSpPr>
            <a:xfrm>
              <a:off x="3502704" y="228141"/>
              <a:ext cx="5286501" cy="987029"/>
              <a:chOff x="809518" y="2237179"/>
              <a:chExt cx="5903408" cy="1203400"/>
            </a:xfrm>
          </p:grpSpPr>
          <p:sp>
            <p:nvSpPr>
              <p:cNvPr id="51" name="Google Shape;105;p20">
                <a:extLst>
                  <a:ext uri="{FF2B5EF4-FFF2-40B4-BE49-F238E27FC236}">
                    <a16:creationId xmlns:a16="http://schemas.microsoft.com/office/drawing/2014/main" id="{477D9698-C3B5-5544-A81B-53DC24C196E3}"/>
                  </a:ext>
                </a:extLst>
              </p:cNvPr>
              <p:cNvSpPr/>
              <p:nvPr/>
            </p:nvSpPr>
            <p:spPr>
              <a:xfrm>
                <a:off x="809518" y="2237279"/>
                <a:ext cx="5903400" cy="12033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19050" cap="flat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106;p20">
                <a:extLst>
                  <a:ext uri="{FF2B5EF4-FFF2-40B4-BE49-F238E27FC236}">
                    <a16:creationId xmlns:a16="http://schemas.microsoft.com/office/drawing/2014/main" id="{3EB28693-20C6-C448-ACC0-093D0AADB79C}"/>
                  </a:ext>
                </a:extLst>
              </p:cNvPr>
              <p:cNvSpPr txBox="1"/>
              <p:nvPr/>
            </p:nvSpPr>
            <p:spPr>
              <a:xfrm>
                <a:off x="809526" y="2237179"/>
                <a:ext cx="5903400" cy="120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1260000" marR="0" lvl="0" indent="-3175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SzPts val="1400"/>
                  <a:buAutoNum type="arabicPeriod"/>
                </a:pPr>
                <a:r>
                  <a:rPr lang="fr" dirty="0"/>
                  <a:t>Commandes utiles	 : Manipulation  </a:t>
                </a:r>
                <a:r>
                  <a:rPr lang="fr" sz="1200" b="1" dirty="0">
                    <a:solidFill>
                      <a:srgbClr val="C00000"/>
                    </a:solidFill>
                  </a:rPr>
                  <a:t>Exercice 3</a:t>
                </a:r>
                <a:endParaRPr sz="1200" dirty="0">
                  <a:solidFill>
                    <a:srgbClr val="C00000"/>
                  </a:solidFill>
                </a:endParaRPr>
              </a:p>
              <a:p>
                <a:pPr marL="1260000" marR="0" lvl="0" indent="-3175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SzPts val="1400"/>
                  <a:buAutoNum type="arabicPeriod"/>
                </a:pPr>
                <a:r>
                  <a:rPr lang="fr" dirty="0"/>
                  <a:t>Gestion des flux		       </a:t>
                </a:r>
                <a:r>
                  <a:rPr lang="fr" sz="1200" b="1" dirty="0">
                    <a:solidFill>
                      <a:srgbClr val="C00000"/>
                    </a:solidFill>
                  </a:rPr>
                  <a:t>Exercice 4 		                             Exercice 5</a:t>
                </a:r>
                <a:endParaRPr sz="1200" b="1" dirty="0">
                  <a:solidFill>
                    <a:srgbClr val="C00000"/>
                  </a:solidFill>
                </a:endParaRPr>
              </a:p>
            </p:txBody>
          </p:sp>
        </p:grpSp>
        <p:grpSp>
          <p:nvGrpSpPr>
            <p:cNvPr id="48" name="Google Shape;107;p20">
              <a:extLst>
                <a:ext uri="{FF2B5EF4-FFF2-40B4-BE49-F238E27FC236}">
                  <a16:creationId xmlns:a16="http://schemas.microsoft.com/office/drawing/2014/main" id="{C264C39A-180B-7F40-99BE-A9346D9CD0F3}"/>
                </a:ext>
              </a:extLst>
            </p:cNvPr>
            <p:cNvGrpSpPr/>
            <p:nvPr/>
          </p:nvGrpSpPr>
          <p:grpSpPr>
            <a:xfrm>
              <a:off x="420923" y="155682"/>
              <a:ext cx="3412503" cy="1131939"/>
              <a:chOff x="1081650" y="533375"/>
              <a:chExt cx="6885600" cy="694825"/>
            </a:xfrm>
          </p:grpSpPr>
          <p:sp>
            <p:nvSpPr>
              <p:cNvPr id="49" name="Google Shape;108;p20">
                <a:extLst>
                  <a:ext uri="{FF2B5EF4-FFF2-40B4-BE49-F238E27FC236}">
                    <a16:creationId xmlns:a16="http://schemas.microsoft.com/office/drawing/2014/main" id="{F7193D2C-0A4A-9C48-BA72-1CC439BF575B}"/>
                  </a:ext>
                </a:extLst>
              </p:cNvPr>
              <p:cNvSpPr/>
              <p:nvPr/>
            </p:nvSpPr>
            <p:spPr>
              <a:xfrm>
                <a:off x="1098450" y="533400"/>
                <a:ext cx="6852000" cy="694800"/>
              </a:xfrm>
              <a:prstGeom prst="roundRect">
                <a:avLst>
                  <a:gd name="adj" fmla="val 16667"/>
                </a:avLst>
              </a:prstGeom>
              <a:solidFill>
                <a:srgbClr val="C00000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50" name="Google Shape;109;p20">
                <a:extLst>
                  <a:ext uri="{FF2B5EF4-FFF2-40B4-BE49-F238E27FC236}">
                    <a16:creationId xmlns:a16="http://schemas.microsoft.com/office/drawing/2014/main" id="{95784E27-572E-8A48-95B7-EDAC13C2DA0E}"/>
                  </a:ext>
                </a:extLst>
              </p:cNvPr>
              <p:cNvSpPr txBox="1"/>
              <p:nvPr/>
            </p:nvSpPr>
            <p:spPr>
              <a:xfrm>
                <a:off x="1081650" y="533375"/>
                <a:ext cx="6885600" cy="6948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" sz="2300" b="1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II. Manipulation de fichier</a:t>
                </a:r>
                <a:endParaRPr sz="23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3" name="Google Shape;110;p20">
            <a:extLst>
              <a:ext uri="{FF2B5EF4-FFF2-40B4-BE49-F238E27FC236}">
                <a16:creationId xmlns:a16="http://schemas.microsoft.com/office/drawing/2014/main" id="{4A03B78B-3F62-5848-8D71-BA82B48E0C95}"/>
              </a:ext>
            </a:extLst>
          </p:cNvPr>
          <p:cNvGrpSpPr/>
          <p:nvPr/>
        </p:nvGrpSpPr>
        <p:grpSpPr>
          <a:xfrm>
            <a:off x="387862" y="3954576"/>
            <a:ext cx="8328791" cy="968148"/>
            <a:chOff x="420923" y="155682"/>
            <a:chExt cx="8328791" cy="1131939"/>
          </a:xfrm>
        </p:grpSpPr>
        <p:grpSp>
          <p:nvGrpSpPr>
            <p:cNvPr id="54" name="Google Shape;111;p20">
              <a:extLst>
                <a:ext uri="{FF2B5EF4-FFF2-40B4-BE49-F238E27FC236}">
                  <a16:creationId xmlns:a16="http://schemas.microsoft.com/office/drawing/2014/main" id="{389C3839-28CF-F843-A309-B8E3650B67D8}"/>
                </a:ext>
              </a:extLst>
            </p:cNvPr>
            <p:cNvGrpSpPr/>
            <p:nvPr/>
          </p:nvGrpSpPr>
          <p:grpSpPr>
            <a:xfrm>
              <a:off x="3502704" y="228141"/>
              <a:ext cx="5247010" cy="987029"/>
              <a:chOff x="809518" y="2237179"/>
              <a:chExt cx="5859307" cy="1203400"/>
            </a:xfrm>
          </p:grpSpPr>
          <p:sp>
            <p:nvSpPr>
              <p:cNvPr id="58" name="Google Shape;112;p20">
                <a:extLst>
                  <a:ext uri="{FF2B5EF4-FFF2-40B4-BE49-F238E27FC236}">
                    <a16:creationId xmlns:a16="http://schemas.microsoft.com/office/drawing/2014/main" id="{D33D34CE-2D15-064B-93ED-F6A21755E9A4}"/>
                  </a:ext>
                </a:extLst>
              </p:cNvPr>
              <p:cNvSpPr/>
              <p:nvPr/>
            </p:nvSpPr>
            <p:spPr>
              <a:xfrm>
                <a:off x="809518" y="2237279"/>
                <a:ext cx="5859300" cy="12033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19050" cap="flat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113;p20">
                <a:extLst>
                  <a:ext uri="{FF2B5EF4-FFF2-40B4-BE49-F238E27FC236}">
                    <a16:creationId xmlns:a16="http://schemas.microsoft.com/office/drawing/2014/main" id="{291222C3-85A1-B34E-B773-4421BE79FE84}"/>
                  </a:ext>
                </a:extLst>
              </p:cNvPr>
              <p:cNvSpPr txBox="1"/>
              <p:nvPr/>
            </p:nvSpPr>
            <p:spPr>
              <a:xfrm>
                <a:off x="809526" y="2237179"/>
                <a:ext cx="5859300" cy="120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1260000" marR="0" lvl="0" indent="-3175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SzPts val="1400"/>
                  <a:buAutoNum type="arabicPeriod"/>
                </a:pPr>
                <a:r>
                  <a:rPr lang="fr" dirty="0"/>
                  <a:t>Structure d’un script		</a:t>
                </a:r>
                <a:endParaRPr sz="1200" b="1" dirty="0"/>
              </a:p>
              <a:p>
                <a:pPr marL="1260000" marR="0" lvl="0" indent="-3175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SzPts val="1400"/>
                  <a:buAutoNum type="arabicPeriod"/>
                </a:pPr>
                <a:r>
                  <a:rPr lang="fr" dirty="0"/>
                  <a:t>Exécuter un script		      </a:t>
                </a:r>
                <a:r>
                  <a:rPr lang="fr" sz="1200" b="1" dirty="0">
                    <a:solidFill>
                      <a:srgbClr val="C00000"/>
                    </a:solidFill>
                  </a:rPr>
                  <a:t>Exercice 6</a:t>
                </a:r>
                <a:endParaRPr sz="1200" b="1" dirty="0">
                  <a:solidFill>
                    <a:srgbClr val="C00000"/>
                  </a:solidFill>
                </a:endParaRPr>
              </a:p>
            </p:txBody>
          </p:sp>
        </p:grpSp>
        <p:grpSp>
          <p:nvGrpSpPr>
            <p:cNvPr id="55" name="Google Shape;114;p20">
              <a:extLst>
                <a:ext uri="{FF2B5EF4-FFF2-40B4-BE49-F238E27FC236}">
                  <a16:creationId xmlns:a16="http://schemas.microsoft.com/office/drawing/2014/main" id="{D2D3023D-8FDC-844A-B80E-7D16F14D65D6}"/>
                </a:ext>
              </a:extLst>
            </p:cNvPr>
            <p:cNvGrpSpPr/>
            <p:nvPr/>
          </p:nvGrpSpPr>
          <p:grpSpPr>
            <a:xfrm>
              <a:off x="420923" y="155682"/>
              <a:ext cx="3412503" cy="1131939"/>
              <a:chOff x="1081650" y="533375"/>
              <a:chExt cx="6885600" cy="694825"/>
            </a:xfrm>
          </p:grpSpPr>
          <p:sp>
            <p:nvSpPr>
              <p:cNvPr id="56" name="Google Shape;115;p20">
                <a:extLst>
                  <a:ext uri="{FF2B5EF4-FFF2-40B4-BE49-F238E27FC236}">
                    <a16:creationId xmlns:a16="http://schemas.microsoft.com/office/drawing/2014/main" id="{AB3977B9-620D-884C-8345-62CA28AD93E3}"/>
                  </a:ext>
                </a:extLst>
              </p:cNvPr>
              <p:cNvSpPr/>
              <p:nvPr/>
            </p:nvSpPr>
            <p:spPr>
              <a:xfrm>
                <a:off x="1098450" y="533400"/>
                <a:ext cx="6852000" cy="694800"/>
              </a:xfrm>
              <a:prstGeom prst="roundRect">
                <a:avLst>
                  <a:gd name="adj" fmla="val 16667"/>
                </a:avLst>
              </a:prstGeom>
              <a:solidFill>
                <a:srgbClr val="C00000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57" name="Google Shape;116;p20">
                <a:extLst>
                  <a:ext uri="{FF2B5EF4-FFF2-40B4-BE49-F238E27FC236}">
                    <a16:creationId xmlns:a16="http://schemas.microsoft.com/office/drawing/2014/main" id="{E6C37E8C-526D-3545-BCE5-CEC48026AD32}"/>
                  </a:ext>
                </a:extLst>
              </p:cNvPr>
              <p:cNvSpPr txBox="1"/>
              <p:nvPr/>
            </p:nvSpPr>
            <p:spPr>
              <a:xfrm>
                <a:off x="1081650" y="533375"/>
                <a:ext cx="6885600" cy="6948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" sz="2800" b="1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III.	Scripts</a:t>
                </a:r>
                <a:endParaRPr sz="28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0" name="Google Shape;1335;p59">
            <a:extLst>
              <a:ext uri="{FF2B5EF4-FFF2-40B4-BE49-F238E27FC236}">
                <a16:creationId xmlns:a16="http://schemas.microsoft.com/office/drawing/2014/main" id="{011D95B3-7251-EE4C-B5EF-09A14EB7CB05}"/>
              </a:ext>
            </a:extLst>
          </p:cNvPr>
          <p:cNvSpPr/>
          <p:nvPr/>
        </p:nvSpPr>
        <p:spPr>
          <a:xfrm>
            <a:off x="296100" y="205066"/>
            <a:ext cx="8847900" cy="3726900"/>
          </a:xfrm>
          <a:prstGeom prst="roundRect">
            <a:avLst>
              <a:gd name="adj" fmla="val 6945"/>
            </a:avLst>
          </a:prstGeom>
          <a:solidFill>
            <a:srgbClr val="F4CCCC">
              <a:alpha val="893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0" name="Google Shape;1340;p60"/>
          <p:cNvGrpSpPr/>
          <p:nvPr/>
        </p:nvGrpSpPr>
        <p:grpSpPr>
          <a:xfrm>
            <a:off x="5071200" y="1143600"/>
            <a:ext cx="3779100" cy="3627900"/>
            <a:chOff x="5071200" y="1143600"/>
            <a:chExt cx="3779100" cy="3627900"/>
          </a:xfrm>
        </p:grpSpPr>
        <p:sp>
          <p:nvSpPr>
            <p:cNvPr id="1341" name="Google Shape;1341;p60"/>
            <p:cNvSpPr/>
            <p:nvPr/>
          </p:nvSpPr>
          <p:spPr>
            <a:xfrm>
              <a:off x="5480525" y="3780070"/>
              <a:ext cx="2940900" cy="333300"/>
            </a:xfrm>
            <a:prstGeom prst="rect">
              <a:avLst/>
            </a:prstGeom>
            <a:solidFill>
              <a:srgbClr val="00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60"/>
            <p:cNvSpPr/>
            <p:nvPr/>
          </p:nvSpPr>
          <p:spPr>
            <a:xfrm>
              <a:off x="5480525" y="1189270"/>
              <a:ext cx="2940900" cy="333300"/>
            </a:xfrm>
            <a:prstGeom prst="rect">
              <a:avLst/>
            </a:prstGeom>
            <a:solidFill>
              <a:srgbClr val="00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60"/>
            <p:cNvSpPr/>
            <p:nvPr/>
          </p:nvSpPr>
          <p:spPr>
            <a:xfrm>
              <a:off x="5480525" y="4438167"/>
              <a:ext cx="2940900" cy="333300"/>
            </a:xfrm>
            <a:prstGeom prst="rect">
              <a:avLst/>
            </a:prstGeom>
            <a:solidFill>
              <a:srgbClr val="00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60"/>
            <p:cNvSpPr/>
            <p:nvPr/>
          </p:nvSpPr>
          <p:spPr>
            <a:xfrm>
              <a:off x="8204600" y="3159375"/>
              <a:ext cx="645600" cy="2862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60"/>
            <p:cNvSpPr/>
            <p:nvPr/>
          </p:nvSpPr>
          <p:spPr>
            <a:xfrm>
              <a:off x="6459425" y="2492080"/>
              <a:ext cx="416700" cy="2862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60"/>
            <p:cNvSpPr/>
            <p:nvPr/>
          </p:nvSpPr>
          <p:spPr>
            <a:xfrm>
              <a:off x="7088751" y="2492080"/>
              <a:ext cx="231000" cy="2862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60"/>
            <p:cNvSpPr/>
            <p:nvPr/>
          </p:nvSpPr>
          <p:spPr>
            <a:xfrm>
              <a:off x="6922776" y="2815390"/>
              <a:ext cx="231000" cy="2862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60"/>
            <p:cNvSpPr txBox="1"/>
            <p:nvPr/>
          </p:nvSpPr>
          <p:spPr>
            <a:xfrm>
              <a:off x="5071200" y="1143600"/>
              <a:ext cx="3779100" cy="362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457200" lvl="0" indent="-3175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AutoNum type="arabicPeriod"/>
              </a:pPr>
              <a:r>
                <a:rPr lang="fr" b="1">
                  <a:solidFill>
                    <a:srgbClr val="00FF00"/>
                  </a:solidFill>
                </a:rPr>
                <a:t>nano script.sh </a:t>
              </a:r>
              <a:endParaRPr b="1">
                <a:solidFill>
                  <a:srgbClr val="00FF00"/>
                </a:solidFill>
              </a:endParaRPr>
            </a:p>
            <a:p>
              <a:pPr marL="457200" lvl="0" indent="-3175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AutoNum type="arabicPeriod"/>
              </a:pPr>
              <a:r>
                <a:rPr lang="fr"/>
                <a:t>Editer le script</a:t>
              </a:r>
              <a:endParaRPr/>
            </a:p>
            <a:p>
              <a:pPr marL="914400" lvl="1" indent="-3175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AutoNum type="alphaLcPeriod"/>
              </a:pPr>
              <a:r>
                <a:rPr lang="fr"/>
                <a:t>première ligne #!/bin/bash</a:t>
              </a:r>
              <a:endParaRPr/>
            </a:p>
            <a:p>
              <a:pPr marL="457200" lvl="0" indent="-3175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AutoNum type="arabicPeriod"/>
              </a:pPr>
              <a:r>
                <a:rPr lang="fr"/>
                <a:t>Enregistrer  </a:t>
              </a:r>
              <a:endParaRPr/>
            </a:p>
            <a:p>
              <a:pPr marL="914400" lvl="1" indent="-3175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AutoNum type="alphaLcPeriod"/>
              </a:pPr>
              <a:r>
                <a:rPr lang="fr"/>
                <a:t>Exit   </a:t>
              </a:r>
              <a:r>
                <a:rPr lang="fr" b="1"/>
                <a:t>Ctrl</a:t>
              </a:r>
              <a:r>
                <a:rPr lang="fr"/>
                <a:t>  +  </a:t>
              </a:r>
              <a:r>
                <a:rPr lang="fr" b="1"/>
                <a:t>X</a:t>
              </a:r>
              <a:r>
                <a:rPr lang="fr"/>
                <a:t> </a:t>
              </a:r>
              <a:endParaRPr/>
            </a:p>
            <a:p>
              <a:pPr marL="914400" lvl="1" indent="-3175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AutoNum type="alphaLcPeriod"/>
              </a:pPr>
              <a:r>
                <a:rPr lang="fr"/>
                <a:t>Save? Yes </a:t>
              </a:r>
              <a:r>
                <a:rPr lang="fr" b="1"/>
                <a:t>Y</a:t>
              </a:r>
              <a:r>
                <a:rPr lang="fr"/>
                <a:t> </a:t>
              </a:r>
              <a:endParaRPr/>
            </a:p>
            <a:p>
              <a:pPr marL="914400" lvl="1" indent="-3175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AutoNum type="alphaLcPeriod"/>
              </a:pPr>
              <a:r>
                <a:rPr lang="fr"/>
                <a:t>Enter Filename and press   </a:t>
              </a:r>
              <a:r>
                <a:rPr lang="fr" b="1"/>
                <a:t>Enter</a:t>
              </a:r>
              <a:endParaRPr b="1"/>
            </a:p>
            <a:p>
              <a:pPr marL="457200" lvl="0" indent="-3175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AutoNum type="arabicPeriod"/>
              </a:pPr>
              <a:r>
                <a:rPr lang="fr"/>
                <a:t>Ajouter les droits d’exécution </a:t>
              </a:r>
              <a:br>
                <a:rPr lang="fr"/>
              </a:br>
              <a:r>
                <a:rPr lang="fr" b="1">
                  <a:solidFill>
                    <a:srgbClr val="00FF00"/>
                  </a:solidFill>
                </a:rPr>
                <a:t>chmod u+x script.sh</a:t>
              </a:r>
              <a:endParaRPr b="1">
                <a:solidFill>
                  <a:srgbClr val="00FF00"/>
                </a:solidFill>
              </a:endParaRPr>
            </a:p>
            <a:p>
              <a:pPr marL="457200" lvl="0" indent="-3175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AutoNum type="arabicPeriod"/>
              </a:pPr>
              <a:r>
                <a:rPr lang="fr"/>
                <a:t>Exécuter le script (</a:t>
              </a:r>
              <a:r>
                <a:rPr lang="fr" b="1"/>
                <a:t>./</a:t>
              </a:r>
              <a:r>
                <a:rPr lang="fr"/>
                <a:t> </a:t>
              </a:r>
              <a:r>
                <a:rPr lang="fr" b="1"/>
                <a:t>important</a:t>
              </a:r>
              <a:r>
                <a:rPr lang="fr"/>
                <a:t>)</a:t>
              </a:r>
              <a:br>
                <a:rPr lang="fr"/>
              </a:br>
              <a:r>
                <a:rPr lang="fr" b="1">
                  <a:solidFill>
                    <a:srgbClr val="00FF00"/>
                  </a:solidFill>
                </a:rPr>
                <a:t>./script.sh ficher.txt</a:t>
              </a:r>
              <a:endParaRPr b="1">
                <a:solidFill>
                  <a:srgbClr val="00FF00"/>
                </a:solidFill>
              </a:endParaRPr>
            </a:p>
          </p:txBody>
        </p:sp>
      </p:grpSp>
      <p:sp>
        <p:nvSpPr>
          <p:cNvPr id="1349" name="Google Shape;1349;p60"/>
          <p:cNvSpPr txBox="1">
            <a:spLocks noGrp="1"/>
          </p:cNvSpPr>
          <p:nvPr>
            <p:ph type="title"/>
          </p:nvPr>
        </p:nvSpPr>
        <p:spPr>
          <a:xfrm>
            <a:off x="0" y="-11925"/>
            <a:ext cx="9143700" cy="7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40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Les Scripts</a:t>
            </a:r>
            <a:endParaRPr sz="4000" b="1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0" name="Google Shape;1350;p60"/>
          <p:cNvSpPr/>
          <p:nvPr/>
        </p:nvSpPr>
        <p:spPr>
          <a:xfrm>
            <a:off x="0" y="665225"/>
            <a:ext cx="9143700" cy="41400"/>
          </a:xfrm>
          <a:prstGeom prst="rect">
            <a:avLst/>
          </a:prstGeom>
          <a:gradFill>
            <a:gsLst>
              <a:gs pos="0">
                <a:srgbClr val="CD0920"/>
              </a:gs>
              <a:gs pos="9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1" name="Google Shape;1351;p60"/>
          <p:cNvSpPr txBox="1">
            <a:spLocks noGrp="1"/>
          </p:cNvSpPr>
          <p:nvPr>
            <p:ph type="sldNum" idx="12"/>
          </p:nvPr>
        </p:nvSpPr>
        <p:spPr>
          <a:xfrm>
            <a:off x="8625000" y="4939350"/>
            <a:ext cx="519000" cy="2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43</a:t>
            </a:fld>
            <a:endParaRPr/>
          </a:p>
        </p:txBody>
      </p:sp>
      <p:pic>
        <p:nvPicPr>
          <p:cNvPr id="1352" name="Google Shape;1352;p60"/>
          <p:cNvPicPr preferRelativeResize="0"/>
          <p:nvPr/>
        </p:nvPicPr>
        <p:blipFill rotWithShape="1">
          <a:blip r:embed="rId3">
            <a:alphaModFix/>
          </a:blip>
          <a:srcRect r="39802"/>
          <a:stretch/>
        </p:blipFill>
        <p:spPr>
          <a:xfrm>
            <a:off x="289750" y="1143600"/>
            <a:ext cx="4413377" cy="3730601"/>
          </a:xfrm>
          <a:prstGeom prst="rect">
            <a:avLst/>
          </a:prstGeom>
          <a:noFill/>
          <a:ln>
            <a:noFill/>
          </a:ln>
        </p:spPr>
      </p:pic>
      <p:sp>
        <p:nvSpPr>
          <p:cNvPr id="1353" name="Google Shape;1353;p60"/>
          <p:cNvSpPr txBox="1"/>
          <p:nvPr/>
        </p:nvSpPr>
        <p:spPr>
          <a:xfrm>
            <a:off x="411175" y="1452575"/>
            <a:ext cx="3429000" cy="1876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#!/bin/bash</a:t>
            </a:r>
            <a:endParaRPr sz="12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# un commentaire</a:t>
            </a:r>
            <a:endParaRPr sz="12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echo "Nombre de lignes:"</a:t>
            </a:r>
            <a:endParaRPr sz="12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wc -l $1</a:t>
            </a:r>
            <a:endParaRPr sz="12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5CD"/>
        </a:solidFill>
        <a:effectLst/>
      </p:bgPr>
    </p:bg>
    <p:spTree>
      <p:nvGrpSpPr>
        <p:cNvPr id="1" name="Shape 1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Google Shape;1358;p61"/>
          <p:cNvSpPr txBox="1"/>
          <p:nvPr/>
        </p:nvSpPr>
        <p:spPr>
          <a:xfrm>
            <a:off x="223150" y="96950"/>
            <a:ext cx="8532600" cy="4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 b="1"/>
              <a:t>Masque des permissions</a:t>
            </a:r>
            <a:endParaRPr sz="2400"/>
          </a:p>
        </p:txBody>
      </p:sp>
      <p:pic>
        <p:nvPicPr>
          <p:cNvPr id="1359" name="Google Shape;1359;p61"/>
          <p:cNvPicPr preferRelativeResize="0"/>
          <p:nvPr/>
        </p:nvPicPr>
        <p:blipFill rotWithShape="1">
          <a:blip r:embed="rId3">
            <a:alphaModFix/>
          </a:blip>
          <a:srcRect t="27083" r="84864" b="61137"/>
          <a:stretch/>
        </p:blipFill>
        <p:spPr>
          <a:xfrm>
            <a:off x="6688500" y="96950"/>
            <a:ext cx="2332789" cy="1084717"/>
          </a:xfrm>
          <a:prstGeom prst="rect">
            <a:avLst/>
          </a:prstGeom>
          <a:noFill/>
          <a:ln>
            <a:noFill/>
          </a:ln>
        </p:spPr>
      </p:pic>
      <p:sp>
        <p:nvSpPr>
          <p:cNvPr id="1360" name="Google Shape;1360;p61"/>
          <p:cNvSpPr/>
          <p:nvPr/>
        </p:nvSpPr>
        <p:spPr>
          <a:xfrm>
            <a:off x="6950532" y="96950"/>
            <a:ext cx="578100" cy="10848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1" name="Google Shape;1361;p61"/>
          <p:cNvSpPr/>
          <p:nvPr/>
        </p:nvSpPr>
        <p:spPr>
          <a:xfrm>
            <a:off x="7536461" y="96950"/>
            <a:ext cx="578100" cy="10848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2" name="Google Shape;1362;p61"/>
          <p:cNvSpPr/>
          <p:nvPr/>
        </p:nvSpPr>
        <p:spPr>
          <a:xfrm>
            <a:off x="8128065" y="96950"/>
            <a:ext cx="527400" cy="10848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3" name="Google Shape;1363;p61"/>
          <p:cNvSpPr txBox="1"/>
          <p:nvPr/>
        </p:nvSpPr>
        <p:spPr>
          <a:xfrm>
            <a:off x="6400912" y="1378500"/>
            <a:ext cx="11073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latin typeface="Courier New"/>
                <a:ea typeface="Courier New"/>
                <a:cs typeface="Courier New"/>
                <a:sym typeface="Courier New"/>
              </a:rPr>
              <a:t>Propriétaire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64" name="Google Shape;1364;p61"/>
          <p:cNvSpPr txBox="1"/>
          <p:nvPr/>
        </p:nvSpPr>
        <p:spPr>
          <a:xfrm>
            <a:off x="7469245" y="1378500"/>
            <a:ext cx="7164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latin typeface="Courier New"/>
                <a:ea typeface="Courier New"/>
                <a:cs typeface="Courier New"/>
                <a:sym typeface="Courier New"/>
              </a:rPr>
              <a:t>Groupe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65" name="Google Shape;1365;p61"/>
          <p:cNvSpPr txBox="1"/>
          <p:nvPr/>
        </p:nvSpPr>
        <p:spPr>
          <a:xfrm>
            <a:off x="8164792" y="1378500"/>
            <a:ext cx="7788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latin typeface="Courier New"/>
                <a:ea typeface="Courier New"/>
                <a:cs typeface="Courier New"/>
                <a:sym typeface="Courier New"/>
              </a:rPr>
              <a:t>Autres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366" name="Google Shape;1366;p61"/>
          <p:cNvCxnSpPr>
            <a:stCxn id="1360" idx="2"/>
            <a:endCxn id="1363" idx="0"/>
          </p:cNvCxnSpPr>
          <p:nvPr/>
        </p:nvCxnSpPr>
        <p:spPr>
          <a:xfrm flipH="1">
            <a:off x="6954582" y="1181750"/>
            <a:ext cx="285000" cy="196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67" name="Google Shape;1367;p61"/>
          <p:cNvCxnSpPr>
            <a:stCxn id="1361" idx="2"/>
            <a:endCxn id="1364" idx="0"/>
          </p:cNvCxnSpPr>
          <p:nvPr/>
        </p:nvCxnSpPr>
        <p:spPr>
          <a:xfrm>
            <a:off x="7825511" y="1181750"/>
            <a:ext cx="1800" cy="196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68" name="Google Shape;1368;p61"/>
          <p:cNvCxnSpPr>
            <a:stCxn id="1362" idx="2"/>
            <a:endCxn id="1365" idx="0"/>
          </p:cNvCxnSpPr>
          <p:nvPr/>
        </p:nvCxnSpPr>
        <p:spPr>
          <a:xfrm>
            <a:off x="8391765" y="1181750"/>
            <a:ext cx="162300" cy="196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69" name="Google Shape;1369;p61"/>
          <p:cNvSpPr txBox="1"/>
          <p:nvPr/>
        </p:nvSpPr>
        <p:spPr>
          <a:xfrm>
            <a:off x="22175" y="666800"/>
            <a:ext cx="1662300" cy="7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000">
                <a:latin typeface="Courier New"/>
                <a:ea typeface="Courier New"/>
                <a:cs typeface="Courier New"/>
                <a:sym typeface="Courier New"/>
              </a:rPr>
              <a:t>chmod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1370" name="Google Shape;1370;p61"/>
          <p:cNvGraphicFramePr/>
          <p:nvPr/>
        </p:nvGraphicFramePr>
        <p:xfrm>
          <a:off x="609600" y="1807325"/>
          <a:ext cx="2037025" cy="1584840"/>
        </p:xfrm>
        <a:graphic>
          <a:graphicData uri="http://schemas.openxmlformats.org/drawingml/2006/table">
            <a:tbl>
              <a:tblPr>
                <a:noFill/>
                <a:tableStyleId>{C986AE7D-AF4A-4FAC-BD20-953C9C73A9C3}</a:tableStyleId>
              </a:tblPr>
              <a:tblGrid>
                <a:gridCol w="74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0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Permission</a:t>
                      </a:r>
                      <a:endParaRPr/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+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Ajouter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Supprimer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=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Définir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371" name="Google Shape;1371;p61"/>
          <p:cNvGraphicFramePr/>
          <p:nvPr/>
        </p:nvGraphicFramePr>
        <p:xfrm>
          <a:off x="3340663" y="1807325"/>
          <a:ext cx="2037025" cy="1981050"/>
        </p:xfrm>
        <a:graphic>
          <a:graphicData uri="http://schemas.openxmlformats.org/drawingml/2006/table">
            <a:tbl>
              <a:tblPr>
                <a:noFill/>
                <a:tableStyleId>{C986AE7D-AF4A-4FAC-BD20-953C9C73A9C3}</a:tableStyleId>
              </a:tblPr>
              <a:tblGrid>
                <a:gridCol w="74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0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Pour qui ?</a:t>
                      </a:r>
                      <a:endParaRPr/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u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Utilisateur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Groupe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Autres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Tous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372" name="Google Shape;1372;p61"/>
          <p:cNvGraphicFramePr/>
          <p:nvPr/>
        </p:nvGraphicFramePr>
        <p:xfrm>
          <a:off x="6071725" y="1807325"/>
          <a:ext cx="2037025" cy="1584840"/>
        </p:xfrm>
        <a:graphic>
          <a:graphicData uri="http://schemas.openxmlformats.org/drawingml/2006/table">
            <a:tbl>
              <a:tblPr>
                <a:noFill/>
                <a:tableStyleId>{C986AE7D-AF4A-4FAC-BD20-953C9C73A9C3}</a:tableStyleId>
              </a:tblPr>
              <a:tblGrid>
                <a:gridCol w="74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0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Permission</a:t>
                      </a:r>
                      <a:endParaRPr/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Lecture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w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Ecriture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x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Exécution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73" name="Google Shape;1373;p61"/>
          <p:cNvSpPr txBox="1"/>
          <p:nvPr/>
        </p:nvSpPr>
        <p:spPr>
          <a:xfrm>
            <a:off x="1981800" y="4178525"/>
            <a:ext cx="5180400" cy="409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chmod u=rwx,g+w,o-r mon_fichier</a:t>
            </a:r>
            <a:endParaRPr b="1">
              <a:solidFill>
                <a:srgbClr val="00FF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74" name="Google Shape;1374;p61"/>
          <p:cNvSpPr txBox="1">
            <a:spLocks noGrp="1"/>
          </p:cNvSpPr>
          <p:nvPr>
            <p:ph type="sldNum" idx="12"/>
          </p:nvPr>
        </p:nvSpPr>
        <p:spPr>
          <a:xfrm>
            <a:off x="8625000" y="4939350"/>
            <a:ext cx="519000" cy="2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44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9DAF8"/>
        </a:solidFill>
        <a:effectLst/>
      </p:bgPr>
    </p:bg>
    <p:spTree>
      <p:nvGrpSpPr>
        <p:cNvPr id="1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Google Shape;1379;p62"/>
          <p:cNvSpPr txBox="1">
            <a:spLocks noGrp="1"/>
          </p:cNvSpPr>
          <p:nvPr>
            <p:ph type="title"/>
          </p:nvPr>
        </p:nvSpPr>
        <p:spPr>
          <a:xfrm>
            <a:off x="0" y="-11925"/>
            <a:ext cx="9143700" cy="7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4000" b="1">
                <a:solidFill>
                  <a:srgbClr val="1C4587"/>
                </a:solidFill>
                <a:latin typeface="Calibri"/>
                <a:ea typeface="Calibri"/>
                <a:cs typeface="Calibri"/>
                <a:sym typeface="Calibri"/>
              </a:rPr>
              <a:t>Exercice 6</a:t>
            </a:r>
            <a:endParaRPr sz="4000" b="1">
              <a:solidFill>
                <a:srgbClr val="1C458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0" name="Google Shape;1380;p62"/>
          <p:cNvSpPr/>
          <p:nvPr/>
        </p:nvSpPr>
        <p:spPr>
          <a:xfrm>
            <a:off x="0" y="665225"/>
            <a:ext cx="9143700" cy="41400"/>
          </a:xfrm>
          <a:prstGeom prst="rect">
            <a:avLst/>
          </a:prstGeom>
          <a:gradFill>
            <a:gsLst>
              <a:gs pos="0">
                <a:srgbClr val="1C4587"/>
              </a:gs>
              <a:gs pos="9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1" name="Google Shape;1381;p62"/>
          <p:cNvSpPr txBox="1"/>
          <p:nvPr/>
        </p:nvSpPr>
        <p:spPr>
          <a:xfrm>
            <a:off x="382600" y="985650"/>
            <a:ext cx="8515500" cy="3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</a:rPr>
              <a:t>Dans le cadre d’une analyse bioinformatique, la structure du dossier d’analyse est la suivante 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b="1">
                <a:solidFill>
                  <a:schemeClr val="dk1"/>
                </a:solidFill>
              </a:rPr>
              <a:t>.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b="1">
                <a:solidFill>
                  <a:schemeClr val="dk1"/>
                </a:solidFill>
              </a:rPr>
              <a:t>├── Data/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b="1">
                <a:solidFill>
                  <a:schemeClr val="dk1"/>
                </a:solidFill>
              </a:rPr>
              <a:t>├── Ref/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b="1">
                <a:solidFill>
                  <a:schemeClr val="dk1"/>
                </a:solidFill>
              </a:rPr>
              <a:t>├── Result/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b="1">
                <a:solidFill>
                  <a:schemeClr val="dk1"/>
                </a:solidFill>
              </a:rPr>
              <a:t>└── Script/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>
                <a:solidFill>
                  <a:schemeClr val="dk1"/>
                </a:solidFill>
              </a:rPr>
              <a:t>On vous demande de créer un script qui crée l’arborescence à partir d’un répertoire passé en argument. ($1). Vous devez changer les droits pour le rendre exécutable par n’importe qui.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382" name="Google Shape;1382;p62"/>
          <p:cNvSpPr txBox="1">
            <a:spLocks noGrp="1"/>
          </p:cNvSpPr>
          <p:nvPr>
            <p:ph type="sldNum" idx="12"/>
          </p:nvPr>
        </p:nvSpPr>
        <p:spPr>
          <a:xfrm>
            <a:off x="8625000" y="4939350"/>
            <a:ext cx="519000" cy="2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45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7" name="Google Shape;1387;p63"/>
          <p:cNvSpPr txBox="1">
            <a:spLocks noGrp="1"/>
          </p:cNvSpPr>
          <p:nvPr>
            <p:ph type="sldNum" idx="12"/>
          </p:nvPr>
        </p:nvSpPr>
        <p:spPr>
          <a:xfrm>
            <a:off x="8625000" y="4939350"/>
            <a:ext cx="519000" cy="2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46</a:t>
            </a:fld>
            <a:endParaRPr/>
          </a:p>
        </p:txBody>
      </p:sp>
      <p:graphicFrame>
        <p:nvGraphicFramePr>
          <p:cNvPr id="1388" name="Google Shape;1388;p63"/>
          <p:cNvGraphicFramePr/>
          <p:nvPr/>
        </p:nvGraphicFramePr>
        <p:xfrm>
          <a:off x="609600" y="1807325"/>
          <a:ext cx="2037025" cy="1584840"/>
        </p:xfrm>
        <a:graphic>
          <a:graphicData uri="http://schemas.openxmlformats.org/drawingml/2006/table">
            <a:tbl>
              <a:tblPr>
                <a:noFill/>
                <a:tableStyleId>{C986AE7D-AF4A-4FAC-BD20-953C9C73A9C3}</a:tableStyleId>
              </a:tblPr>
              <a:tblGrid>
                <a:gridCol w="74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0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Permission</a:t>
                      </a:r>
                      <a:endParaRPr/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+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Ajouter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Supprimer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=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Définir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389" name="Google Shape;1389;p63"/>
          <p:cNvGraphicFramePr/>
          <p:nvPr/>
        </p:nvGraphicFramePr>
        <p:xfrm>
          <a:off x="3340663" y="1807325"/>
          <a:ext cx="2037025" cy="1981050"/>
        </p:xfrm>
        <a:graphic>
          <a:graphicData uri="http://schemas.openxmlformats.org/drawingml/2006/table">
            <a:tbl>
              <a:tblPr>
                <a:noFill/>
                <a:tableStyleId>{C986AE7D-AF4A-4FAC-BD20-953C9C73A9C3}</a:tableStyleId>
              </a:tblPr>
              <a:tblGrid>
                <a:gridCol w="74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0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Pour qui ?</a:t>
                      </a:r>
                      <a:endParaRPr/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u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Utilisateur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Groupe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Autres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Tous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390" name="Google Shape;1390;p63"/>
          <p:cNvGraphicFramePr/>
          <p:nvPr/>
        </p:nvGraphicFramePr>
        <p:xfrm>
          <a:off x="6071725" y="1807325"/>
          <a:ext cx="2037025" cy="1584840"/>
        </p:xfrm>
        <a:graphic>
          <a:graphicData uri="http://schemas.openxmlformats.org/drawingml/2006/table">
            <a:tbl>
              <a:tblPr>
                <a:noFill/>
                <a:tableStyleId>{C986AE7D-AF4A-4FAC-BD20-953C9C73A9C3}</a:tableStyleId>
              </a:tblPr>
              <a:tblGrid>
                <a:gridCol w="74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0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Permission</a:t>
                      </a:r>
                      <a:endParaRPr/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Lecture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w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Ecriture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x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Exécution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Gabarit 2015">
  <a:themeElements>
    <a:clrScheme name="Gabarit 2015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20740</TotalTime>
  <Words>3540</Words>
  <Application>Microsoft Macintosh PowerPoint</Application>
  <PresentationFormat>Affichage à l'écran (16:9)</PresentationFormat>
  <Paragraphs>971</Paragraphs>
  <Slides>46</Slides>
  <Notes>45</Notes>
  <HiddenSlides>1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46</vt:i4>
      </vt:variant>
    </vt:vector>
  </HeadingPairs>
  <TitlesOfParts>
    <vt:vector size="52" baseType="lpstr">
      <vt:lpstr>Arial</vt:lpstr>
      <vt:lpstr>Calibri</vt:lpstr>
      <vt:lpstr>Arial Narrow</vt:lpstr>
      <vt:lpstr>Courier New</vt:lpstr>
      <vt:lpstr>Simple Light</vt:lpstr>
      <vt:lpstr>Gabarit 2015</vt:lpstr>
      <vt:lpstr>Présentation PowerPoint</vt:lpstr>
      <vt:lpstr>Présentation PowerPoint</vt:lpstr>
      <vt:lpstr>GUI / CLI</vt:lpstr>
      <vt:lpstr>Anatomie d’une ligne de commande</vt:lpstr>
      <vt:lpstr>Astuces</vt:lpstr>
      <vt:lpstr>Connexion</vt:lpstr>
      <vt:lpstr>Présentation PowerPoint</vt:lpstr>
      <vt:lpstr>Arborescence</vt:lpstr>
      <vt:lpstr>Chemin absolu et relatif</vt:lpstr>
      <vt:lpstr>Déplacement</vt:lpstr>
      <vt:lpstr>Déplacement</vt:lpstr>
      <vt:lpstr>Présentation PowerPoint</vt:lpstr>
      <vt:lpstr>Déplacement</vt:lpstr>
      <vt:lpstr>Déplacement</vt:lpstr>
      <vt:lpstr>Déplacement</vt:lpstr>
      <vt:lpstr>Déplacement</vt:lpstr>
      <vt:lpstr>Déplacement</vt:lpstr>
      <vt:lpstr>Déplacement</vt:lpstr>
      <vt:lpstr>Déplacement</vt:lpstr>
      <vt:lpstr>Exercice 1</vt:lpstr>
      <vt:lpstr>Présentation PowerPoint</vt:lpstr>
      <vt:lpstr>Exercice 2</vt:lpstr>
      <vt:lpstr>Présentation PowerPoint</vt:lpstr>
      <vt:lpstr>Manipulation</vt:lpstr>
      <vt:lpstr>Manipulation</vt:lpstr>
      <vt:lpstr>Manipulation</vt:lpstr>
      <vt:lpstr>Manipulation</vt:lpstr>
      <vt:lpstr>Manipulation</vt:lpstr>
      <vt:lpstr>Présentation PowerPoint</vt:lpstr>
      <vt:lpstr>Manipulation</vt:lpstr>
      <vt:lpstr>Manipulation</vt:lpstr>
      <vt:lpstr>Manipulation</vt:lpstr>
      <vt:lpstr>Manipulation</vt:lpstr>
      <vt:lpstr>Exercice 3</vt:lpstr>
      <vt:lpstr>Les flux</vt:lpstr>
      <vt:lpstr>Les flux</vt:lpstr>
      <vt:lpstr>Les flux</vt:lpstr>
      <vt:lpstr>Exercice 4 </vt:lpstr>
      <vt:lpstr>Questions CC</vt:lpstr>
      <vt:lpstr>Exercice 5</vt:lpstr>
      <vt:lpstr>Exercice 5</vt:lpstr>
      <vt:lpstr>Présentation PowerPoint</vt:lpstr>
      <vt:lpstr>Les Scripts</vt:lpstr>
      <vt:lpstr>Présentation PowerPoint</vt:lpstr>
      <vt:lpstr>Exercice 6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cp:lastModifiedBy>Antoine Bodein</cp:lastModifiedBy>
  <cp:revision>6</cp:revision>
  <dcterms:modified xsi:type="dcterms:W3CDTF">2026-09-11T12:49:22Z</dcterms:modified>
</cp:coreProperties>
</file>